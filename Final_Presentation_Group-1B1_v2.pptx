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Iterations</c:v>
                </c:pt>
              </c:strCache>
            </c:strRef>
          </c:tx>
          <c:spPr>
            <a:solidFill>
              <a:srgbClr val="8FB08C"/>
            </a:solidFill>
            <a:effectLst/>
          </c:spPr>
          <c:invertIfNegative val="0"/>
          <c:dLbls>
            <c:numFmt formatCode="#,##0" sourceLinked="0"/>
            <c:txPr>
              <a:bodyPr/>
              <a:lstStyle/>
              <a:p>
                <a:pPr>
                  <a:defRPr b="0" i="0" strike="noStrike" sz="1100" u="none">
                    <a:solidFill>
                      <a:srgbClr val="3333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Static BF</c:v>
                  </c:pt>
                  <c:pt idx="1">
                    <c:v>Static TF</c:v>
                  </c:pt>
                  <c:pt idx="2">
                    <c:v>Adaptive threshold</c:v>
                  </c:pt>
                  <c:pt idx="3">
                    <c:v>Cost-aware</c:v>
                  </c:pt>
                  <c:pt idx="4">
                    <c:v>Stagnation-aware</c:v>
                  </c:pt>
                </c:lvl>
              </c:multiLvlStrCache>
            </c:multiLvlStrRef>
          </c:cat>
          <c:val>
            <c:numRef>
              <c:f>Sheet1!$B$2:$B$6</c:f>
              <c:numCache>
                <c:formatCode>General</c:formatCode>
                <c:ptCount val="5"/>
                <c:pt idx="0">
                  <c:v>122</c:v>
                </c:pt>
                <c:pt idx="1">
                  <c:v>99</c:v>
                </c:pt>
                <c:pt idx="2">
                  <c:v>382</c:v>
                </c:pt>
                <c:pt idx="3">
                  <c:v>245</c:v>
                </c:pt>
                <c:pt idx="4">
                  <c:v>222</c:v>
                </c:pt>
              </c:numCache>
            </c:numRef>
          </c:val>
        </c:ser>
        <c:ser>
          <c:idx val="1"/>
          <c:order val="1"/>
          <c:tx>
            <c:strRef>
              <c:f>Sheet1!$C$1</c:f>
              <c:strCache>
                <c:ptCount val="1"/>
                <c:pt idx="0">
                  <c:v>Function evaluations</c:v>
                </c:pt>
              </c:strCache>
            </c:strRef>
          </c:tx>
          <c:spPr>
            <a:solidFill>
              <a:srgbClr val="1E4D2B"/>
            </a:solidFill>
            <a:effectLst/>
          </c:spPr>
          <c:invertIfNegative val="0"/>
          <c:dLbls>
            <c:numFmt formatCode="#,##0" sourceLinked="0"/>
            <c:txPr>
              <a:bodyPr/>
              <a:lstStyle/>
              <a:p>
                <a:pPr>
                  <a:defRPr b="0" i="0" strike="noStrike" sz="1100" u="none">
                    <a:solidFill>
                      <a:srgbClr val="3333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Static BF</c:v>
                  </c:pt>
                  <c:pt idx="1">
                    <c:v>Static TF</c:v>
                  </c:pt>
                  <c:pt idx="2">
                    <c:v>Adaptive threshold</c:v>
                  </c:pt>
                  <c:pt idx="3">
                    <c:v>Cost-aware</c:v>
                  </c:pt>
                  <c:pt idx="4">
                    <c:v>Stagnation-aware</c:v>
                  </c:pt>
                </c:lvl>
              </c:multiLvlStrCache>
            </c:multiLvlStrRef>
          </c:cat>
          <c:val>
            <c:numRef>
              <c:f>Sheet1!$C$2:$C$6</c:f>
              <c:numCache>
                <c:formatCode>General</c:formatCode>
                <c:ptCount val="5"/>
                <c:pt idx="0">
                  <c:v>273</c:v>
                </c:pt>
                <c:pt idx="1">
                  <c:v>325</c:v>
                </c:pt>
                <c:pt idx="2">
                  <c:v>458</c:v>
                </c:pt>
                <c:pt idx="3">
                  <c:v>367</c:v>
                </c:pt>
                <c:pt idx="4">
                  <c:v>300</c:v>
                </c:pt>
              </c:numCache>
            </c:numRef>
          </c:val>
        </c:ser>
        <c:dLbls>
          <c:numFmt formatCode="#,##0" sourceLinked="0"/>
          <c:txPr>
            <a:bodyPr/>
            <a:lstStyle/>
            <a:p>
              <a:pPr>
                <a:defRPr b="0" i="0" strike="noStrike" sz="1100" u="none">
                  <a:solidFill>
                    <a:srgbClr val="3333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AA39C"/>
            </a:solidFill>
            <a:prstDash val="solid"/>
            <a:round/>
          </a:ln>
        </c:spPr>
        <c:txPr>
          <a:bodyPr/>
          <a:lstStyle/>
          <a:p>
            <a:pPr>
              <a:defRPr sz="1200" b="0" i="0" u="none" strike="noStrike">
                <a:solidFill>
                  <a:srgbClr val="333333"/>
                </a:solidFill>
                <a:latin typeface="Calibri"/>
              </a:defRPr>
            </a:pPr>
            <a:endParaRPr lang="en-US"/>
          </a:p>
        </c:txPr>
        <c:crossAx val="2094734552"/>
        <c:crosses val="autoZero"/>
        <c:auto val="1"/>
        <c:lblAlgn val="ctr"/>
        <c:noMultiLvlLbl val="1"/>
      </c:catAx>
      <c:valAx>
        <c:axId val="2094734552"/>
        <c:scaling>
          <c:orientation val="minMax"/>
          <c:max val="50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Calibri"/>
              </a:defRPr>
            </a:pPr>
            <a:endParaRPr lang="en-US"/>
          </a:p>
        </c:txPr>
        <c:crossAx val="2094734554"/>
        <c:crosses val="autoZero"/>
        <c:crossBetween val="between"/>
        <c:majorUnit val="100"/>
      </c:valAx>
      <c:spPr>
        <a:noFill/>
        <a:ln>
          <a:noFill/>
        </a:ln>
        <a:effectLst/>
      </c:spPr>
    </c:plotArea>
    <c:legend>
      <c:legendPos val="t"/>
      <c:overlay val="0"/>
      <c:txPr>
        <a:bodyPr/>
        <a:lstStyle/>
        <a:p>
          <a:pPr>
            <a:defRPr sz="1200">
              <a:solidFill>
                <a:srgbClr val="3333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Wins</c:v>
                </c:pt>
              </c:strCache>
            </c:strRef>
          </c:tx>
          <c:spPr>
            <a:solidFill>
              <a:srgbClr val="1E4D2B"/>
            </a:solidFill>
            <a:effectLst/>
          </c:spPr>
          <c:invertIfNegative val="0"/>
          <c:dLbls>
            <c:numFmt formatCode="0;;;" sourceLinked="0"/>
            <c:txPr>
              <a:bodyPr/>
              <a:lstStyle/>
              <a:p>
                <a:pPr>
                  <a:defRPr b="1" i="0" strike="noStrike" sz="1100" u="none">
                    <a:solidFill>
                      <a:srgbClr val="FFFFF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Threshold vs TF</c:v>
                  </c:pt>
                  <c:pt idx="1">
                    <c:v>Cost-aware vs TF</c:v>
                  </c:pt>
                  <c:pt idx="2">
                    <c:v>Stagnation vs TF</c:v>
                  </c:pt>
                  <c:pt idx="3">
                    <c:v>Threshold vs BF</c:v>
                  </c:pt>
                  <c:pt idx="4">
                    <c:v>Cost-aware vs BF</c:v>
                  </c:pt>
                  <c:pt idx="5">
                    <c:v>Stagnation vs BF</c:v>
                  </c:pt>
                </c:lvl>
              </c:multiLvlStrCache>
            </c:multiLvlStrRef>
          </c:cat>
          <c:val>
            <c:numRef>
              <c:f>Sheet1!$B$2:$B$7</c:f>
              <c:numCache>
                <c:formatCode>General</c:formatCode>
                <c:ptCount val="6"/>
                <c:pt idx="0">
                  <c:v>6</c:v>
                </c:pt>
                <c:pt idx="1">
                  <c:v>8</c:v>
                </c:pt>
                <c:pt idx="2">
                  <c:v>11</c:v>
                </c:pt>
                <c:pt idx="3">
                  <c:v>5</c:v>
                </c:pt>
                <c:pt idx="4">
                  <c:v>7</c:v>
                </c:pt>
                <c:pt idx="5">
                  <c:v>4</c:v>
                </c:pt>
              </c:numCache>
            </c:numRef>
          </c:val>
        </c:ser>
        <c:ser>
          <c:idx val="1"/>
          <c:order val="1"/>
          <c:tx>
            <c:strRef>
              <c:f>Sheet1!$C$1</c:f>
              <c:strCache>
                <c:ptCount val="1"/>
                <c:pt idx="0">
                  <c:v>Ties</c:v>
                </c:pt>
              </c:strCache>
            </c:strRef>
          </c:tx>
          <c:spPr>
            <a:solidFill>
              <a:srgbClr val="C5CEC6"/>
            </a:solidFill>
            <a:effectLst/>
          </c:spPr>
          <c:invertIfNegative val="0"/>
          <c:dLbls>
            <c:numFmt formatCode="0;;;" sourceLinked="0"/>
            <c:txPr>
              <a:bodyPr/>
              <a:lstStyle/>
              <a:p>
                <a:pPr>
                  <a:defRPr b="1" i="0" strike="noStrike" sz="1100" u="none">
                    <a:solidFill>
                      <a:srgbClr val="FFFFF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Threshold vs TF</c:v>
                  </c:pt>
                  <c:pt idx="1">
                    <c:v>Cost-aware vs TF</c:v>
                  </c:pt>
                  <c:pt idx="2">
                    <c:v>Stagnation vs TF</c:v>
                  </c:pt>
                  <c:pt idx="3">
                    <c:v>Threshold vs BF</c:v>
                  </c:pt>
                  <c:pt idx="4">
                    <c:v>Cost-aware vs BF</c:v>
                  </c:pt>
                  <c:pt idx="5">
                    <c:v>Stagnation vs BF</c:v>
                  </c:pt>
                </c:lvl>
              </c:multiLvlStrCache>
            </c:multiLvlStrRef>
          </c:cat>
          <c:val>
            <c:numRef>
              <c:f>Sheet1!$C$2:$C$7</c:f>
              <c:numCache>
                <c:formatCode>General</c:formatCode>
                <c:ptCount val="6"/>
                <c:pt idx="0">
                  <c:v>0</c:v>
                </c:pt>
                <c:pt idx="1">
                  <c:v>2</c:v>
                </c:pt>
                <c:pt idx="2">
                  <c:v>0</c:v>
                </c:pt>
                <c:pt idx="3">
                  <c:v>1</c:v>
                </c:pt>
                <c:pt idx="4">
                  <c:v>0</c:v>
                </c:pt>
                <c:pt idx="5">
                  <c:v>3</c:v>
                </c:pt>
              </c:numCache>
            </c:numRef>
          </c:val>
        </c:ser>
        <c:ser>
          <c:idx val="2"/>
          <c:order val="2"/>
          <c:tx>
            <c:strRef>
              <c:f>Sheet1!$D$1</c:f>
              <c:strCache>
                <c:ptCount val="1"/>
                <c:pt idx="0">
                  <c:v>Losses</c:v>
                </c:pt>
              </c:strCache>
            </c:strRef>
          </c:tx>
          <c:spPr>
            <a:solidFill>
              <a:srgbClr val="EDB27F"/>
            </a:solidFill>
            <a:effectLst/>
          </c:spPr>
          <c:invertIfNegative val="0"/>
          <c:dLbls>
            <c:numFmt formatCode="0;;;" sourceLinked="0"/>
            <c:txPr>
              <a:bodyPr/>
              <a:lstStyle/>
              <a:p>
                <a:pPr>
                  <a:defRPr b="1" i="0" strike="noStrike" sz="1100" u="none">
                    <a:solidFill>
                      <a:srgbClr val="FFFFF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Threshold vs TF</c:v>
                  </c:pt>
                  <c:pt idx="1">
                    <c:v>Cost-aware vs TF</c:v>
                  </c:pt>
                  <c:pt idx="2">
                    <c:v>Stagnation vs TF</c:v>
                  </c:pt>
                  <c:pt idx="3">
                    <c:v>Threshold vs BF</c:v>
                  </c:pt>
                  <c:pt idx="4">
                    <c:v>Cost-aware vs BF</c:v>
                  </c:pt>
                  <c:pt idx="5">
                    <c:v>Stagnation vs BF</c:v>
                  </c:pt>
                </c:lvl>
              </c:multiLvlStrCache>
            </c:multiLvlStrRef>
          </c:cat>
          <c:val>
            <c:numRef>
              <c:f>Sheet1!$D$2:$D$7</c:f>
              <c:numCache>
                <c:formatCode>General</c:formatCode>
                <c:ptCount val="6"/>
                <c:pt idx="0">
                  <c:v>9</c:v>
                </c:pt>
                <c:pt idx="1">
                  <c:v>5</c:v>
                </c:pt>
                <c:pt idx="2">
                  <c:v>4</c:v>
                </c:pt>
                <c:pt idx="3">
                  <c:v>9</c:v>
                </c:pt>
                <c:pt idx="4">
                  <c:v>8</c:v>
                </c:pt>
                <c:pt idx="5">
                  <c:v>8</c:v>
                </c:pt>
              </c:numCache>
            </c:numRef>
          </c:val>
        </c:ser>
        <c:dLbls>
          <c:numFmt formatCode="0;;;" sourceLinked="0"/>
          <c:txPr>
            <a:bodyPr/>
            <a:lstStyle/>
            <a:p>
              <a:pPr>
                <a:defRPr b="1" i="0" strike="noStrike" sz="1100" u="none">
                  <a:solidFill>
                    <a:srgbClr val="FFFFFF"/>
                  </a:solidFill>
                  <a:latin typeface="Calibri"/>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9AA39C"/>
            </a:solidFill>
            <a:prstDash val="solid"/>
            <a:round/>
          </a:ln>
        </c:spPr>
        <c:txPr>
          <a:bodyPr/>
          <a:lstStyle/>
          <a:p>
            <a:pPr>
              <a:defRPr sz="1200" b="0" i="0" u="none" strike="noStrike">
                <a:solidFill>
                  <a:srgbClr val="333333"/>
                </a:solidFill>
                <a:latin typeface="Calibri"/>
              </a:defRPr>
            </a:pPr>
            <a:endParaRPr lang="en-US"/>
          </a:p>
        </c:txPr>
        <c:crossAx val="2094734552"/>
        <c:crosses val="autoZero"/>
        <c:auto val="1"/>
        <c:lblAlgn val="ctr"/>
        <c:noMultiLvlLbl val="1"/>
      </c:catAx>
      <c:valAx>
        <c:axId val="2094734552"/>
        <c:scaling>
          <c:orientation val="minMax"/>
          <c:max val="15"/>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6B6B"/>
                </a:solidFill>
                <a:latin typeface="Calibri"/>
              </a:defRPr>
            </a:pPr>
            <a:endParaRPr lang="en-US"/>
          </a:p>
        </c:txPr>
        <c:crossAx val="2094734554"/>
        <c:crosses val="autoZero"/>
        <c:crossBetween val="between"/>
        <c:majorUnit val="3"/>
      </c:valAx>
      <c:spPr>
        <a:noFill/>
        <a:ln>
          <a:noFill/>
        </a:ln>
        <a:effectLst/>
      </c:spPr>
    </c:plotArea>
    <c:legend>
      <c:legendPos val="t"/>
      <c:overlay val="0"/>
      <c:txPr>
        <a:bodyPr/>
        <a:lstStyle/>
        <a:p>
          <a:pPr>
            <a:defRPr sz="1200">
              <a:solidFill>
                <a:srgbClr val="3333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Bisection</c:v>
                </c:pt>
              </c:strCache>
            </c:strRef>
          </c:tx>
          <c:spPr>
            <a:solidFill>
              <a:srgbClr val="B5B5B5"/>
            </a:solidFill>
            <a:ln w="22225" cap="flat">
              <a:solidFill>
                <a:srgbClr val="B5B5B5"/>
              </a:solidFill>
              <a:prstDash val="dash"/>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none"/>
            <c:size val="6"/>
            <c:spPr>
              <a:solidFill>
                <a:srgbClr val="B5B5B5"/>
              </a:solidFill>
              <a:ln w="9525" cap="flat">
                <a:solidFill>
                  <a:srgbClr val="B5B5B5"/>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Sheet1!$B$2:$B$16</c:f>
              <c:numCache>
                <c:formatCode>General</c:formatCode>
                <c:ptCount val="15"/>
                <c:pt idx="0">
                  <c:v>47</c:v>
                </c:pt>
                <c:pt idx="1">
                  <c:v>48</c:v>
                </c:pt>
                <c:pt idx="2">
                  <c:v>47</c:v>
                </c:pt>
                <c:pt idx="3">
                  <c:v>49</c:v>
                </c:pt>
                <c:pt idx="4">
                  <c:v>48</c:v>
                </c:pt>
                <c:pt idx="5">
                  <c:v>49</c:v>
                </c:pt>
                <c:pt idx="6">
                  <c:v>46</c:v>
                </c:pt>
                <c:pt idx="7">
                  <c:v>44</c:v>
                </c:pt>
                <c:pt idx="8">
                  <c:v>46</c:v>
                </c:pt>
                <c:pt idx="9">
                  <c:v>45</c:v>
                </c:pt>
                <c:pt idx="10">
                  <c:v>50</c:v>
                </c:pt>
                <c:pt idx="11">
                  <c:v>48</c:v>
                </c:pt>
                <c:pt idx="12">
                  <c:v>48</c:v>
                </c:pt>
                <c:pt idx="13">
                  <c:v>46</c:v>
                </c:pt>
                <c:pt idx="14">
                  <c:v>45</c:v>
                </c:pt>
              </c:numCache>
            </c:numRef>
          </c:val>
          <c:smooth val="0"/>
        </c:ser>
        <c:ser>
          <c:idx val="1"/>
          <c:order val="1"/>
          <c:tx>
            <c:strRef>
              <c:f>Sheet1!$C$1</c:f>
              <c:strCache>
                <c:ptCount val="1"/>
                <c:pt idx="0">
                  <c:v>Trisection</c:v>
                </c:pt>
              </c:strCache>
            </c:strRef>
          </c:tx>
          <c:spPr>
            <a:solidFill>
              <a:srgbClr val="6C8EA4"/>
            </a:solidFill>
            <a:ln w="22225" cap="flat">
              <a:solidFill>
                <a:srgbClr val="6C8EA4"/>
              </a:solidFill>
              <a:prstDash val="dash"/>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none"/>
            <c:size val="6"/>
            <c:spPr>
              <a:solidFill>
                <a:srgbClr val="6C8EA4"/>
              </a:solidFill>
              <a:ln w="9525" cap="flat">
                <a:solidFill>
                  <a:srgbClr val="6C8EA4"/>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Sheet1!$C$2:$C$16</c:f>
              <c:numCache>
                <c:formatCode>General</c:formatCode>
                <c:ptCount val="15"/>
                <c:pt idx="0">
                  <c:v>30</c:v>
                </c:pt>
                <c:pt idx="1">
                  <c:v>32</c:v>
                </c:pt>
                <c:pt idx="2">
                  <c:v>29</c:v>
                </c:pt>
                <c:pt idx="3">
                  <c:v>1</c:v>
                </c:pt>
                <c:pt idx="4">
                  <c:v>29</c:v>
                </c:pt>
                <c:pt idx="5">
                  <c:v>30</c:v>
                </c:pt>
                <c:pt idx="6">
                  <c:v>32</c:v>
                </c:pt>
                <c:pt idx="7">
                  <c:v>29</c:v>
                </c:pt>
                <c:pt idx="8">
                  <c:v>28</c:v>
                </c:pt>
                <c:pt idx="9">
                  <c:v>28</c:v>
                </c:pt>
                <c:pt idx="10">
                  <c:v>31</c:v>
                </c:pt>
                <c:pt idx="11">
                  <c:v>26</c:v>
                </c:pt>
                <c:pt idx="12">
                  <c:v>31</c:v>
                </c:pt>
                <c:pt idx="13">
                  <c:v>31</c:v>
                </c:pt>
                <c:pt idx="14">
                  <c:v>29</c:v>
                </c:pt>
              </c:numCache>
            </c:numRef>
          </c:val>
          <c:smooth val="0"/>
        </c:ser>
        <c:ser>
          <c:idx val="2"/>
          <c:order val="2"/>
          <c:tx>
            <c:strRef>
              <c:f>Sheet1!$D$1</c:f>
              <c:strCache>
                <c:ptCount val="1"/>
                <c:pt idx="0">
                  <c:v>False position</c:v>
                </c:pt>
              </c:strCache>
            </c:strRef>
          </c:tx>
          <c:spPr>
            <a:solidFill>
              <a:srgbClr val="C9A227"/>
            </a:solidFill>
            <a:ln w="22225" cap="flat">
              <a:solidFill>
                <a:srgbClr val="C9A227"/>
              </a:solidFill>
              <a:prstDash val="dash"/>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none"/>
            <c:size val="6"/>
            <c:spPr>
              <a:solidFill>
                <a:srgbClr val="C9A227"/>
              </a:solidFill>
              <a:ln w="9525" cap="flat">
                <a:solidFill>
                  <a:srgbClr val="C9A227"/>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Sheet1!$D$2:$D$16</c:f>
              <c:numCache>
                <c:formatCode>General</c:formatCode>
                <c:ptCount val="15"/>
                <c:pt idx="0">
                  <c:v>13</c:v>
                </c:pt>
                <c:pt idx="1">
                  <c:v>49</c:v>
                </c:pt>
                <c:pt idx="2">
                  <c:v>16</c:v>
                </c:pt>
                <c:pt idx="3">
                  <c:v>37</c:v>
                </c:pt>
                <c:pt idx="4">
                  <c:v>20</c:v>
                </c:pt>
                <c:pt idx="5">
                  <c:v>40</c:v>
                </c:pt>
                <c:pt idx="6">
                  <c:v>29</c:v>
                </c:pt>
                <c:pt idx="7">
                  <c:v>11</c:v>
                </c:pt>
                <c:pt idx="8">
                  <c:v>6</c:v>
                </c:pt>
                <c:pt idx="9">
                  <c:v>12</c:v>
                </c:pt>
                <c:pt idx="10">
                  <c:v>139</c:v>
                </c:pt>
                <c:pt idx="11">
                  <c:v>15</c:v>
                </c:pt>
                <c:pt idx="12">
                  <c:v>44</c:v>
                </c:pt>
                <c:pt idx="13">
                  <c:v>45</c:v>
                </c:pt>
                <c:pt idx="14">
                  <c:v>16</c:v>
                </c:pt>
              </c:numCache>
            </c:numRef>
          </c:val>
          <c:smooth val="0"/>
        </c:ser>
        <c:ser>
          <c:idx val="3"/>
          <c:order val="3"/>
          <c:tx>
            <c:strRef>
              <c:f>Sheet1!$E$1</c:f>
              <c:strCache>
                <c:ptCount val="1"/>
                <c:pt idx="0">
                  <c:v>Newton</c:v>
                </c:pt>
              </c:strCache>
            </c:strRef>
          </c:tx>
          <c:spPr>
            <a:solidFill>
              <a:srgbClr val="8E6C8A"/>
            </a:solidFill>
            <a:ln w="22225" cap="flat">
              <a:solidFill>
                <a:srgbClr val="8E6C8A"/>
              </a:solidFill>
              <a:prstDash val="sysDot"/>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triangle"/>
            <c:size val="6"/>
            <c:spPr>
              <a:solidFill>
                <a:srgbClr val="8E6C8A"/>
              </a:solidFill>
              <a:ln w="9525" cap="flat">
                <a:solidFill>
                  <a:srgbClr val="8E6C8A"/>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Sheet1!$E$2:$E$16</c:f>
              <c:numCache>
                <c:formatCode>General</c:formatCode>
                <c:ptCount val="15"/>
                <c:pt idx="0">
                  <c:v>5</c:v>
                </c:pt>
                <c:pt idx="1">
                  <c:v>4</c:v>
                </c:pt>
                <c:pt idx="2">
                  <c:v>4</c:v>
                </c:pt>
                <c:pt idx="3">
                  <c:v>6</c:v>
                </c:pt>
                <c:pt idx="4">
                  <c:v>5</c:v>
                </c:pt>
                <c:pt idx="5">
                  <c:v/>
                </c:pt>
                <c:pt idx="6">
                  <c:v>13</c:v>
                </c:pt>
                <c:pt idx="7">
                  <c:v>5</c:v>
                </c:pt>
                <c:pt idx="8">
                  <c:v/>
                </c:pt>
                <c:pt idx="9">
                  <c:v>13</c:v>
                </c:pt>
                <c:pt idx="10">
                  <c:v/>
                </c:pt>
                <c:pt idx="11">
                  <c:v>5</c:v>
                </c:pt>
                <c:pt idx="12">
                  <c:v>5</c:v>
                </c:pt>
                <c:pt idx="13">
                  <c:v>4</c:v>
                </c:pt>
                <c:pt idx="14">
                  <c:v>8</c:v>
                </c:pt>
              </c:numCache>
            </c:numRef>
          </c:val>
          <c:smooth val="0"/>
        </c:ser>
        <c:ser>
          <c:idx val="4"/>
          <c:order val="4"/>
          <c:tx>
            <c:strRef>
              <c:f>Sheet1!$F$1</c:f>
              <c:strCache>
                <c:ptCount val="1"/>
                <c:pt idx="0">
                  <c:v>Secant</c:v>
                </c:pt>
              </c:strCache>
            </c:strRef>
          </c:tx>
          <c:spPr>
            <a:solidFill>
              <a:srgbClr val="C98BB9"/>
            </a:solidFill>
            <a:ln w="22225" cap="flat">
              <a:solidFill>
                <a:srgbClr val="C98BB9"/>
              </a:solidFill>
              <a:prstDash val="sysDot"/>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triangle"/>
            <c:size val="6"/>
            <c:spPr>
              <a:solidFill>
                <a:srgbClr val="C98BB9"/>
              </a:solidFill>
              <a:ln w="9525" cap="flat">
                <a:solidFill>
                  <a:srgbClr val="C98BB9"/>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Sheet1!$F$2:$F$16</c:f>
              <c:numCache>
                <c:formatCode>General</c:formatCode>
                <c:ptCount val="15"/>
                <c:pt idx="0">
                  <c:v>6</c:v>
                </c:pt>
                <c:pt idx="1">
                  <c:v>7</c:v>
                </c:pt>
                <c:pt idx="2">
                  <c:v>6</c:v>
                </c:pt>
                <c:pt idx="3">
                  <c:v>8</c:v>
                </c:pt>
                <c:pt idx="4">
                  <c:v>6</c:v>
                </c:pt>
                <c:pt idx="5">
                  <c:v>10</c:v>
                </c:pt>
                <c:pt idx="6">
                  <c:v>9</c:v>
                </c:pt>
                <c:pt idx="7">
                  <c:v>6</c:v>
                </c:pt>
                <c:pt idx="8">
                  <c:v>5</c:v>
                </c:pt>
                <c:pt idx="9">
                  <c:v>8</c:v>
                </c:pt>
                <c:pt idx="10">
                  <c:v/>
                </c:pt>
                <c:pt idx="11">
                  <c:v>6</c:v>
                </c:pt>
                <c:pt idx="12">
                  <c:v>8</c:v>
                </c:pt>
                <c:pt idx="13">
                  <c:v>7</c:v>
                </c:pt>
                <c:pt idx="14">
                  <c:v>7</c:v>
                </c:pt>
              </c:numCache>
            </c:numRef>
          </c:val>
          <c:smooth val="0"/>
        </c:ser>
        <c:ser>
          <c:idx val="5"/>
          <c:order val="5"/>
          <c:tx>
            <c:strRef>
              <c:f>Sheet1!$G$1</c:f>
              <c:strCache>
                <c:ptCount val="1"/>
                <c:pt idx="0">
                  <c:v>Static BF</c:v>
                </c:pt>
              </c:strCache>
            </c:strRef>
          </c:tx>
          <c:spPr>
            <a:solidFill>
              <a:srgbClr val="8C9A90"/>
            </a:solidFill>
            <a:ln w="25400" cap="flat">
              <a:solidFill>
                <a:srgbClr val="8C9A90"/>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square"/>
            <c:size val="6"/>
            <c:spPr>
              <a:solidFill>
                <a:srgbClr val="8C9A90"/>
              </a:solidFill>
              <a:ln w="9525" cap="flat">
                <a:solidFill>
                  <a:srgbClr val="8C9A90"/>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Sheet1!$G$2:$G$16</c:f>
              <c:numCache>
                <c:formatCode>General</c:formatCode>
                <c:ptCount val="15"/>
                <c:pt idx="0">
                  <c:v>8</c:v>
                </c:pt>
                <c:pt idx="1">
                  <c:v>10</c:v>
                </c:pt>
                <c:pt idx="2">
                  <c:v>8</c:v>
                </c:pt>
                <c:pt idx="3">
                  <c:v>2</c:v>
                </c:pt>
                <c:pt idx="4">
                  <c:v>5</c:v>
                </c:pt>
                <c:pt idx="5">
                  <c:v>9</c:v>
                </c:pt>
                <c:pt idx="6">
                  <c:v>11</c:v>
                </c:pt>
                <c:pt idx="7">
                  <c:v>8</c:v>
                </c:pt>
                <c:pt idx="8">
                  <c:v>6</c:v>
                </c:pt>
                <c:pt idx="9">
                  <c:v>10</c:v>
                </c:pt>
                <c:pt idx="10">
                  <c:v>12</c:v>
                </c:pt>
                <c:pt idx="11">
                  <c:v>8</c:v>
                </c:pt>
                <c:pt idx="12">
                  <c:v>9</c:v>
                </c:pt>
                <c:pt idx="13">
                  <c:v>9</c:v>
                </c:pt>
                <c:pt idx="14">
                  <c:v>7</c:v>
                </c:pt>
              </c:numCache>
            </c:numRef>
          </c:val>
          <c:smooth val="0"/>
        </c:ser>
        <c:ser>
          <c:idx val="6"/>
          <c:order val="6"/>
          <c:tx>
            <c:strRef>
              <c:f>Sheet1!$H$1</c:f>
              <c:strCache>
                <c:ptCount val="1"/>
                <c:pt idx="0">
                  <c:v>Static TF</c:v>
                </c:pt>
              </c:strCache>
            </c:strRef>
          </c:tx>
          <c:spPr>
            <a:solidFill>
              <a:srgbClr val="1E4D2B"/>
            </a:solidFill>
            <a:ln w="25400" cap="flat">
              <a:solidFill>
                <a:srgbClr val="1E4D2B"/>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square"/>
            <c:size val="6"/>
            <c:spPr>
              <a:solidFill>
                <a:srgbClr val="1E4D2B"/>
              </a:solidFill>
              <a:ln w="9525" cap="flat">
                <a:solidFill>
                  <a:srgbClr val="1E4D2B"/>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Sheet1!$H$2:$H$16</c:f>
              <c:numCache>
                <c:formatCode>General</c:formatCode>
                <c:ptCount val="15"/>
                <c:pt idx="0">
                  <c:v>7</c:v>
                </c:pt>
                <c:pt idx="1">
                  <c:v>8</c:v>
                </c:pt>
                <c:pt idx="2">
                  <c:v>7</c:v>
                </c:pt>
                <c:pt idx="3">
                  <c:v>1</c:v>
                </c:pt>
                <c:pt idx="4">
                  <c:v>7</c:v>
                </c:pt>
                <c:pt idx="5">
                  <c:v>8</c:v>
                </c:pt>
                <c:pt idx="6">
                  <c:v>7</c:v>
                </c:pt>
                <c:pt idx="7">
                  <c:v>7</c:v>
                </c:pt>
                <c:pt idx="8">
                  <c:v>5</c:v>
                </c:pt>
                <c:pt idx="9">
                  <c:v>8</c:v>
                </c:pt>
                <c:pt idx="10">
                  <c:v>9</c:v>
                </c:pt>
                <c:pt idx="11">
                  <c:v>6</c:v>
                </c:pt>
                <c:pt idx="12">
                  <c:v>7</c:v>
                </c:pt>
                <c:pt idx="13">
                  <c:v>7</c:v>
                </c:pt>
                <c:pt idx="14">
                  <c:v>5</c:v>
                </c:pt>
              </c:numCache>
            </c:numRef>
          </c:val>
          <c:smooth val="0"/>
        </c:ser>
        <c:ser>
          <c:idx val="7"/>
          <c:order val="7"/>
          <c:tx>
            <c:strRef>
              <c:f>Sheet1!$I$1</c:f>
              <c:strCache>
                <c:ptCount val="1"/>
                <c:pt idx="0">
                  <c:v>Adaptive threshold</c:v>
                </c:pt>
              </c:strCache>
            </c:strRef>
          </c:tx>
          <c:spPr>
            <a:solidFill>
              <a:srgbClr val="7FAF78"/>
            </a:solidFill>
            <a:ln w="25400" cap="flat">
              <a:solidFill>
                <a:srgbClr val="7FAF78"/>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6"/>
            <c:spPr>
              <a:solidFill>
                <a:srgbClr val="7FAF78"/>
              </a:solidFill>
              <a:ln w="9525" cap="flat">
                <a:solidFill>
                  <a:srgbClr val="7FAF78"/>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Sheet1!$I$2:$I$16</c:f>
              <c:numCache>
                <c:formatCode>General</c:formatCode>
                <c:ptCount val="15"/>
                <c:pt idx="0">
                  <c:v>12</c:v>
                </c:pt>
                <c:pt idx="1">
                  <c:v>37</c:v>
                </c:pt>
                <c:pt idx="2">
                  <c:v>14</c:v>
                </c:pt>
                <c:pt idx="3">
                  <c:v>31</c:v>
                </c:pt>
                <c:pt idx="4">
                  <c:v>18</c:v>
                </c:pt>
                <c:pt idx="5">
                  <c:v>31</c:v>
                </c:pt>
                <c:pt idx="6">
                  <c:v>24</c:v>
                </c:pt>
                <c:pt idx="7">
                  <c:v>11</c:v>
                </c:pt>
                <c:pt idx="8">
                  <c:v>6</c:v>
                </c:pt>
                <c:pt idx="9">
                  <c:v>12</c:v>
                </c:pt>
                <c:pt idx="10">
                  <c:v>90</c:v>
                </c:pt>
                <c:pt idx="11">
                  <c:v>13</c:v>
                </c:pt>
                <c:pt idx="12">
                  <c:v>34</c:v>
                </c:pt>
                <c:pt idx="13">
                  <c:v>34</c:v>
                </c:pt>
                <c:pt idx="14">
                  <c:v>15</c:v>
                </c:pt>
              </c:numCache>
            </c:numRef>
          </c:val>
          <c:smooth val="0"/>
        </c:ser>
        <c:ser>
          <c:idx val="8"/>
          <c:order val="8"/>
          <c:tx>
            <c:strRef>
              <c:f>Sheet1!$J$1</c:f>
              <c:strCache>
                <c:ptCount val="1"/>
                <c:pt idx="0">
                  <c:v>Cost-aware</c:v>
                </c:pt>
              </c:strCache>
            </c:strRef>
          </c:tx>
          <c:spPr>
            <a:solidFill>
              <a:srgbClr val="E9A15F"/>
            </a:solidFill>
            <a:ln w="25400" cap="flat">
              <a:solidFill>
                <a:srgbClr val="E9A15F"/>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6"/>
            <c:spPr>
              <a:solidFill>
                <a:srgbClr val="E9A15F"/>
              </a:solidFill>
              <a:ln w="9525" cap="flat">
                <a:solidFill>
                  <a:srgbClr val="E9A15F"/>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Sheet1!$J$2:$J$16</c:f>
              <c:numCache>
                <c:formatCode>General</c:formatCode>
                <c:ptCount val="15"/>
                <c:pt idx="0">
                  <c:v>10</c:v>
                </c:pt>
                <c:pt idx="1">
                  <c:v>25</c:v>
                </c:pt>
                <c:pt idx="2">
                  <c:v>12</c:v>
                </c:pt>
                <c:pt idx="3">
                  <c:v>17</c:v>
                </c:pt>
                <c:pt idx="4">
                  <c:v>13</c:v>
                </c:pt>
                <c:pt idx="5">
                  <c:v>29</c:v>
                </c:pt>
                <c:pt idx="6">
                  <c:v>11</c:v>
                </c:pt>
                <c:pt idx="7">
                  <c:v>9</c:v>
                </c:pt>
                <c:pt idx="8">
                  <c:v>7</c:v>
                </c:pt>
                <c:pt idx="9">
                  <c:v>30</c:v>
                </c:pt>
                <c:pt idx="10">
                  <c:v>22</c:v>
                </c:pt>
                <c:pt idx="11">
                  <c:v>10</c:v>
                </c:pt>
                <c:pt idx="12">
                  <c:v>20</c:v>
                </c:pt>
                <c:pt idx="13">
                  <c:v>20</c:v>
                </c:pt>
                <c:pt idx="14">
                  <c:v>10</c:v>
                </c:pt>
              </c:numCache>
            </c:numRef>
          </c:val>
          <c:smooth val="0"/>
        </c:ser>
        <c:ser>
          <c:idx val="9"/>
          <c:order val="9"/>
          <c:tx>
            <c:strRef>
              <c:f>Sheet1!$K$1</c:f>
              <c:strCache>
                <c:ptCount val="1"/>
                <c:pt idx="0">
                  <c:v>Stagnation-aware</c:v>
                </c:pt>
              </c:strCache>
            </c:strRef>
          </c:tx>
          <c:spPr>
            <a:solidFill>
              <a:srgbClr val="E07B30"/>
            </a:solidFill>
            <a:ln w="38100" cap="flat">
              <a:solidFill>
                <a:srgbClr val="E07B30"/>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6"/>
            <c:spPr>
              <a:solidFill>
                <a:srgbClr val="E07B30"/>
              </a:solidFill>
              <a:ln w="9525" cap="flat">
                <a:solidFill>
                  <a:srgbClr val="E07B30"/>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Sheet1!$K$2:$K$16</c:f>
              <c:numCache>
                <c:formatCode>General</c:formatCode>
                <c:ptCount val="15"/>
                <c:pt idx="0">
                  <c:v>13</c:v>
                </c:pt>
                <c:pt idx="1">
                  <c:v>19</c:v>
                </c:pt>
                <c:pt idx="2">
                  <c:v>13</c:v>
                </c:pt>
                <c:pt idx="3">
                  <c:v>18</c:v>
                </c:pt>
                <c:pt idx="4">
                  <c:v>14</c:v>
                </c:pt>
                <c:pt idx="5">
                  <c:v>17</c:v>
                </c:pt>
                <c:pt idx="6">
                  <c:v>15</c:v>
                </c:pt>
                <c:pt idx="7">
                  <c:v>11</c:v>
                </c:pt>
                <c:pt idx="8">
                  <c:v>7</c:v>
                </c:pt>
                <c:pt idx="9">
                  <c:v>13</c:v>
                </c:pt>
                <c:pt idx="10">
                  <c:v>20</c:v>
                </c:pt>
                <c:pt idx="11">
                  <c:v>13</c:v>
                </c:pt>
                <c:pt idx="12">
                  <c:v>18</c:v>
                </c:pt>
                <c:pt idx="13">
                  <c:v>18</c:v>
                </c:pt>
                <c:pt idx="14">
                  <c:v>13</c:v>
                </c:pt>
              </c:numCache>
            </c:numRef>
          </c:val>
          <c:smooth val="0"/>
        </c:ser>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B6B6B"/>
                    </a:solidFill>
                    <a:latin typeface="Arial"/>
                  </a:defRPr>
                </a:pPr>
                <a:r>
                  <a:rPr sz="1200" b="0" i="0" u="none" strike="noStrike">
                    <a:solidFill>
                      <a:srgbClr val="6B6B6B"/>
                    </a:solidFill>
                    <a:latin typeface="Arial"/>
                  </a:rPr>
                  <a:t>Benchmark problem</a:t>
                </a:r>
              </a:p>
            </c:rich>
          </c:tx>
          <c:layout/>
          <c:overlay val="0"/>
        </c:title>
        <c:numFmt formatCode="General" sourceLinked="1"/>
        <c:majorTickMark val="out"/>
        <c:minorTickMark val="none"/>
        <c:tickLblPos val="low"/>
        <c:spPr>
          <a:ln w="12700" cap="flat">
            <a:solidFill>
              <a:srgbClr val="9AA39C"/>
            </a:solidFill>
            <a:prstDash val="solid"/>
            <a:round/>
          </a:ln>
        </c:spPr>
        <c:txPr>
          <a:bodyPr/>
          <a:lstStyle/>
          <a:p>
            <a:pPr>
              <a:defRPr sz="1200" b="0" i="0" u="none" strike="noStrike">
                <a:solidFill>
                  <a:srgbClr val="33333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6E6E6"/>
              </a:solidFill>
              <a:prstDash val="solid"/>
              <a:round/>
            </a:ln>
          </c:spPr>
        </c:majorGridlines>
        <c:title>
          <c:tx>
            <c:rich>
              <a:bodyPr/>
              <a:lstStyle/>
              <a:p>
                <a:pPr>
                  <a:defRPr sz="1200" b="0" i="0" u="none" strike="noStrike">
                    <a:solidFill>
                      <a:srgbClr val="6B6B6B"/>
                    </a:solidFill>
                    <a:latin typeface="Arial"/>
                  </a:defRPr>
                </a:pPr>
                <a:r>
                  <a:rPr sz="1200" b="0" i="0" u="none" strike="noStrike">
                    <a:solidFill>
                      <a:srgbClr val="6B6B6B"/>
                    </a:solidFill>
                    <a:latin typeface="Arial"/>
                  </a:rPr>
                  <a:t>Iterations</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Calibri"/>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333333"/>
              </a:solidFill>
              <a:latin typeface="Calibri"/>
              <a:cs typeface="Calibri"/>
            </a:defRPr>
          </a:pPr>
          <a:endParaRPr lang="en-US"/>
        </a:p>
      </c:txPr>
    </c:legend>
    <c:plotVisOnly val="1"/>
    <c:dispBlanksAs val="gap"/>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Bisection</c:v>
                </c:pt>
              </c:strCache>
            </c:strRef>
          </c:tx>
          <c:spPr>
            <a:solidFill>
              <a:srgbClr val="B5B5B5"/>
            </a:solidFill>
            <a:ln w="22225" cap="flat">
              <a:solidFill>
                <a:srgbClr val="B5B5B5"/>
              </a:solidFill>
              <a:prstDash val="dash"/>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none"/>
            <c:size val="6"/>
            <c:spPr>
              <a:solidFill>
                <a:srgbClr val="B5B5B5"/>
              </a:solidFill>
              <a:ln w="9525" cap="flat">
                <a:solidFill>
                  <a:srgbClr val="B5B5B5"/>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Sheet1!$B$2:$B$16</c:f>
              <c:numCache>
                <c:formatCode>General</c:formatCode>
                <c:ptCount val="15"/>
                <c:pt idx="0">
                  <c:v>49</c:v>
                </c:pt>
                <c:pt idx="1">
                  <c:v>50</c:v>
                </c:pt>
                <c:pt idx="2">
                  <c:v>49</c:v>
                </c:pt>
                <c:pt idx="3">
                  <c:v>51</c:v>
                </c:pt>
                <c:pt idx="4">
                  <c:v>50</c:v>
                </c:pt>
                <c:pt idx="5">
                  <c:v>51</c:v>
                </c:pt>
                <c:pt idx="6">
                  <c:v>48</c:v>
                </c:pt>
                <c:pt idx="7">
                  <c:v>46</c:v>
                </c:pt>
                <c:pt idx="8">
                  <c:v>48</c:v>
                </c:pt>
                <c:pt idx="9">
                  <c:v>47</c:v>
                </c:pt>
                <c:pt idx="10">
                  <c:v>52</c:v>
                </c:pt>
                <c:pt idx="11">
                  <c:v>50</c:v>
                </c:pt>
                <c:pt idx="12">
                  <c:v>50</c:v>
                </c:pt>
                <c:pt idx="13">
                  <c:v>48</c:v>
                </c:pt>
                <c:pt idx="14">
                  <c:v>47</c:v>
                </c:pt>
              </c:numCache>
            </c:numRef>
          </c:val>
          <c:smooth val="0"/>
        </c:ser>
        <c:ser>
          <c:idx val="1"/>
          <c:order val="1"/>
          <c:tx>
            <c:strRef>
              <c:f>Sheet1!$C$1</c:f>
              <c:strCache>
                <c:ptCount val="1"/>
                <c:pt idx="0">
                  <c:v>Trisection</c:v>
                </c:pt>
              </c:strCache>
            </c:strRef>
          </c:tx>
          <c:spPr>
            <a:solidFill>
              <a:srgbClr val="6C8EA4"/>
            </a:solidFill>
            <a:ln w="22225" cap="flat">
              <a:solidFill>
                <a:srgbClr val="6C8EA4"/>
              </a:solidFill>
              <a:prstDash val="dash"/>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none"/>
            <c:size val="6"/>
            <c:spPr>
              <a:solidFill>
                <a:srgbClr val="6C8EA4"/>
              </a:solidFill>
              <a:ln w="9525" cap="flat">
                <a:solidFill>
                  <a:srgbClr val="6C8EA4"/>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Sheet1!$C$2:$C$16</c:f>
              <c:numCache>
                <c:formatCode>General</c:formatCode>
                <c:ptCount val="15"/>
                <c:pt idx="0">
                  <c:v>62</c:v>
                </c:pt>
                <c:pt idx="1">
                  <c:v>66</c:v>
                </c:pt>
                <c:pt idx="2">
                  <c:v>60</c:v>
                </c:pt>
                <c:pt idx="3">
                  <c:v>4</c:v>
                </c:pt>
                <c:pt idx="4">
                  <c:v>60</c:v>
                </c:pt>
                <c:pt idx="5">
                  <c:v>62</c:v>
                </c:pt>
                <c:pt idx="6">
                  <c:v>66</c:v>
                </c:pt>
                <c:pt idx="7">
                  <c:v>60</c:v>
                </c:pt>
                <c:pt idx="8">
                  <c:v>58</c:v>
                </c:pt>
                <c:pt idx="9">
                  <c:v>58</c:v>
                </c:pt>
                <c:pt idx="10">
                  <c:v>64</c:v>
                </c:pt>
                <c:pt idx="11">
                  <c:v>54</c:v>
                </c:pt>
                <c:pt idx="12">
                  <c:v>64</c:v>
                </c:pt>
                <c:pt idx="13">
                  <c:v>64</c:v>
                </c:pt>
                <c:pt idx="14">
                  <c:v>60</c:v>
                </c:pt>
              </c:numCache>
            </c:numRef>
          </c:val>
          <c:smooth val="0"/>
        </c:ser>
        <c:ser>
          <c:idx val="2"/>
          <c:order val="2"/>
          <c:tx>
            <c:strRef>
              <c:f>Sheet1!$D$1</c:f>
              <c:strCache>
                <c:ptCount val="1"/>
                <c:pt idx="0">
                  <c:v>False position</c:v>
                </c:pt>
              </c:strCache>
            </c:strRef>
          </c:tx>
          <c:spPr>
            <a:solidFill>
              <a:srgbClr val="C9A227"/>
            </a:solidFill>
            <a:ln w="22225" cap="flat">
              <a:solidFill>
                <a:srgbClr val="C9A227"/>
              </a:solidFill>
              <a:prstDash val="dash"/>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none"/>
            <c:size val="6"/>
            <c:spPr>
              <a:solidFill>
                <a:srgbClr val="C9A227"/>
              </a:solidFill>
              <a:ln w="9525" cap="flat">
                <a:solidFill>
                  <a:srgbClr val="C9A227"/>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Sheet1!$D$2:$D$16</c:f>
              <c:numCache>
                <c:formatCode>General</c:formatCode>
                <c:ptCount val="15"/>
                <c:pt idx="0">
                  <c:v>15</c:v>
                </c:pt>
                <c:pt idx="1">
                  <c:v>51</c:v>
                </c:pt>
                <c:pt idx="2">
                  <c:v>18</c:v>
                </c:pt>
                <c:pt idx="3">
                  <c:v>39</c:v>
                </c:pt>
                <c:pt idx="4">
                  <c:v>22</c:v>
                </c:pt>
                <c:pt idx="5">
                  <c:v>42</c:v>
                </c:pt>
                <c:pt idx="6">
                  <c:v>31</c:v>
                </c:pt>
                <c:pt idx="7">
                  <c:v>13</c:v>
                </c:pt>
                <c:pt idx="8">
                  <c:v>8</c:v>
                </c:pt>
                <c:pt idx="9">
                  <c:v>14</c:v>
                </c:pt>
                <c:pt idx="10">
                  <c:v>141</c:v>
                </c:pt>
                <c:pt idx="11">
                  <c:v>17</c:v>
                </c:pt>
                <c:pt idx="12">
                  <c:v>46</c:v>
                </c:pt>
                <c:pt idx="13">
                  <c:v>47</c:v>
                </c:pt>
                <c:pt idx="14">
                  <c:v>18</c:v>
                </c:pt>
              </c:numCache>
            </c:numRef>
          </c:val>
          <c:smooth val="0"/>
        </c:ser>
        <c:ser>
          <c:idx val="3"/>
          <c:order val="3"/>
          <c:tx>
            <c:strRef>
              <c:f>Sheet1!$E$1</c:f>
              <c:strCache>
                <c:ptCount val="1"/>
                <c:pt idx="0">
                  <c:v>Newton</c:v>
                </c:pt>
              </c:strCache>
            </c:strRef>
          </c:tx>
          <c:spPr>
            <a:solidFill>
              <a:srgbClr val="8E6C8A"/>
            </a:solidFill>
            <a:ln w="22225" cap="flat">
              <a:solidFill>
                <a:srgbClr val="8E6C8A"/>
              </a:solidFill>
              <a:prstDash val="sysDot"/>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triangle"/>
            <c:size val="6"/>
            <c:spPr>
              <a:solidFill>
                <a:srgbClr val="8E6C8A"/>
              </a:solidFill>
              <a:ln w="9525" cap="flat">
                <a:solidFill>
                  <a:srgbClr val="8E6C8A"/>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Sheet1!$E$2:$E$16</c:f>
              <c:numCache>
                <c:formatCode>General</c:formatCode>
                <c:ptCount val="15"/>
                <c:pt idx="0">
                  <c:v>6</c:v>
                </c:pt>
                <c:pt idx="1">
                  <c:v>5</c:v>
                </c:pt>
                <c:pt idx="2">
                  <c:v>5</c:v>
                </c:pt>
                <c:pt idx="3">
                  <c:v>7</c:v>
                </c:pt>
                <c:pt idx="4">
                  <c:v>6</c:v>
                </c:pt>
                <c:pt idx="5">
                  <c:v/>
                </c:pt>
                <c:pt idx="6">
                  <c:v>14</c:v>
                </c:pt>
                <c:pt idx="7">
                  <c:v>6</c:v>
                </c:pt>
                <c:pt idx="8">
                  <c:v/>
                </c:pt>
                <c:pt idx="9">
                  <c:v>14</c:v>
                </c:pt>
                <c:pt idx="10">
                  <c:v/>
                </c:pt>
                <c:pt idx="11">
                  <c:v>6</c:v>
                </c:pt>
                <c:pt idx="12">
                  <c:v>6</c:v>
                </c:pt>
                <c:pt idx="13">
                  <c:v>5</c:v>
                </c:pt>
                <c:pt idx="14">
                  <c:v>9</c:v>
                </c:pt>
              </c:numCache>
            </c:numRef>
          </c:val>
          <c:smooth val="0"/>
        </c:ser>
        <c:ser>
          <c:idx val="4"/>
          <c:order val="4"/>
          <c:tx>
            <c:strRef>
              <c:f>Sheet1!$F$1</c:f>
              <c:strCache>
                <c:ptCount val="1"/>
                <c:pt idx="0">
                  <c:v>Secant</c:v>
                </c:pt>
              </c:strCache>
            </c:strRef>
          </c:tx>
          <c:spPr>
            <a:solidFill>
              <a:srgbClr val="C98BB9"/>
            </a:solidFill>
            <a:ln w="22225" cap="flat">
              <a:solidFill>
                <a:srgbClr val="C98BB9"/>
              </a:solidFill>
              <a:prstDash val="sysDot"/>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triangle"/>
            <c:size val="6"/>
            <c:spPr>
              <a:solidFill>
                <a:srgbClr val="C98BB9"/>
              </a:solidFill>
              <a:ln w="9525" cap="flat">
                <a:solidFill>
                  <a:srgbClr val="C98BB9"/>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Sheet1!$F$2:$F$16</c:f>
              <c:numCache>
                <c:formatCode>General</c:formatCode>
                <c:ptCount val="15"/>
                <c:pt idx="0">
                  <c:v>8</c:v>
                </c:pt>
                <c:pt idx="1">
                  <c:v>9</c:v>
                </c:pt>
                <c:pt idx="2">
                  <c:v>8</c:v>
                </c:pt>
                <c:pt idx="3">
                  <c:v>10</c:v>
                </c:pt>
                <c:pt idx="4">
                  <c:v>8</c:v>
                </c:pt>
                <c:pt idx="5">
                  <c:v>12</c:v>
                </c:pt>
                <c:pt idx="6">
                  <c:v>11</c:v>
                </c:pt>
                <c:pt idx="7">
                  <c:v>8</c:v>
                </c:pt>
                <c:pt idx="8">
                  <c:v>7</c:v>
                </c:pt>
                <c:pt idx="9">
                  <c:v>10</c:v>
                </c:pt>
                <c:pt idx="10">
                  <c:v/>
                </c:pt>
                <c:pt idx="11">
                  <c:v>8</c:v>
                </c:pt>
                <c:pt idx="12">
                  <c:v>10</c:v>
                </c:pt>
                <c:pt idx="13">
                  <c:v>9</c:v>
                </c:pt>
                <c:pt idx="14">
                  <c:v>9</c:v>
                </c:pt>
              </c:numCache>
            </c:numRef>
          </c:val>
          <c:smooth val="0"/>
        </c:ser>
        <c:ser>
          <c:idx val="5"/>
          <c:order val="5"/>
          <c:tx>
            <c:strRef>
              <c:f>Sheet1!$G$1</c:f>
              <c:strCache>
                <c:ptCount val="1"/>
                <c:pt idx="0">
                  <c:v>Static BF</c:v>
                </c:pt>
              </c:strCache>
            </c:strRef>
          </c:tx>
          <c:spPr>
            <a:solidFill>
              <a:srgbClr val="8C9A90"/>
            </a:solidFill>
            <a:ln w="25400" cap="flat">
              <a:solidFill>
                <a:srgbClr val="8C9A90"/>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square"/>
            <c:size val="6"/>
            <c:spPr>
              <a:solidFill>
                <a:srgbClr val="8C9A90"/>
              </a:solidFill>
              <a:ln w="9525" cap="flat">
                <a:solidFill>
                  <a:srgbClr val="8C9A90"/>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Sheet1!$G$2:$G$16</c:f>
              <c:numCache>
                <c:formatCode>General</c:formatCode>
                <c:ptCount val="15"/>
                <c:pt idx="0">
                  <c:v>18</c:v>
                </c:pt>
                <c:pt idx="1">
                  <c:v>22</c:v>
                </c:pt>
                <c:pt idx="2">
                  <c:v>18</c:v>
                </c:pt>
                <c:pt idx="3">
                  <c:v>6</c:v>
                </c:pt>
                <c:pt idx="4">
                  <c:v>11</c:v>
                </c:pt>
                <c:pt idx="5">
                  <c:v>20</c:v>
                </c:pt>
                <c:pt idx="6">
                  <c:v>24</c:v>
                </c:pt>
                <c:pt idx="7">
                  <c:v>18</c:v>
                </c:pt>
                <c:pt idx="8">
                  <c:v>14</c:v>
                </c:pt>
                <c:pt idx="9">
                  <c:v>22</c:v>
                </c:pt>
                <c:pt idx="10">
                  <c:v>26</c:v>
                </c:pt>
                <c:pt idx="11">
                  <c:v>18</c:v>
                </c:pt>
                <c:pt idx="12">
                  <c:v>20</c:v>
                </c:pt>
                <c:pt idx="13">
                  <c:v>20</c:v>
                </c:pt>
                <c:pt idx="14">
                  <c:v>16</c:v>
                </c:pt>
              </c:numCache>
            </c:numRef>
          </c:val>
          <c:smooth val="0"/>
        </c:ser>
        <c:ser>
          <c:idx val="6"/>
          <c:order val="6"/>
          <c:tx>
            <c:strRef>
              <c:f>Sheet1!$H$1</c:f>
              <c:strCache>
                <c:ptCount val="1"/>
                <c:pt idx="0">
                  <c:v>Static TF</c:v>
                </c:pt>
              </c:strCache>
            </c:strRef>
          </c:tx>
          <c:spPr>
            <a:solidFill>
              <a:srgbClr val="1E4D2B"/>
            </a:solidFill>
            <a:ln w="25400" cap="flat">
              <a:solidFill>
                <a:srgbClr val="1E4D2B"/>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square"/>
            <c:size val="6"/>
            <c:spPr>
              <a:solidFill>
                <a:srgbClr val="1E4D2B"/>
              </a:solidFill>
              <a:ln w="9525" cap="flat">
                <a:solidFill>
                  <a:srgbClr val="1E4D2B"/>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Sheet1!$H$2:$H$16</c:f>
              <c:numCache>
                <c:formatCode>General</c:formatCode>
                <c:ptCount val="15"/>
                <c:pt idx="0">
                  <c:v>22</c:v>
                </c:pt>
                <c:pt idx="1">
                  <c:v>26</c:v>
                </c:pt>
                <c:pt idx="2">
                  <c:v>23</c:v>
                </c:pt>
                <c:pt idx="3">
                  <c:v>5</c:v>
                </c:pt>
                <c:pt idx="4">
                  <c:v>22</c:v>
                </c:pt>
                <c:pt idx="5">
                  <c:v>26</c:v>
                </c:pt>
                <c:pt idx="6">
                  <c:v>23</c:v>
                </c:pt>
                <c:pt idx="7">
                  <c:v>23</c:v>
                </c:pt>
                <c:pt idx="8">
                  <c:v>17</c:v>
                </c:pt>
                <c:pt idx="9">
                  <c:v>26</c:v>
                </c:pt>
                <c:pt idx="10">
                  <c:v>29</c:v>
                </c:pt>
                <c:pt idx="11">
                  <c:v>20</c:v>
                </c:pt>
                <c:pt idx="12">
                  <c:v>23</c:v>
                </c:pt>
                <c:pt idx="13">
                  <c:v>23</c:v>
                </c:pt>
                <c:pt idx="14">
                  <c:v>17</c:v>
                </c:pt>
              </c:numCache>
            </c:numRef>
          </c:val>
          <c:smooth val="0"/>
        </c:ser>
        <c:ser>
          <c:idx val="7"/>
          <c:order val="7"/>
          <c:tx>
            <c:strRef>
              <c:f>Sheet1!$I$1</c:f>
              <c:strCache>
                <c:ptCount val="1"/>
                <c:pt idx="0">
                  <c:v>Adaptive threshold</c:v>
                </c:pt>
              </c:strCache>
            </c:strRef>
          </c:tx>
          <c:spPr>
            <a:solidFill>
              <a:srgbClr val="7FAF78"/>
            </a:solidFill>
            <a:ln w="25400" cap="flat">
              <a:solidFill>
                <a:srgbClr val="7FAF78"/>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6"/>
            <c:spPr>
              <a:solidFill>
                <a:srgbClr val="7FAF78"/>
              </a:solidFill>
              <a:ln w="9525" cap="flat">
                <a:solidFill>
                  <a:srgbClr val="7FAF78"/>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Sheet1!$I$2:$I$16</c:f>
              <c:numCache>
                <c:formatCode>General</c:formatCode>
                <c:ptCount val="15"/>
                <c:pt idx="0">
                  <c:v>16</c:v>
                </c:pt>
                <c:pt idx="1">
                  <c:v>43</c:v>
                </c:pt>
                <c:pt idx="2">
                  <c:v>18</c:v>
                </c:pt>
                <c:pt idx="3">
                  <c:v>37</c:v>
                </c:pt>
                <c:pt idx="4">
                  <c:v>24</c:v>
                </c:pt>
                <c:pt idx="5">
                  <c:v>37</c:v>
                </c:pt>
                <c:pt idx="6">
                  <c:v>30</c:v>
                </c:pt>
                <c:pt idx="7">
                  <c:v>15</c:v>
                </c:pt>
                <c:pt idx="8">
                  <c:v>10</c:v>
                </c:pt>
                <c:pt idx="9">
                  <c:v>14</c:v>
                </c:pt>
                <c:pt idx="10">
                  <c:v>98</c:v>
                </c:pt>
                <c:pt idx="11">
                  <c:v>17</c:v>
                </c:pt>
                <c:pt idx="12">
                  <c:v>40</c:v>
                </c:pt>
                <c:pt idx="13">
                  <c:v>40</c:v>
                </c:pt>
                <c:pt idx="14">
                  <c:v>19</c:v>
                </c:pt>
              </c:numCache>
            </c:numRef>
          </c:val>
          <c:smooth val="0"/>
        </c:ser>
        <c:ser>
          <c:idx val="8"/>
          <c:order val="8"/>
          <c:tx>
            <c:strRef>
              <c:f>Sheet1!$J$1</c:f>
              <c:strCache>
                <c:ptCount val="1"/>
                <c:pt idx="0">
                  <c:v>Cost-aware</c:v>
                </c:pt>
              </c:strCache>
            </c:strRef>
          </c:tx>
          <c:spPr>
            <a:solidFill>
              <a:srgbClr val="E9A15F"/>
            </a:solidFill>
            <a:ln w="25400" cap="flat">
              <a:solidFill>
                <a:srgbClr val="E9A15F"/>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6"/>
            <c:spPr>
              <a:solidFill>
                <a:srgbClr val="E9A15F"/>
              </a:solidFill>
              <a:ln w="9525" cap="flat">
                <a:solidFill>
                  <a:srgbClr val="E9A15F"/>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Sheet1!$J$2:$J$16</c:f>
              <c:numCache>
                <c:formatCode>General</c:formatCode>
                <c:ptCount val="15"/>
                <c:pt idx="0">
                  <c:v>13</c:v>
                </c:pt>
                <c:pt idx="1">
                  <c:v>28</c:v>
                </c:pt>
                <c:pt idx="2">
                  <c:v>15</c:v>
                </c:pt>
                <c:pt idx="3">
                  <c:v>20</c:v>
                </c:pt>
                <c:pt idx="4">
                  <c:v>16</c:v>
                </c:pt>
                <c:pt idx="5">
                  <c:v>59</c:v>
                </c:pt>
                <c:pt idx="6">
                  <c:v>16</c:v>
                </c:pt>
                <c:pt idx="7">
                  <c:v>12</c:v>
                </c:pt>
                <c:pt idx="8">
                  <c:v>10</c:v>
                </c:pt>
                <c:pt idx="9">
                  <c:v>61</c:v>
                </c:pt>
                <c:pt idx="10">
                  <c:v>44</c:v>
                </c:pt>
                <c:pt idx="11">
                  <c:v>13</c:v>
                </c:pt>
                <c:pt idx="12">
                  <c:v>23</c:v>
                </c:pt>
                <c:pt idx="13">
                  <c:v>23</c:v>
                </c:pt>
                <c:pt idx="14">
                  <c:v>14</c:v>
                </c:pt>
              </c:numCache>
            </c:numRef>
          </c:val>
          <c:smooth val="0"/>
        </c:ser>
        <c:ser>
          <c:idx val="9"/>
          <c:order val="9"/>
          <c:tx>
            <c:strRef>
              <c:f>Sheet1!$K$1</c:f>
              <c:strCache>
                <c:ptCount val="1"/>
                <c:pt idx="0">
                  <c:v>Stagnation-aware</c:v>
                </c:pt>
              </c:strCache>
            </c:strRef>
          </c:tx>
          <c:spPr>
            <a:solidFill>
              <a:srgbClr val="E07B30"/>
            </a:solidFill>
            <a:ln w="38100" cap="flat">
              <a:solidFill>
                <a:srgbClr val="E07B30"/>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6"/>
            <c:spPr>
              <a:solidFill>
                <a:srgbClr val="E07B30"/>
              </a:solidFill>
              <a:ln w="9525" cap="flat">
                <a:solidFill>
                  <a:srgbClr val="E07B30"/>
                </a:solidFill>
                <a:prstDash val="solid"/>
                <a:round/>
              </a:ln>
              <a:effectLst/>
            </c:spPr>
          </c:marker>
          <c:cat>
            <c:multiLvlStrRef>
              <c:f>Sheet1!$A$2:$A$16</c:f>
              <c:multiLvlStrCache>
                <c:ptCount val="15"/>
                <c:lvl>
                  <c:pt idx="0">
                    <c:v>P1</c:v>
                  </c:pt>
                  <c:pt idx="1">
                    <c:v>P2</c:v>
                  </c:pt>
                  <c:pt idx="2">
                    <c:v>P3</c:v>
                  </c:pt>
                  <c:pt idx="3">
                    <c:v>P4</c:v>
                  </c:pt>
                  <c:pt idx="4">
                    <c:v>P5</c:v>
                  </c:pt>
                  <c:pt idx="5">
                    <c:v>P6</c:v>
                  </c:pt>
                  <c:pt idx="6">
                    <c:v>P7</c:v>
                  </c:pt>
                  <c:pt idx="7">
                    <c:v>P8</c:v>
                  </c:pt>
                  <c:pt idx="8">
                    <c:v>P9</c:v>
                  </c:pt>
                  <c:pt idx="9">
                    <c:v>P10</c:v>
                  </c:pt>
                  <c:pt idx="10">
                    <c:v>P11</c:v>
                  </c:pt>
                  <c:pt idx="11">
                    <c:v>P12</c:v>
                  </c:pt>
                  <c:pt idx="12">
                    <c:v>P13</c:v>
                  </c:pt>
                  <c:pt idx="13">
                    <c:v>P14</c:v>
                  </c:pt>
                  <c:pt idx="14">
                    <c:v>P15</c:v>
                  </c:pt>
                </c:lvl>
              </c:multiLvlStrCache>
            </c:multiLvlStrRef>
          </c:cat>
          <c:val>
            <c:numRef>
              <c:f>Sheet1!$K$2:$K$16</c:f>
              <c:numCache>
                <c:formatCode>General</c:formatCode>
                <c:ptCount val="15"/>
                <c:pt idx="0">
                  <c:v>18</c:v>
                </c:pt>
                <c:pt idx="1">
                  <c:v>25</c:v>
                </c:pt>
                <c:pt idx="2">
                  <c:v>18</c:v>
                </c:pt>
                <c:pt idx="3">
                  <c:v>24</c:v>
                </c:pt>
                <c:pt idx="4">
                  <c:v>19</c:v>
                </c:pt>
                <c:pt idx="5">
                  <c:v>23</c:v>
                </c:pt>
                <c:pt idx="6">
                  <c:v>20</c:v>
                </c:pt>
                <c:pt idx="7">
                  <c:v>15</c:v>
                </c:pt>
                <c:pt idx="8">
                  <c:v>10</c:v>
                </c:pt>
                <c:pt idx="9">
                  <c:v>17</c:v>
                </c:pt>
                <c:pt idx="10">
                  <c:v>27</c:v>
                </c:pt>
                <c:pt idx="11">
                  <c:v>18</c:v>
                </c:pt>
                <c:pt idx="12">
                  <c:v>24</c:v>
                </c:pt>
                <c:pt idx="13">
                  <c:v>24</c:v>
                </c:pt>
                <c:pt idx="14">
                  <c:v>18</c:v>
                </c:pt>
              </c:numCache>
            </c:numRef>
          </c:val>
          <c:smooth val="0"/>
        </c:ser>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B6B6B"/>
                    </a:solidFill>
                    <a:latin typeface="Arial"/>
                  </a:defRPr>
                </a:pPr>
                <a:r>
                  <a:rPr sz="1200" b="0" i="0" u="none" strike="noStrike">
                    <a:solidFill>
                      <a:srgbClr val="6B6B6B"/>
                    </a:solidFill>
                    <a:latin typeface="Arial"/>
                  </a:rPr>
                  <a:t>Benchmark problem</a:t>
                </a:r>
              </a:p>
            </c:rich>
          </c:tx>
          <c:layout/>
          <c:overlay val="0"/>
        </c:title>
        <c:numFmt formatCode="General" sourceLinked="1"/>
        <c:majorTickMark val="out"/>
        <c:minorTickMark val="none"/>
        <c:tickLblPos val="low"/>
        <c:spPr>
          <a:ln w="12700" cap="flat">
            <a:solidFill>
              <a:srgbClr val="9AA39C"/>
            </a:solidFill>
            <a:prstDash val="solid"/>
            <a:round/>
          </a:ln>
        </c:spPr>
        <c:txPr>
          <a:bodyPr/>
          <a:lstStyle/>
          <a:p>
            <a:pPr>
              <a:defRPr sz="1200" b="0" i="0" u="none" strike="noStrike">
                <a:solidFill>
                  <a:srgbClr val="33333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6E6E6"/>
              </a:solidFill>
              <a:prstDash val="solid"/>
              <a:round/>
            </a:ln>
          </c:spPr>
        </c:majorGridlines>
        <c:title>
          <c:tx>
            <c:rich>
              <a:bodyPr/>
              <a:lstStyle/>
              <a:p>
                <a:pPr>
                  <a:defRPr sz="1200" b="0" i="0" u="none" strike="noStrike">
                    <a:solidFill>
                      <a:srgbClr val="6B6B6B"/>
                    </a:solidFill>
                    <a:latin typeface="Arial"/>
                  </a:defRPr>
                </a:pPr>
                <a:r>
                  <a:rPr sz="1200" b="0" i="0" u="none" strike="noStrike">
                    <a:solidFill>
                      <a:srgbClr val="6B6B6B"/>
                    </a:solidFill>
                    <a:latin typeface="Arial"/>
                  </a:rPr>
                  <a:t>Function evaluations</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Calibri"/>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333333"/>
              </a:solidFill>
              <a:latin typeface="Calibri"/>
              <a:cs typeface="Calibri"/>
            </a:defRPr>
          </a:pPr>
          <a:endParaRPr lang="en-US"/>
        </a:p>
      </c:txPr>
    </c:legend>
    <c:plotVisOnly val="1"/>
    <c:dispBlanksAs val="gap"/>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False position</c:v>
                </c:pt>
              </c:strCache>
            </c:strRef>
          </c:tx>
          <c:spPr>
            <a:solidFill>
              <a:srgbClr val="9AA39C"/>
            </a:solidFill>
            <a:ln w="28575" cap="flat">
              <a:solidFill>
                <a:srgbClr val="9AA39C"/>
              </a:solidFill>
              <a:prstDash val="solid"/>
              <a:round/>
            </a:ln>
            <a:effectLst/>
          </c:spPr>
          <c:marker>
            <c:symbol val="none"/>
            <c:size val="6"/>
            <c:spPr>
              <a:solidFill>
                <a:srgbClr val="9AA39C"/>
              </a:solidFill>
              <a:ln w="9525" cap="flat">
                <a:solidFill>
                  <a:srgbClr val="9AA39C"/>
                </a:solidFill>
                <a:prstDash val="solid"/>
                <a:round/>
              </a:ln>
              <a:effectLst/>
            </c:spPr>
          </c:marker>
          <c:xVal>
            <c:numRef>
              <c:f>Sheet1!$A$2:$A$140</c:f>
              <c:numCache>
                <c:formatCode>General</c:formatCode>
                <c:ptCount val="139"/>
                <c:pt idx="0">
                  <c:v>3</c:v>
                </c:pt>
                <c:pt idx="1">
                  <c:v>4</c:v>
                </c:pt>
                <c:pt idx="2">
                  <c:v>5</c:v>
                </c:pt>
                <c:pt idx="3">
                  <c:v>6</c:v>
                </c:pt>
                <c:pt idx="4">
                  <c:v>7</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23</c:v>
                </c:pt>
                <c:pt idx="21">
                  <c:v>24</c:v>
                </c:pt>
                <c:pt idx="22">
                  <c:v>25</c:v>
                </c:pt>
                <c:pt idx="23">
                  <c:v>26</c:v>
                </c:pt>
                <c:pt idx="24">
                  <c:v>27</c:v>
                </c:pt>
                <c:pt idx="25">
                  <c:v>28</c:v>
                </c:pt>
                <c:pt idx="26">
                  <c:v>29</c:v>
                </c:pt>
                <c:pt idx="27">
                  <c:v>30</c:v>
                </c:pt>
                <c:pt idx="28">
                  <c:v>31</c:v>
                </c:pt>
                <c:pt idx="29">
                  <c:v>32</c:v>
                </c:pt>
                <c:pt idx="30">
                  <c:v>33</c:v>
                </c:pt>
                <c:pt idx="31">
                  <c:v>34</c:v>
                </c:pt>
                <c:pt idx="32">
                  <c:v>35</c:v>
                </c:pt>
                <c:pt idx="33">
                  <c:v>36</c:v>
                </c:pt>
                <c:pt idx="34">
                  <c:v>37</c:v>
                </c:pt>
                <c:pt idx="35">
                  <c:v>38</c:v>
                </c:pt>
                <c:pt idx="36">
                  <c:v>39</c:v>
                </c:pt>
                <c:pt idx="37">
                  <c:v>40</c:v>
                </c:pt>
                <c:pt idx="38">
                  <c:v>41</c:v>
                </c:pt>
                <c:pt idx="39">
                  <c:v>42</c:v>
                </c:pt>
                <c:pt idx="40">
                  <c:v>43</c:v>
                </c:pt>
                <c:pt idx="41">
                  <c:v>44</c:v>
                </c:pt>
                <c:pt idx="42">
                  <c:v>45</c:v>
                </c:pt>
                <c:pt idx="43">
                  <c:v>46</c:v>
                </c:pt>
                <c:pt idx="44">
                  <c:v>47</c:v>
                </c:pt>
                <c:pt idx="45">
                  <c:v>48</c:v>
                </c:pt>
                <c:pt idx="46">
                  <c:v>49</c:v>
                </c:pt>
                <c:pt idx="47">
                  <c:v>50</c:v>
                </c:pt>
                <c:pt idx="48">
                  <c:v>51</c:v>
                </c:pt>
                <c:pt idx="49">
                  <c:v>52</c:v>
                </c:pt>
                <c:pt idx="50">
                  <c:v>53</c:v>
                </c:pt>
                <c:pt idx="51">
                  <c:v>54</c:v>
                </c:pt>
                <c:pt idx="52">
                  <c:v>55</c:v>
                </c:pt>
                <c:pt idx="53">
                  <c:v>56</c:v>
                </c:pt>
                <c:pt idx="54">
                  <c:v>57</c:v>
                </c:pt>
                <c:pt idx="55">
                  <c:v>58</c:v>
                </c:pt>
                <c:pt idx="56">
                  <c:v>59</c:v>
                </c:pt>
                <c:pt idx="57">
                  <c:v>60</c:v>
                </c:pt>
                <c:pt idx="58">
                  <c:v>61</c:v>
                </c:pt>
                <c:pt idx="59">
                  <c:v>62</c:v>
                </c:pt>
                <c:pt idx="60">
                  <c:v>63</c:v>
                </c:pt>
                <c:pt idx="61">
                  <c:v>64</c:v>
                </c:pt>
                <c:pt idx="62">
                  <c:v>65</c:v>
                </c:pt>
                <c:pt idx="63">
                  <c:v>66</c:v>
                </c:pt>
                <c:pt idx="64">
                  <c:v>67</c:v>
                </c:pt>
                <c:pt idx="65">
                  <c:v>68</c:v>
                </c:pt>
                <c:pt idx="66">
                  <c:v>69</c:v>
                </c:pt>
                <c:pt idx="67">
                  <c:v>70</c:v>
                </c:pt>
                <c:pt idx="68">
                  <c:v>71</c:v>
                </c:pt>
                <c:pt idx="69">
                  <c:v>72</c:v>
                </c:pt>
                <c:pt idx="70">
                  <c:v>73</c:v>
                </c:pt>
                <c:pt idx="71">
                  <c:v>74</c:v>
                </c:pt>
                <c:pt idx="72">
                  <c:v>75</c:v>
                </c:pt>
                <c:pt idx="73">
                  <c:v>76</c:v>
                </c:pt>
                <c:pt idx="74">
                  <c:v>77</c:v>
                </c:pt>
                <c:pt idx="75">
                  <c:v>78</c:v>
                </c:pt>
                <c:pt idx="76">
                  <c:v>79</c:v>
                </c:pt>
                <c:pt idx="77">
                  <c:v>80</c:v>
                </c:pt>
                <c:pt idx="78">
                  <c:v>81</c:v>
                </c:pt>
                <c:pt idx="79">
                  <c:v>82</c:v>
                </c:pt>
                <c:pt idx="80">
                  <c:v>83</c:v>
                </c:pt>
                <c:pt idx="81">
                  <c:v>84</c:v>
                </c:pt>
                <c:pt idx="82">
                  <c:v>85</c:v>
                </c:pt>
                <c:pt idx="83">
                  <c:v>86</c:v>
                </c:pt>
                <c:pt idx="84">
                  <c:v>87</c:v>
                </c:pt>
                <c:pt idx="85">
                  <c:v>88</c:v>
                </c:pt>
                <c:pt idx="86">
                  <c:v>89</c:v>
                </c:pt>
                <c:pt idx="87">
                  <c:v>90</c:v>
                </c:pt>
                <c:pt idx="88">
                  <c:v>91</c:v>
                </c:pt>
                <c:pt idx="89">
                  <c:v>92</c:v>
                </c:pt>
                <c:pt idx="90">
                  <c:v>93</c:v>
                </c:pt>
                <c:pt idx="91">
                  <c:v>94</c:v>
                </c:pt>
                <c:pt idx="92">
                  <c:v>95</c:v>
                </c:pt>
                <c:pt idx="93">
                  <c:v>96</c:v>
                </c:pt>
                <c:pt idx="94">
                  <c:v>97</c:v>
                </c:pt>
                <c:pt idx="95">
                  <c:v>98</c:v>
                </c:pt>
                <c:pt idx="96">
                  <c:v>99</c:v>
                </c:pt>
                <c:pt idx="97">
                  <c:v>100</c:v>
                </c:pt>
                <c:pt idx="98">
                  <c:v>101</c:v>
                </c:pt>
                <c:pt idx="99">
                  <c:v>102</c:v>
                </c:pt>
                <c:pt idx="100">
                  <c:v>103</c:v>
                </c:pt>
                <c:pt idx="101">
                  <c:v>104</c:v>
                </c:pt>
                <c:pt idx="102">
                  <c:v>105</c:v>
                </c:pt>
                <c:pt idx="103">
                  <c:v>106</c:v>
                </c:pt>
                <c:pt idx="104">
                  <c:v>107</c:v>
                </c:pt>
                <c:pt idx="105">
                  <c:v>108</c:v>
                </c:pt>
                <c:pt idx="106">
                  <c:v>109</c:v>
                </c:pt>
                <c:pt idx="107">
                  <c:v>110</c:v>
                </c:pt>
                <c:pt idx="108">
                  <c:v>111</c:v>
                </c:pt>
                <c:pt idx="109">
                  <c:v>112</c:v>
                </c:pt>
                <c:pt idx="110">
                  <c:v>113</c:v>
                </c:pt>
                <c:pt idx="111">
                  <c:v>114</c:v>
                </c:pt>
                <c:pt idx="112">
                  <c:v>115</c:v>
                </c:pt>
                <c:pt idx="113">
                  <c:v>116</c:v>
                </c:pt>
                <c:pt idx="114">
                  <c:v>117</c:v>
                </c:pt>
                <c:pt idx="115">
                  <c:v>118</c:v>
                </c:pt>
                <c:pt idx="116">
                  <c:v>119</c:v>
                </c:pt>
                <c:pt idx="117">
                  <c:v>120</c:v>
                </c:pt>
                <c:pt idx="118">
                  <c:v>121</c:v>
                </c:pt>
                <c:pt idx="119">
                  <c:v>122</c:v>
                </c:pt>
                <c:pt idx="120">
                  <c:v>123</c:v>
                </c:pt>
                <c:pt idx="121">
                  <c:v>124</c:v>
                </c:pt>
                <c:pt idx="122">
                  <c:v>125</c:v>
                </c:pt>
                <c:pt idx="123">
                  <c:v>126</c:v>
                </c:pt>
                <c:pt idx="124">
                  <c:v>127</c:v>
                </c:pt>
                <c:pt idx="125">
                  <c:v>128</c:v>
                </c:pt>
                <c:pt idx="126">
                  <c:v>129</c:v>
                </c:pt>
                <c:pt idx="127">
                  <c:v>130</c:v>
                </c:pt>
                <c:pt idx="128">
                  <c:v>131</c:v>
                </c:pt>
                <c:pt idx="129">
                  <c:v>132</c:v>
                </c:pt>
                <c:pt idx="130">
                  <c:v>133</c:v>
                </c:pt>
                <c:pt idx="131">
                  <c:v>134</c:v>
                </c:pt>
                <c:pt idx="132">
                  <c:v>135</c:v>
                </c:pt>
                <c:pt idx="133">
                  <c:v>136</c:v>
                </c:pt>
                <c:pt idx="134">
                  <c:v>137</c:v>
                </c:pt>
                <c:pt idx="135">
                  <c:v>138</c:v>
                </c:pt>
                <c:pt idx="136">
                  <c:v>139</c:v>
                </c:pt>
                <c:pt idx="137">
                  <c:v>140</c:v>
                </c:pt>
                <c:pt idx="138">
                  <c:v>141</c:v>
                </c:pt>
              </c:numCache>
            </c:numRef>
          </c:xVal>
          <c:yVal>
            <c:numRef>
              <c:f>Sheet1!$B$2:$B$140</c:f>
              <c:numCache>
                <c:formatCode>General</c:formatCode>
                <c:ptCount val="139"/>
                <c:pt idx="0">
                  <c:v>0.999999999944397</c:v>
                </c:pt>
                <c:pt idx="1">
                  <c:v>0.9999999606489614</c:v>
                </c:pt>
                <c:pt idx="2">
                  <c:v>0.9999984242890871</c:v>
                </c:pt>
                <c:pt idx="3">
                  <c:v>0.9999804783168278</c:v>
                </c:pt>
                <c:pt idx="4">
                  <c:v>0.9998725611267628</c:v>
                </c:pt>
                <c:pt idx="5">
                  <c:v>0.9994443742553902</c:v>
                </c:pt>
                <c:pt idx="6">
                  <c:v>0.9981643946878376</c:v>
                </c:pt>
                <c:pt idx="7">
                  <c:v>0.9950473126645737</c:v>
                </c:pt>
                <c:pt idx="8">
                  <c:v>0.9885526729636763</c:v>
                </c:pt>
                <c:pt idx="9">
                  <c:v>0.9766004191471247</c:v>
                </c:pt>
                <c:pt idx="10">
                  <c:v>0.9567601928628637</c:v>
                </c:pt>
                <c:pt idx="11">
                  <c:v>0.9266391839731297</c:v>
                </c:pt>
                <c:pt idx="12">
                  <c:v>0.8844281611989574</c:v>
                </c:pt>
                <c:pt idx="13">
                  <c:v>0.8294755812174888</c:v>
                </c:pt>
                <c:pt idx="14">
                  <c:v>0.7626892065261137</c:v>
                </c:pt>
                <c:pt idx="15">
                  <c:v>0.6865769768806154</c:v>
                </c:pt>
                <c:pt idx="16">
                  <c:v>0.6048624190575769</c:v>
                </c:pt>
                <c:pt idx="17">
                  <c:v>0.5217907713760506</c:v>
                </c:pt>
                <c:pt idx="18">
                  <c:v>0.4413694527586435</c:v>
                </c:pt>
                <c:pt idx="19">
                  <c:v>0.36678348780213643</c:v>
                </c:pt>
                <c:pt idx="20">
                  <c:v>0.30011259685187863</c:v>
                </c:pt>
                <c:pt idx="21">
                  <c:v>0.2423384998655852</c:v>
                </c:pt>
                <c:pt idx="22">
                  <c:v>0.19354379619863749</c:v>
                </c:pt>
                <c:pt idx="23">
                  <c:v>0.15318685702739976</c:v>
                </c:pt>
                <c:pt idx="24">
                  <c:v>0.12036631163188338</c:v>
                </c:pt>
                <c:pt idx="25">
                  <c:v>0.09403052581830862</c:v>
                </c:pt>
                <c:pt idx="26">
                  <c:v>0.07312090020934237</c:v>
                </c:pt>
                <c:pt idx="27">
                  <c:v>0.05665676904413952</c:v>
                </c:pt>
                <c:pt idx="28">
                  <c:v>0.04377670750476059</c:v>
                </c:pt>
                <c:pt idx="29">
                  <c:v>0.033751066539275065</c:v>
                </c:pt>
                <c:pt idx="30">
                  <c:v>0.025977591945575362</c:v>
                </c:pt>
                <c:pt idx="31">
                  <c:v>0.019968448332891908</c:v>
                </c:pt>
                <c:pt idx="32">
                  <c:v>0.015333936372914136</c:v>
                </c:pt>
                <c:pt idx="33">
                  <c:v>0.01176596356876669</c:v>
                </c:pt>
                <c:pt idx="34">
                  <c:v>0.009022846040969257</c:v>
                </c:pt>
                <c:pt idx="35">
                  <c:v>0.006916106747527295</c:v>
                </c:pt>
                <c:pt idx="36">
                  <c:v>0.005299415909278626</c:v>
                </c:pt>
                <c:pt idx="37">
                  <c:v>0.004059550188526884</c:v>
                </c:pt>
                <c:pt idx="38">
                  <c:v>0.0031091280496271523</c:v>
                </c:pt>
                <c:pt idx="39">
                  <c:v>0.002380844046641406</c:v>
                </c:pt>
                <c:pt idx="40">
                  <c:v>0.001822933938669058</c:v>
                </c:pt>
                <c:pt idx="41">
                  <c:v>0.0013956316672085745</c:v>
                </c:pt>
                <c:pt idx="42">
                  <c:v>0.0010684150480534393</c:v>
                </c:pt>
                <c:pt idx="43">
                  <c:v>0.0008178726197951569</c:v>
                </c:pt>
                <c:pt idx="44">
                  <c:v>0.0006260562356555921</c:v>
                </c:pt>
                <c:pt idx="45">
                  <c:v>0.0004792115142581155</c:v>
                </c:pt>
                <c:pt idx="46">
                  <c:v>0.0003668010727694293</c:v>
                </c:pt>
                <c:pt idx="47">
                  <c:v>0.0002807539512025281</c:v>
                </c:pt>
                <c:pt idx="48">
                  <c:v>0.00021488939229896697</c:v>
                </c:pt>
                <c:pt idx="49">
                  <c:v>0.0001644747930740209</c:v>
                </c:pt>
                <c:pt idx="50">
                  <c:v>0.00012588677259350867</c:v>
                </c:pt>
                <c:pt idx="51">
                  <c:v>0.00009635141111519196</c:v>
                </c:pt>
                <c:pt idx="52">
                  <c:v>0.00007374523072178896</c:v>
                </c:pt>
                <c:pt idx="53">
                  <c:v>0.000056442751225294074</c:v>
                </c:pt>
                <c:pt idx="54">
                  <c:v>0.00004319974351185696</c:v>
                </c:pt>
                <c:pt idx="55">
                  <c:v>0.000033063833936974873</c:v>
                </c:pt>
                <c:pt idx="56">
                  <c:v>0.0000253060595675203</c:v>
                </c:pt>
                <c:pt idx="57">
                  <c:v>0.00001936846860217667</c:v>
                </c:pt>
                <c:pt idx="58">
                  <c:v>0.000014824007140368245</c:v>
                </c:pt>
                <c:pt idx="59">
                  <c:v>0.000011345812986118808</c:v>
                </c:pt>
                <c:pt idx="60">
                  <c:v>0.000008683711298473895</c:v>
                </c:pt>
                <c:pt idx="61">
                  <c:v>0.000006646223485784475</c:v>
                </c:pt>
                <c:pt idx="62">
                  <c:v>0.000005086796442954622</c:v>
                </c:pt>
                <c:pt idx="63">
                  <c:v>0.000003893262307319567</c:v>
                </c:pt>
                <c:pt idx="64">
                  <c:v>0.0000029797709756307356</c:v>
                </c:pt>
                <c:pt idx="65">
                  <c:v>0.0000022806153363585935</c:v>
                </c:pt>
                <c:pt idx="66">
                  <c:v>0.0000017455051938286559</c:v>
                </c:pt>
                <c:pt idx="67">
                  <c:v>0.0000013359500223852905</c:v>
                </c:pt>
                <c:pt idx="68">
                  <c:v>0.0000010224904214428676</c:v>
                </c:pt>
                <c:pt idx="69">
                  <c:v>7.825791301652174e-7</c:v>
                </c:pt>
                <c:pt idx="70">
                  <c:v>5.989592262167776e-7</c:v>
                </c:pt>
                <c:pt idx="71">
                  <c:v>4.584228350257291e-7</c:v>
                </c:pt>
                <c:pt idx="72">
                  <c:v>3.5086109695381396e-7</c:v>
                </c:pt>
                <c:pt idx="73">
                  <c:v>2.6853703016804786e-7</c:v>
                </c:pt>
                <c:pt idx="74">
                  <c:v>2.0552901480730412e-7</c:v>
                </c:pt>
                <c:pt idx="75">
                  <c:v>1.573048435954405e-7</c:v>
                </c:pt>
                <c:pt idx="76">
                  <c:v>1.203957190609728e-7</c:v>
                </c:pt>
                <c:pt idx="77">
                  <c:v>9.21467442349666e-8</c:v>
                </c:pt>
                <c:pt idx="78">
                  <c:v>7.05259495248356e-8</c:v>
                </c:pt>
                <c:pt idx="79">
                  <c:v>5.397813729324241e-8</c:v>
                </c:pt>
                <c:pt idx="80">
                  <c:v>4.1313010012977713e-8</c:v>
                </c:pt>
                <c:pt idx="81">
                  <c:v>3.1619556528639237e-8</c:v>
                </c:pt>
                <c:pt idx="82">
                  <c:v>2.4200520254424873e-8</c:v>
                </c:pt>
                <c:pt idx="83">
                  <c:v>1.852224584819595e-8</c:v>
                </c:pt>
                <c:pt idx="84">
                  <c:v>1.4176290030754046e-8</c:v>
                </c:pt>
                <c:pt idx="85">
                  <c:v>1.085004530665401e-8</c:v>
                </c:pt>
                <c:pt idx="86">
                  <c:v>8.304251730706369e-9</c:v>
                </c:pt>
                <c:pt idx="87">
                  <c:v>6.355788118028727e-9</c:v>
                </c:pt>
                <c:pt idx="88">
                  <c:v>4.8645010242154285e-9</c:v>
                </c:pt>
                <c:pt idx="89">
                  <c:v>3.723121810850216e-9</c:v>
                </c:pt>
                <c:pt idx="90">
                  <c:v>2.8495494852620595e-9</c:v>
                </c:pt>
                <c:pt idx="91">
                  <c:v>2.1809465344801993e-9</c:v>
                </c:pt>
                <c:pt idx="92">
                  <c:v>1.6692214277469475e-9</c:v>
                </c:pt>
                <c:pt idx="93">
                  <c:v>1.2775647206808571e-9</c:v>
                </c:pt>
                <c:pt idx="94">
                  <c:v>9.778033938090402e-10</c:v>
                </c:pt>
                <c:pt idx="95">
                  <c:v>7.483769159932763e-10</c:v>
                </c:pt>
                <c:pt idx="96">
                  <c:v>5.727818219725123e-10</c:v>
                </c:pt>
                <c:pt idx="97">
                  <c:v>4.383871043955878e-10</c:v>
                </c:pt>
                <c:pt idx="98">
                  <c:v>3.355260513870917e-10</c:v>
                </c:pt>
                <c:pt idx="99">
                  <c:v>2.5680013671092183e-10</c:v>
                </c:pt>
                <c:pt idx="100">
                  <c:v>1.9654611271846534e-10</c:v>
                </c:pt>
                <c:pt idx="101">
                  <c:v>1.5042966872158559e-10</c:v>
                </c:pt>
                <c:pt idx="102">
                  <c:v>1.1513456854572723e-10</c:v>
                </c:pt>
                <c:pt idx="103">
                  <c:v>8.81195116875233e-11</c:v>
                </c:pt>
                <c:pt idx="104">
                  <c:v>6.744382829992901e-11</c:v>
                </c:pt>
                <c:pt idx="105">
                  <c:v>5.1619819529946653e-11</c:v>
                </c:pt>
                <c:pt idx="106">
                  <c:v>3.9507286331286195e-11</c:v>
                </c:pt>
                <c:pt idx="107">
                  <c:v>3.0238034298690764e-11</c:v>
                </c:pt>
                <c:pt idx="108">
                  <c:v>2.3143709171336013e-11</c:v>
                </c:pt>
                <c:pt idx="109">
                  <c:v>1.7713608357894373e-11</c:v>
                </c:pt>
                <c:pt idx="110">
                  <c:v>1.3558043576722412e-11</c:v>
                </c:pt>
                <c:pt idx="111">
                  <c:v>1.0376144388146713e-11</c:v>
                </c:pt>
                <c:pt idx="112">
                  <c:v>7.941425295143745e-12</c:v>
                </c:pt>
                <c:pt idx="113">
                  <c:v>6.077360836798107e-12</c:v>
                </c:pt>
                <c:pt idx="114">
                  <c:v>4.650724250154781e-12</c:v>
                </c:pt>
                <c:pt idx="115">
                  <c:v>3.559375016948252e-12</c:v>
                </c:pt>
                <c:pt idx="116">
                  <c:v>2.723377079405509e-12</c:v>
                </c:pt>
                <c:pt idx="117">
                  <c:v>2.084998840246044e-12</c:v>
                </c:pt>
                <c:pt idx="118">
                  <c:v>1.5965007094109751e-12</c:v>
                </c:pt>
                <c:pt idx="119">
                  <c:v>1.2223555501122974e-12</c:v>
                </c:pt>
                <c:pt idx="120">
                  <c:v>9.35918009759007e-13</c:v>
                </c:pt>
                <c:pt idx="121">
                  <c:v>7.16093850883226e-13</c:v>
                </c:pt>
                <c:pt idx="122">
                  <c:v>5.473399511402022e-13</c:v>
                </c:pt>
                <c:pt idx="123">
                  <c:v>4.1966430330830917e-13</c:v>
                </c:pt>
                <c:pt idx="124">
                  <c:v>3.219646771412954e-13</c:v>
                </c:pt>
                <c:pt idx="125">
                  <c:v>2.4646951146678475e-13</c:v>
                </c:pt>
                <c:pt idx="126">
                  <c:v>1.887379141862766e-13</c:v>
                </c:pt>
                <c:pt idx="127">
                  <c:v>1.4432899320127035e-13</c:v>
                </c:pt>
                <c:pt idx="128">
                  <c:v>1.1102230246251565e-13</c:v>
                </c:pt>
                <c:pt idx="129">
                  <c:v>8.43769498715119e-14</c:v>
                </c:pt>
                <c:pt idx="130">
                  <c:v>6.439293542825908e-14</c:v>
                </c:pt>
                <c:pt idx="131">
                  <c:v>4.884981308350689e-14</c:v>
                </c:pt>
                <c:pt idx="132">
                  <c:v>3.6637359812630166e-14</c:v>
                </c:pt>
                <c:pt idx="133">
                  <c:v>2.7755575615628914e-14</c:v>
                </c:pt>
                <c:pt idx="134">
                  <c:v>2.220446049250313e-14</c:v>
                </c:pt>
                <c:pt idx="135">
                  <c:v>1.7763568394002505e-14</c:v>
                </c:pt>
                <c:pt idx="136">
                  <c:v>1.4432899320127035e-14</c:v>
                </c:pt>
                <c:pt idx="137">
                  <c:v>1.1102230246251565e-14</c:v>
                </c:pt>
                <c:pt idx="138">
                  <c:v>8.881784197001252e-15</c:v>
                </c:pt>
              </c:numCache>
            </c:numRef>
          </c:yVal>
          <c:smooth val="0"/>
        </c:ser>
        <c:ser>
          <c:idx val="1"/>
          <c:order val="1"/>
          <c:tx>
            <c:strRef>
              <c:f>Sheet1!$C$1</c:f>
              <c:strCache>
                <c:ptCount val="1"/>
                <c:pt idx="0">
                  <c:v>Static TF</c:v>
                </c:pt>
              </c:strCache>
            </c:strRef>
          </c:tx>
          <c:spPr>
            <a:solidFill>
              <a:srgbClr val="1E4D2B"/>
            </a:solidFill>
            <a:ln w="28575" cap="flat">
              <a:solidFill>
                <a:srgbClr val="1E4D2B"/>
              </a:solidFill>
              <a:prstDash val="solid"/>
              <a:round/>
            </a:ln>
            <a:effectLst/>
          </c:spPr>
          <c:marker>
            <c:symbol val="none"/>
            <c:size val="6"/>
            <c:spPr>
              <a:solidFill>
                <a:srgbClr val="1E4D2B"/>
              </a:solidFill>
              <a:ln w="9525" cap="flat">
                <a:solidFill>
                  <a:srgbClr val="1E4D2B"/>
                </a:solidFill>
                <a:prstDash val="solid"/>
                <a:round/>
              </a:ln>
              <a:effectLst/>
            </c:spPr>
          </c:marker>
          <c:xVal>
            <c:numRef>
              <c:f>Sheet1!$A$2:$A$140</c:f>
              <c:numCache>
                <c:formatCode>General</c:formatCode>
                <c:ptCount val="139"/>
                <c:pt idx="0">
                  <c:v>3</c:v>
                </c:pt>
                <c:pt idx="1">
                  <c:v>4</c:v>
                </c:pt>
                <c:pt idx="2">
                  <c:v>5</c:v>
                </c:pt>
                <c:pt idx="3">
                  <c:v>6</c:v>
                </c:pt>
                <c:pt idx="4">
                  <c:v>7</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23</c:v>
                </c:pt>
                <c:pt idx="21">
                  <c:v>24</c:v>
                </c:pt>
                <c:pt idx="22">
                  <c:v>25</c:v>
                </c:pt>
                <c:pt idx="23">
                  <c:v>26</c:v>
                </c:pt>
                <c:pt idx="24">
                  <c:v>27</c:v>
                </c:pt>
                <c:pt idx="25">
                  <c:v>28</c:v>
                </c:pt>
                <c:pt idx="26">
                  <c:v>29</c:v>
                </c:pt>
                <c:pt idx="27">
                  <c:v>30</c:v>
                </c:pt>
                <c:pt idx="28">
                  <c:v>31</c:v>
                </c:pt>
                <c:pt idx="29">
                  <c:v>32</c:v>
                </c:pt>
                <c:pt idx="30">
                  <c:v>33</c:v>
                </c:pt>
                <c:pt idx="31">
                  <c:v>34</c:v>
                </c:pt>
                <c:pt idx="32">
                  <c:v>35</c:v>
                </c:pt>
                <c:pt idx="33">
                  <c:v>36</c:v>
                </c:pt>
                <c:pt idx="34">
                  <c:v>37</c:v>
                </c:pt>
                <c:pt idx="35">
                  <c:v>38</c:v>
                </c:pt>
                <c:pt idx="36">
                  <c:v>39</c:v>
                </c:pt>
                <c:pt idx="37">
                  <c:v>40</c:v>
                </c:pt>
                <c:pt idx="38">
                  <c:v>41</c:v>
                </c:pt>
                <c:pt idx="39">
                  <c:v>42</c:v>
                </c:pt>
                <c:pt idx="40">
                  <c:v>43</c:v>
                </c:pt>
                <c:pt idx="41">
                  <c:v>44</c:v>
                </c:pt>
                <c:pt idx="42">
                  <c:v>45</c:v>
                </c:pt>
                <c:pt idx="43">
                  <c:v>46</c:v>
                </c:pt>
                <c:pt idx="44">
                  <c:v>47</c:v>
                </c:pt>
                <c:pt idx="45">
                  <c:v>48</c:v>
                </c:pt>
                <c:pt idx="46">
                  <c:v>49</c:v>
                </c:pt>
                <c:pt idx="47">
                  <c:v>50</c:v>
                </c:pt>
                <c:pt idx="48">
                  <c:v>51</c:v>
                </c:pt>
                <c:pt idx="49">
                  <c:v>52</c:v>
                </c:pt>
                <c:pt idx="50">
                  <c:v>53</c:v>
                </c:pt>
                <c:pt idx="51">
                  <c:v>54</c:v>
                </c:pt>
                <c:pt idx="52">
                  <c:v>55</c:v>
                </c:pt>
                <c:pt idx="53">
                  <c:v>56</c:v>
                </c:pt>
                <c:pt idx="54">
                  <c:v>57</c:v>
                </c:pt>
                <c:pt idx="55">
                  <c:v>58</c:v>
                </c:pt>
                <c:pt idx="56">
                  <c:v>59</c:v>
                </c:pt>
                <c:pt idx="57">
                  <c:v>60</c:v>
                </c:pt>
                <c:pt idx="58">
                  <c:v>61</c:v>
                </c:pt>
                <c:pt idx="59">
                  <c:v>62</c:v>
                </c:pt>
                <c:pt idx="60">
                  <c:v>63</c:v>
                </c:pt>
                <c:pt idx="61">
                  <c:v>64</c:v>
                </c:pt>
                <c:pt idx="62">
                  <c:v>65</c:v>
                </c:pt>
                <c:pt idx="63">
                  <c:v>66</c:v>
                </c:pt>
                <c:pt idx="64">
                  <c:v>67</c:v>
                </c:pt>
                <c:pt idx="65">
                  <c:v>68</c:v>
                </c:pt>
                <c:pt idx="66">
                  <c:v>69</c:v>
                </c:pt>
                <c:pt idx="67">
                  <c:v>70</c:v>
                </c:pt>
                <c:pt idx="68">
                  <c:v>71</c:v>
                </c:pt>
                <c:pt idx="69">
                  <c:v>72</c:v>
                </c:pt>
                <c:pt idx="70">
                  <c:v>73</c:v>
                </c:pt>
                <c:pt idx="71">
                  <c:v>74</c:v>
                </c:pt>
                <c:pt idx="72">
                  <c:v>75</c:v>
                </c:pt>
                <c:pt idx="73">
                  <c:v>76</c:v>
                </c:pt>
                <c:pt idx="74">
                  <c:v>77</c:v>
                </c:pt>
                <c:pt idx="75">
                  <c:v>78</c:v>
                </c:pt>
                <c:pt idx="76">
                  <c:v>79</c:v>
                </c:pt>
                <c:pt idx="77">
                  <c:v>80</c:v>
                </c:pt>
                <c:pt idx="78">
                  <c:v>81</c:v>
                </c:pt>
                <c:pt idx="79">
                  <c:v>82</c:v>
                </c:pt>
                <c:pt idx="80">
                  <c:v>83</c:v>
                </c:pt>
                <c:pt idx="81">
                  <c:v>84</c:v>
                </c:pt>
                <c:pt idx="82">
                  <c:v>85</c:v>
                </c:pt>
                <c:pt idx="83">
                  <c:v>86</c:v>
                </c:pt>
                <c:pt idx="84">
                  <c:v>87</c:v>
                </c:pt>
                <c:pt idx="85">
                  <c:v>88</c:v>
                </c:pt>
                <c:pt idx="86">
                  <c:v>89</c:v>
                </c:pt>
                <c:pt idx="87">
                  <c:v>90</c:v>
                </c:pt>
                <c:pt idx="88">
                  <c:v>91</c:v>
                </c:pt>
                <c:pt idx="89">
                  <c:v>92</c:v>
                </c:pt>
                <c:pt idx="90">
                  <c:v>93</c:v>
                </c:pt>
                <c:pt idx="91">
                  <c:v>94</c:v>
                </c:pt>
                <c:pt idx="92">
                  <c:v>95</c:v>
                </c:pt>
                <c:pt idx="93">
                  <c:v>96</c:v>
                </c:pt>
                <c:pt idx="94">
                  <c:v>97</c:v>
                </c:pt>
                <c:pt idx="95">
                  <c:v>98</c:v>
                </c:pt>
                <c:pt idx="96">
                  <c:v>99</c:v>
                </c:pt>
                <c:pt idx="97">
                  <c:v>100</c:v>
                </c:pt>
                <c:pt idx="98">
                  <c:v>101</c:v>
                </c:pt>
                <c:pt idx="99">
                  <c:v>102</c:v>
                </c:pt>
                <c:pt idx="100">
                  <c:v>103</c:v>
                </c:pt>
                <c:pt idx="101">
                  <c:v>104</c:v>
                </c:pt>
                <c:pt idx="102">
                  <c:v>105</c:v>
                </c:pt>
                <c:pt idx="103">
                  <c:v>106</c:v>
                </c:pt>
                <c:pt idx="104">
                  <c:v>107</c:v>
                </c:pt>
                <c:pt idx="105">
                  <c:v>108</c:v>
                </c:pt>
                <c:pt idx="106">
                  <c:v>109</c:v>
                </c:pt>
                <c:pt idx="107">
                  <c:v>110</c:v>
                </c:pt>
                <c:pt idx="108">
                  <c:v>111</c:v>
                </c:pt>
                <c:pt idx="109">
                  <c:v>112</c:v>
                </c:pt>
                <c:pt idx="110">
                  <c:v>113</c:v>
                </c:pt>
                <c:pt idx="111">
                  <c:v>114</c:v>
                </c:pt>
                <c:pt idx="112">
                  <c:v>115</c:v>
                </c:pt>
                <c:pt idx="113">
                  <c:v>116</c:v>
                </c:pt>
                <c:pt idx="114">
                  <c:v>117</c:v>
                </c:pt>
                <c:pt idx="115">
                  <c:v>118</c:v>
                </c:pt>
                <c:pt idx="116">
                  <c:v>119</c:v>
                </c:pt>
                <c:pt idx="117">
                  <c:v>120</c:v>
                </c:pt>
                <c:pt idx="118">
                  <c:v>121</c:v>
                </c:pt>
                <c:pt idx="119">
                  <c:v>122</c:v>
                </c:pt>
                <c:pt idx="120">
                  <c:v>123</c:v>
                </c:pt>
                <c:pt idx="121">
                  <c:v>124</c:v>
                </c:pt>
                <c:pt idx="122">
                  <c:v>125</c:v>
                </c:pt>
                <c:pt idx="123">
                  <c:v>126</c:v>
                </c:pt>
                <c:pt idx="124">
                  <c:v>127</c:v>
                </c:pt>
                <c:pt idx="125">
                  <c:v>128</c:v>
                </c:pt>
                <c:pt idx="126">
                  <c:v>129</c:v>
                </c:pt>
                <c:pt idx="127">
                  <c:v>130</c:v>
                </c:pt>
                <c:pt idx="128">
                  <c:v>131</c:v>
                </c:pt>
                <c:pt idx="129">
                  <c:v>132</c:v>
                </c:pt>
                <c:pt idx="130">
                  <c:v>133</c:v>
                </c:pt>
                <c:pt idx="131">
                  <c:v>134</c:v>
                </c:pt>
                <c:pt idx="132">
                  <c:v>135</c:v>
                </c:pt>
                <c:pt idx="133">
                  <c:v>136</c:v>
                </c:pt>
                <c:pt idx="134">
                  <c:v>137</c:v>
                </c:pt>
                <c:pt idx="135">
                  <c:v>138</c:v>
                </c:pt>
                <c:pt idx="136">
                  <c:v>139</c:v>
                </c:pt>
                <c:pt idx="137">
                  <c:v>140</c:v>
                </c:pt>
                <c:pt idx="138">
                  <c:v>141</c:v>
                </c:pt>
              </c:numCache>
            </c:numRef>
          </c:xVal>
          <c:yVal>
            <c:numRef>
              <c:f>Sheet1!$C$2:$C$140</c:f>
              <c:numCache>
                <c:formatCode>General</c:formatCode>
                <c:ptCount val="139"/>
                <c:pt idx="0">
                  <c:v/>
                </c:pt>
                <c:pt idx="1">
                  <c:v/>
                </c:pt>
                <c:pt idx="2">
                  <c:v>0.7609322839449</c:v>
                </c:pt>
                <c:pt idx="3">
                  <c:v/>
                </c:pt>
                <c:pt idx="4">
                  <c:v/>
                </c:pt>
                <c:pt idx="5">
                  <c:v>0.11683451952585266</c:v>
                </c:pt>
                <c:pt idx="6">
                  <c:v/>
                </c:pt>
                <c:pt idx="7">
                  <c:v/>
                </c:pt>
                <c:pt idx="8">
                  <c:v>0.06216008942079043</c:v>
                </c:pt>
                <c:pt idx="9">
                  <c:v/>
                </c:pt>
                <c:pt idx="10">
                  <c:v/>
                </c:pt>
                <c:pt idx="11">
                  <c:v>0.0031647927695368505</c:v>
                </c:pt>
                <c:pt idx="12">
                  <c:v/>
                </c:pt>
                <c:pt idx="13">
                  <c:v/>
                </c:pt>
                <c:pt idx="14">
                  <c:v>0.00007454673378815002</c:v>
                </c:pt>
                <c:pt idx="15">
                  <c:v/>
                </c:pt>
                <c:pt idx="16">
                  <c:v/>
                </c:pt>
                <c:pt idx="17">
                  <c:v>5.175323085637729e-7</c:v>
                </c:pt>
                <c:pt idx="18">
                  <c:v/>
                </c:pt>
                <c:pt idx="19">
                  <c:v/>
                </c:pt>
                <c:pt idx="20">
                  <c:v>1.1882972383858714e-9</c:v>
                </c:pt>
                <c:pt idx="21">
                  <c:v/>
                </c:pt>
                <c:pt idx="22">
                  <c:v/>
                </c:pt>
                <c:pt idx="23">
                  <c:v>9.092726571680032e-13</c:v>
                </c:pt>
                <c:pt idx="24">
                  <c:v/>
                </c:pt>
                <c:pt idx="25">
                  <c:v/>
                </c:pt>
                <c:pt idx="26">
                  <c:v>1e-18</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numCache>
            </c:numRef>
          </c:yVal>
          <c:smooth val="0"/>
        </c:ser>
        <c:ser>
          <c:idx val="2"/>
          <c:order val="2"/>
          <c:tx>
            <c:strRef>
              <c:f>Sheet1!$D$1</c:f>
              <c:strCache>
                <c:ptCount val="1"/>
                <c:pt idx="0">
                  <c:v>Adaptive threshold</c:v>
                </c:pt>
              </c:strCache>
            </c:strRef>
          </c:tx>
          <c:spPr>
            <a:solidFill>
              <a:srgbClr val="7FAF78"/>
            </a:solidFill>
            <a:ln w="28575" cap="flat">
              <a:solidFill>
                <a:srgbClr val="7FAF78"/>
              </a:solidFill>
              <a:prstDash val="solid"/>
              <a:round/>
            </a:ln>
            <a:effectLst/>
          </c:spPr>
          <c:marker>
            <c:symbol val="none"/>
            <c:size val="6"/>
            <c:spPr>
              <a:solidFill>
                <a:srgbClr val="7FAF78"/>
              </a:solidFill>
              <a:ln w="9525" cap="flat">
                <a:solidFill>
                  <a:srgbClr val="7FAF78"/>
                </a:solidFill>
                <a:prstDash val="solid"/>
                <a:round/>
              </a:ln>
              <a:effectLst/>
            </c:spPr>
          </c:marker>
          <c:xVal>
            <c:numRef>
              <c:f>Sheet1!$A$2:$A$140</c:f>
              <c:numCache>
                <c:formatCode>General</c:formatCode>
                <c:ptCount val="139"/>
                <c:pt idx="0">
                  <c:v>3</c:v>
                </c:pt>
                <c:pt idx="1">
                  <c:v>4</c:v>
                </c:pt>
                <c:pt idx="2">
                  <c:v>5</c:v>
                </c:pt>
                <c:pt idx="3">
                  <c:v>6</c:v>
                </c:pt>
                <c:pt idx="4">
                  <c:v>7</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23</c:v>
                </c:pt>
                <c:pt idx="21">
                  <c:v>24</c:v>
                </c:pt>
                <c:pt idx="22">
                  <c:v>25</c:v>
                </c:pt>
                <c:pt idx="23">
                  <c:v>26</c:v>
                </c:pt>
                <c:pt idx="24">
                  <c:v>27</c:v>
                </c:pt>
                <c:pt idx="25">
                  <c:v>28</c:v>
                </c:pt>
                <c:pt idx="26">
                  <c:v>29</c:v>
                </c:pt>
                <c:pt idx="27">
                  <c:v>30</c:v>
                </c:pt>
                <c:pt idx="28">
                  <c:v>31</c:v>
                </c:pt>
                <c:pt idx="29">
                  <c:v>32</c:v>
                </c:pt>
                <c:pt idx="30">
                  <c:v>33</c:v>
                </c:pt>
                <c:pt idx="31">
                  <c:v>34</c:v>
                </c:pt>
                <c:pt idx="32">
                  <c:v>35</c:v>
                </c:pt>
                <c:pt idx="33">
                  <c:v>36</c:v>
                </c:pt>
                <c:pt idx="34">
                  <c:v>37</c:v>
                </c:pt>
                <c:pt idx="35">
                  <c:v>38</c:v>
                </c:pt>
                <c:pt idx="36">
                  <c:v>39</c:v>
                </c:pt>
                <c:pt idx="37">
                  <c:v>40</c:v>
                </c:pt>
                <c:pt idx="38">
                  <c:v>41</c:v>
                </c:pt>
                <c:pt idx="39">
                  <c:v>42</c:v>
                </c:pt>
                <c:pt idx="40">
                  <c:v>43</c:v>
                </c:pt>
                <c:pt idx="41">
                  <c:v>44</c:v>
                </c:pt>
                <c:pt idx="42">
                  <c:v>45</c:v>
                </c:pt>
                <c:pt idx="43">
                  <c:v>46</c:v>
                </c:pt>
                <c:pt idx="44">
                  <c:v>47</c:v>
                </c:pt>
                <c:pt idx="45">
                  <c:v>48</c:v>
                </c:pt>
                <c:pt idx="46">
                  <c:v>49</c:v>
                </c:pt>
                <c:pt idx="47">
                  <c:v>50</c:v>
                </c:pt>
                <c:pt idx="48">
                  <c:v>51</c:v>
                </c:pt>
                <c:pt idx="49">
                  <c:v>52</c:v>
                </c:pt>
                <c:pt idx="50">
                  <c:v>53</c:v>
                </c:pt>
                <c:pt idx="51">
                  <c:v>54</c:v>
                </c:pt>
                <c:pt idx="52">
                  <c:v>55</c:v>
                </c:pt>
                <c:pt idx="53">
                  <c:v>56</c:v>
                </c:pt>
                <c:pt idx="54">
                  <c:v>57</c:v>
                </c:pt>
                <c:pt idx="55">
                  <c:v>58</c:v>
                </c:pt>
                <c:pt idx="56">
                  <c:v>59</c:v>
                </c:pt>
                <c:pt idx="57">
                  <c:v>60</c:v>
                </c:pt>
                <c:pt idx="58">
                  <c:v>61</c:v>
                </c:pt>
                <c:pt idx="59">
                  <c:v>62</c:v>
                </c:pt>
                <c:pt idx="60">
                  <c:v>63</c:v>
                </c:pt>
                <c:pt idx="61">
                  <c:v>64</c:v>
                </c:pt>
                <c:pt idx="62">
                  <c:v>65</c:v>
                </c:pt>
                <c:pt idx="63">
                  <c:v>66</c:v>
                </c:pt>
                <c:pt idx="64">
                  <c:v>67</c:v>
                </c:pt>
                <c:pt idx="65">
                  <c:v>68</c:v>
                </c:pt>
                <c:pt idx="66">
                  <c:v>69</c:v>
                </c:pt>
                <c:pt idx="67">
                  <c:v>70</c:v>
                </c:pt>
                <c:pt idx="68">
                  <c:v>71</c:v>
                </c:pt>
                <c:pt idx="69">
                  <c:v>72</c:v>
                </c:pt>
                <c:pt idx="70">
                  <c:v>73</c:v>
                </c:pt>
                <c:pt idx="71">
                  <c:v>74</c:v>
                </c:pt>
                <c:pt idx="72">
                  <c:v>75</c:v>
                </c:pt>
                <c:pt idx="73">
                  <c:v>76</c:v>
                </c:pt>
                <c:pt idx="74">
                  <c:v>77</c:v>
                </c:pt>
                <c:pt idx="75">
                  <c:v>78</c:v>
                </c:pt>
                <c:pt idx="76">
                  <c:v>79</c:v>
                </c:pt>
                <c:pt idx="77">
                  <c:v>80</c:v>
                </c:pt>
                <c:pt idx="78">
                  <c:v>81</c:v>
                </c:pt>
                <c:pt idx="79">
                  <c:v>82</c:v>
                </c:pt>
                <c:pt idx="80">
                  <c:v>83</c:v>
                </c:pt>
                <c:pt idx="81">
                  <c:v>84</c:v>
                </c:pt>
                <c:pt idx="82">
                  <c:v>85</c:v>
                </c:pt>
                <c:pt idx="83">
                  <c:v>86</c:v>
                </c:pt>
                <c:pt idx="84">
                  <c:v>87</c:v>
                </c:pt>
                <c:pt idx="85">
                  <c:v>88</c:v>
                </c:pt>
                <c:pt idx="86">
                  <c:v>89</c:v>
                </c:pt>
                <c:pt idx="87">
                  <c:v>90</c:v>
                </c:pt>
                <c:pt idx="88">
                  <c:v>91</c:v>
                </c:pt>
                <c:pt idx="89">
                  <c:v>92</c:v>
                </c:pt>
                <c:pt idx="90">
                  <c:v>93</c:v>
                </c:pt>
                <c:pt idx="91">
                  <c:v>94</c:v>
                </c:pt>
                <c:pt idx="92">
                  <c:v>95</c:v>
                </c:pt>
                <c:pt idx="93">
                  <c:v>96</c:v>
                </c:pt>
                <c:pt idx="94">
                  <c:v>97</c:v>
                </c:pt>
                <c:pt idx="95">
                  <c:v>98</c:v>
                </c:pt>
                <c:pt idx="96">
                  <c:v>99</c:v>
                </c:pt>
                <c:pt idx="97">
                  <c:v>100</c:v>
                </c:pt>
                <c:pt idx="98">
                  <c:v>101</c:v>
                </c:pt>
                <c:pt idx="99">
                  <c:v>102</c:v>
                </c:pt>
                <c:pt idx="100">
                  <c:v>103</c:v>
                </c:pt>
                <c:pt idx="101">
                  <c:v>104</c:v>
                </c:pt>
                <c:pt idx="102">
                  <c:v>105</c:v>
                </c:pt>
                <c:pt idx="103">
                  <c:v>106</c:v>
                </c:pt>
                <c:pt idx="104">
                  <c:v>107</c:v>
                </c:pt>
                <c:pt idx="105">
                  <c:v>108</c:v>
                </c:pt>
                <c:pt idx="106">
                  <c:v>109</c:v>
                </c:pt>
                <c:pt idx="107">
                  <c:v>110</c:v>
                </c:pt>
                <c:pt idx="108">
                  <c:v>111</c:v>
                </c:pt>
                <c:pt idx="109">
                  <c:v>112</c:v>
                </c:pt>
                <c:pt idx="110">
                  <c:v>113</c:v>
                </c:pt>
                <c:pt idx="111">
                  <c:v>114</c:v>
                </c:pt>
                <c:pt idx="112">
                  <c:v>115</c:v>
                </c:pt>
                <c:pt idx="113">
                  <c:v>116</c:v>
                </c:pt>
                <c:pt idx="114">
                  <c:v>117</c:v>
                </c:pt>
                <c:pt idx="115">
                  <c:v>118</c:v>
                </c:pt>
                <c:pt idx="116">
                  <c:v>119</c:v>
                </c:pt>
                <c:pt idx="117">
                  <c:v>120</c:v>
                </c:pt>
                <c:pt idx="118">
                  <c:v>121</c:v>
                </c:pt>
                <c:pt idx="119">
                  <c:v>122</c:v>
                </c:pt>
                <c:pt idx="120">
                  <c:v>123</c:v>
                </c:pt>
                <c:pt idx="121">
                  <c:v>124</c:v>
                </c:pt>
                <c:pt idx="122">
                  <c:v>125</c:v>
                </c:pt>
                <c:pt idx="123">
                  <c:v>126</c:v>
                </c:pt>
                <c:pt idx="124">
                  <c:v>127</c:v>
                </c:pt>
                <c:pt idx="125">
                  <c:v>128</c:v>
                </c:pt>
                <c:pt idx="126">
                  <c:v>129</c:v>
                </c:pt>
                <c:pt idx="127">
                  <c:v>130</c:v>
                </c:pt>
                <c:pt idx="128">
                  <c:v>131</c:v>
                </c:pt>
                <c:pt idx="129">
                  <c:v>132</c:v>
                </c:pt>
                <c:pt idx="130">
                  <c:v>133</c:v>
                </c:pt>
                <c:pt idx="131">
                  <c:v>134</c:v>
                </c:pt>
                <c:pt idx="132">
                  <c:v>135</c:v>
                </c:pt>
                <c:pt idx="133">
                  <c:v>136</c:v>
                </c:pt>
                <c:pt idx="134">
                  <c:v>137</c:v>
                </c:pt>
                <c:pt idx="135">
                  <c:v>138</c:v>
                </c:pt>
                <c:pt idx="136">
                  <c:v>139</c:v>
                </c:pt>
                <c:pt idx="137">
                  <c:v>140</c:v>
                </c:pt>
                <c:pt idx="138">
                  <c:v>141</c:v>
                </c:pt>
              </c:numCache>
            </c:numRef>
          </c:xVal>
          <c:yVal>
            <c:numRef>
              <c:f>Sheet1!$D$2:$D$140</c:f>
              <c:numCache>
                <c:formatCode>General</c:formatCode>
                <c:ptCount val="139"/>
                <c:pt idx="0">
                  <c:v>0.999999999944397</c:v>
                </c:pt>
                <c:pt idx="1">
                  <c:v>0.9999999606489614</c:v>
                </c:pt>
                <c:pt idx="2">
                  <c:v>0.9999984242890871</c:v>
                </c:pt>
                <c:pt idx="3">
                  <c:v>0.9999804783168278</c:v>
                </c:pt>
                <c:pt idx="4">
                  <c:v>0.9998725611267628</c:v>
                </c:pt>
                <c:pt idx="5">
                  <c:v>0.9994443742553902</c:v>
                </c:pt>
                <c:pt idx="6">
                  <c:v>0.9981643946878376</c:v>
                </c:pt>
                <c:pt idx="7">
                  <c:v>0.9950473126645737</c:v>
                </c:pt>
                <c:pt idx="8">
                  <c:v>0.9885526729636763</c:v>
                </c:pt>
                <c:pt idx="9">
                  <c:v>0.9766004191471247</c:v>
                </c:pt>
                <c:pt idx="10">
                  <c:v>0.9567601928628637</c:v>
                </c:pt>
                <c:pt idx="11">
                  <c:v>0.9266391839731297</c:v>
                </c:pt>
                <c:pt idx="12">
                  <c:v>0.8844281611989574</c:v>
                </c:pt>
                <c:pt idx="13">
                  <c:v>0.8294755812174888</c:v>
                </c:pt>
                <c:pt idx="14">
                  <c:v>0.7626892065261137</c:v>
                </c:pt>
                <c:pt idx="15">
                  <c:v>0.6865769768806154</c:v>
                </c:pt>
                <c:pt idx="16">
                  <c:v>0.6048624190575769</c:v>
                </c:pt>
                <c:pt idx="17">
                  <c:v>0.5217907713760506</c:v>
                </c:pt>
                <c:pt idx="18">
                  <c:v>0.4413694527586435</c:v>
                </c:pt>
                <c:pt idx="19">
                  <c:v>0.36678348780213643</c:v>
                </c:pt>
                <c:pt idx="20">
                  <c:v>0.30011259685187863</c:v>
                </c:pt>
                <c:pt idx="21">
                  <c:v>0.2423384998655852</c:v>
                </c:pt>
                <c:pt idx="22">
                  <c:v>0.19354379619863749</c:v>
                </c:pt>
                <c:pt idx="23">
                  <c:v>0.15318685702739976</c:v>
                </c:pt>
                <c:pt idx="24">
                  <c:v>0.12036631163188338</c:v>
                </c:pt>
                <c:pt idx="25">
                  <c:v>0.09403052581830862</c:v>
                </c:pt>
                <c:pt idx="26">
                  <c:v>0.07312090020934237</c:v>
                </c:pt>
                <c:pt idx="27">
                  <c:v>0.05665676904413952</c:v>
                </c:pt>
                <c:pt idx="28">
                  <c:v>0.04377670750476059</c:v>
                </c:pt>
                <c:pt idx="29">
                  <c:v>0.033751066539275065</c:v>
                </c:pt>
                <c:pt idx="30">
                  <c:v>0.025977591945575362</c:v>
                </c:pt>
                <c:pt idx="31">
                  <c:v>0.019968448332891908</c:v>
                </c:pt>
                <c:pt idx="32">
                  <c:v>0.015333936372914136</c:v>
                </c:pt>
                <c:pt idx="33">
                  <c:v>0.01176596356876669</c:v>
                </c:pt>
                <c:pt idx="34">
                  <c:v>0.009022846040969257</c:v>
                </c:pt>
                <c:pt idx="35">
                  <c:v>0.006916106747527295</c:v>
                </c:pt>
                <c:pt idx="36">
                  <c:v>0.005299415909278626</c:v>
                </c:pt>
                <c:pt idx="37">
                  <c:v>0.004059550188526884</c:v>
                </c:pt>
                <c:pt idx="38">
                  <c:v>0.0031091280496271523</c:v>
                </c:pt>
                <c:pt idx="39">
                  <c:v>0.002380844046641406</c:v>
                </c:pt>
                <c:pt idx="40">
                  <c:v>0.001822933938669058</c:v>
                </c:pt>
                <c:pt idx="41">
                  <c:v>0.0013956316672085745</c:v>
                </c:pt>
                <c:pt idx="42">
                  <c:v>0.0010684150480534393</c:v>
                </c:pt>
                <c:pt idx="43">
                  <c:v>0.0008178726197951569</c:v>
                </c:pt>
                <c:pt idx="44">
                  <c:v>0.0006260562356555921</c:v>
                </c:pt>
                <c:pt idx="45">
                  <c:v>0.0004792115142581155</c:v>
                </c:pt>
                <c:pt idx="46">
                  <c:v>0.0003668010727694293</c:v>
                </c:pt>
                <c:pt idx="47">
                  <c:v>0.0002807539512025281</c:v>
                </c:pt>
                <c:pt idx="48">
                  <c:v>0.00021488939229896697</c:v>
                </c:pt>
                <c:pt idx="49">
                  <c:v>0.0001644747930740209</c:v>
                </c:pt>
                <c:pt idx="50">
                  <c:v>0.00012588677259350867</c:v>
                </c:pt>
                <c:pt idx="51">
                  <c:v>0.00009635141111519196</c:v>
                </c:pt>
                <c:pt idx="52">
                  <c:v>0.00007374523072178896</c:v>
                </c:pt>
                <c:pt idx="53">
                  <c:v>0.000056442751225294074</c:v>
                </c:pt>
                <c:pt idx="54">
                  <c:v>0.00004319974351185696</c:v>
                </c:pt>
                <c:pt idx="55">
                  <c:v>0.000033063833936974873</c:v>
                </c:pt>
                <c:pt idx="56">
                  <c:v>0.0000253060595675203</c:v>
                </c:pt>
                <c:pt idx="57">
                  <c:v>0.00001936846860217667</c:v>
                </c:pt>
                <c:pt idx="58">
                  <c:v>0.000014824007140368245</c:v>
                </c:pt>
                <c:pt idx="59">
                  <c:v>0.000011345812986118808</c:v>
                </c:pt>
                <c:pt idx="60">
                  <c:v>0.000008683711298473895</c:v>
                </c:pt>
                <c:pt idx="61">
                  <c:v>0.000006646223485784475</c:v>
                </c:pt>
                <c:pt idx="62">
                  <c:v>0.000005086796442954622</c:v>
                </c:pt>
                <c:pt idx="63">
                  <c:v>0.000003893262307319567</c:v>
                </c:pt>
                <c:pt idx="64">
                  <c:v>0.0000029797709756307356</c:v>
                </c:pt>
                <c:pt idx="65">
                  <c:v>0.0000022806153363585935</c:v>
                </c:pt>
                <c:pt idx="66">
                  <c:v>0.0000017455051938286559</c:v>
                </c:pt>
                <c:pt idx="67">
                  <c:v>0.0000013359500223852905</c:v>
                </c:pt>
                <c:pt idx="68">
                  <c:v>0.0000010224904214428676</c:v>
                </c:pt>
                <c:pt idx="69">
                  <c:v>7.825791301652174e-7</c:v>
                </c:pt>
                <c:pt idx="70">
                  <c:v>5.989592262167776e-7</c:v>
                </c:pt>
                <c:pt idx="71">
                  <c:v>4.584228350257291e-7</c:v>
                </c:pt>
                <c:pt idx="72">
                  <c:v>3.5086109695381396e-7</c:v>
                </c:pt>
                <c:pt idx="73">
                  <c:v>2.6853703016804786e-7</c:v>
                </c:pt>
                <c:pt idx="74">
                  <c:v>2.0552901480730412e-7</c:v>
                </c:pt>
                <c:pt idx="75">
                  <c:v>1.573048435954405e-7</c:v>
                </c:pt>
                <c:pt idx="76">
                  <c:v>1.203957190609728e-7</c:v>
                </c:pt>
                <c:pt idx="77">
                  <c:v>9.21467442349666e-8</c:v>
                </c:pt>
                <c:pt idx="78">
                  <c:v>7.05259495248356e-8</c:v>
                </c:pt>
                <c:pt idx="79">
                  <c:v/>
                </c:pt>
                <c:pt idx="80">
                  <c:v/>
                </c:pt>
                <c:pt idx="81">
                  <c:v>1.5937423492356677</c:v>
                </c:pt>
                <c:pt idx="82">
                  <c:v>2.0109341747343024e-8</c:v>
                </c:pt>
                <c:pt idx="83">
                  <c:v>7.491655074076675e-9</c:v>
                </c:pt>
                <c:pt idx="84">
                  <c:v>2.790986330936107e-9</c:v>
                </c:pt>
                <c:pt idx="85">
                  <c:v/>
                </c:pt>
                <c:pt idx="86">
                  <c:v/>
                </c:pt>
                <c:pt idx="87">
                  <c:v>0.38804767747760893</c:v>
                </c:pt>
                <c:pt idx="88">
                  <c:v>1.4660717084780117e-10</c:v>
                </c:pt>
                <c:pt idx="89">
                  <c:v>2.067124249549579e-11</c:v>
                </c:pt>
                <c:pt idx="90">
                  <c:v>2.914335439641036e-12</c:v>
                </c:pt>
                <c:pt idx="91">
                  <c:v/>
                </c:pt>
                <c:pt idx="92">
                  <c:v/>
                </c:pt>
                <c:pt idx="93">
                  <c:v>0.11683451306824777</c:v>
                </c:pt>
                <c:pt idx="94">
                  <c:v>1.9984014443252818e-14</c:v>
                </c:pt>
                <c:pt idx="95">
                  <c:v>1.1102230246251565e-15</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numCache>
            </c:numRef>
          </c:yVal>
          <c:smooth val="0"/>
        </c:ser>
        <c:ser>
          <c:idx val="3"/>
          <c:order val="3"/>
          <c:tx>
            <c:strRef>
              <c:f>Sheet1!$E$1</c:f>
              <c:strCache>
                <c:ptCount val="1"/>
                <c:pt idx="0">
                  <c:v>Cost-aware</c:v>
                </c:pt>
              </c:strCache>
            </c:strRef>
          </c:tx>
          <c:spPr>
            <a:solidFill>
              <a:srgbClr val="E9A15F"/>
            </a:solidFill>
            <a:ln w="28575" cap="flat">
              <a:solidFill>
                <a:srgbClr val="E9A15F"/>
              </a:solidFill>
              <a:prstDash val="solid"/>
              <a:round/>
            </a:ln>
            <a:effectLst/>
          </c:spPr>
          <c:marker>
            <c:symbol val="none"/>
            <c:size val="6"/>
            <c:spPr>
              <a:solidFill>
                <a:srgbClr val="E9A15F"/>
              </a:solidFill>
              <a:ln w="9525" cap="flat">
                <a:solidFill>
                  <a:srgbClr val="E9A15F"/>
                </a:solidFill>
                <a:prstDash val="solid"/>
                <a:round/>
              </a:ln>
              <a:effectLst/>
            </c:spPr>
          </c:marker>
          <c:xVal>
            <c:numRef>
              <c:f>Sheet1!$A$2:$A$140</c:f>
              <c:numCache>
                <c:formatCode>General</c:formatCode>
                <c:ptCount val="139"/>
                <c:pt idx="0">
                  <c:v>3</c:v>
                </c:pt>
                <c:pt idx="1">
                  <c:v>4</c:v>
                </c:pt>
                <c:pt idx="2">
                  <c:v>5</c:v>
                </c:pt>
                <c:pt idx="3">
                  <c:v>6</c:v>
                </c:pt>
                <c:pt idx="4">
                  <c:v>7</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23</c:v>
                </c:pt>
                <c:pt idx="21">
                  <c:v>24</c:v>
                </c:pt>
                <c:pt idx="22">
                  <c:v>25</c:v>
                </c:pt>
                <c:pt idx="23">
                  <c:v>26</c:v>
                </c:pt>
                <c:pt idx="24">
                  <c:v>27</c:v>
                </c:pt>
                <c:pt idx="25">
                  <c:v>28</c:v>
                </c:pt>
                <c:pt idx="26">
                  <c:v>29</c:v>
                </c:pt>
                <c:pt idx="27">
                  <c:v>30</c:v>
                </c:pt>
                <c:pt idx="28">
                  <c:v>31</c:v>
                </c:pt>
                <c:pt idx="29">
                  <c:v>32</c:v>
                </c:pt>
                <c:pt idx="30">
                  <c:v>33</c:v>
                </c:pt>
                <c:pt idx="31">
                  <c:v>34</c:v>
                </c:pt>
                <c:pt idx="32">
                  <c:v>35</c:v>
                </c:pt>
                <c:pt idx="33">
                  <c:v>36</c:v>
                </c:pt>
                <c:pt idx="34">
                  <c:v>37</c:v>
                </c:pt>
                <c:pt idx="35">
                  <c:v>38</c:v>
                </c:pt>
                <c:pt idx="36">
                  <c:v>39</c:v>
                </c:pt>
                <c:pt idx="37">
                  <c:v>40</c:v>
                </c:pt>
                <c:pt idx="38">
                  <c:v>41</c:v>
                </c:pt>
                <c:pt idx="39">
                  <c:v>42</c:v>
                </c:pt>
                <c:pt idx="40">
                  <c:v>43</c:v>
                </c:pt>
                <c:pt idx="41">
                  <c:v>44</c:v>
                </c:pt>
                <c:pt idx="42">
                  <c:v>45</c:v>
                </c:pt>
                <c:pt idx="43">
                  <c:v>46</c:v>
                </c:pt>
                <c:pt idx="44">
                  <c:v>47</c:v>
                </c:pt>
                <c:pt idx="45">
                  <c:v>48</c:v>
                </c:pt>
                <c:pt idx="46">
                  <c:v>49</c:v>
                </c:pt>
                <c:pt idx="47">
                  <c:v>50</c:v>
                </c:pt>
                <c:pt idx="48">
                  <c:v>51</c:v>
                </c:pt>
                <c:pt idx="49">
                  <c:v>52</c:v>
                </c:pt>
                <c:pt idx="50">
                  <c:v>53</c:v>
                </c:pt>
                <c:pt idx="51">
                  <c:v>54</c:v>
                </c:pt>
                <c:pt idx="52">
                  <c:v>55</c:v>
                </c:pt>
                <c:pt idx="53">
                  <c:v>56</c:v>
                </c:pt>
                <c:pt idx="54">
                  <c:v>57</c:v>
                </c:pt>
                <c:pt idx="55">
                  <c:v>58</c:v>
                </c:pt>
                <c:pt idx="56">
                  <c:v>59</c:v>
                </c:pt>
                <c:pt idx="57">
                  <c:v>60</c:v>
                </c:pt>
                <c:pt idx="58">
                  <c:v>61</c:v>
                </c:pt>
                <c:pt idx="59">
                  <c:v>62</c:v>
                </c:pt>
                <c:pt idx="60">
                  <c:v>63</c:v>
                </c:pt>
                <c:pt idx="61">
                  <c:v>64</c:v>
                </c:pt>
                <c:pt idx="62">
                  <c:v>65</c:v>
                </c:pt>
                <c:pt idx="63">
                  <c:v>66</c:v>
                </c:pt>
                <c:pt idx="64">
                  <c:v>67</c:v>
                </c:pt>
                <c:pt idx="65">
                  <c:v>68</c:v>
                </c:pt>
                <c:pt idx="66">
                  <c:v>69</c:v>
                </c:pt>
                <c:pt idx="67">
                  <c:v>70</c:v>
                </c:pt>
                <c:pt idx="68">
                  <c:v>71</c:v>
                </c:pt>
                <c:pt idx="69">
                  <c:v>72</c:v>
                </c:pt>
                <c:pt idx="70">
                  <c:v>73</c:v>
                </c:pt>
                <c:pt idx="71">
                  <c:v>74</c:v>
                </c:pt>
                <c:pt idx="72">
                  <c:v>75</c:v>
                </c:pt>
                <c:pt idx="73">
                  <c:v>76</c:v>
                </c:pt>
                <c:pt idx="74">
                  <c:v>77</c:v>
                </c:pt>
                <c:pt idx="75">
                  <c:v>78</c:v>
                </c:pt>
                <c:pt idx="76">
                  <c:v>79</c:v>
                </c:pt>
                <c:pt idx="77">
                  <c:v>80</c:v>
                </c:pt>
                <c:pt idx="78">
                  <c:v>81</c:v>
                </c:pt>
                <c:pt idx="79">
                  <c:v>82</c:v>
                </c:pt>
                <c:pt idx="80">
                  <c:v>83</c:v>
                </c:pt>
                <c:pt idx="81">
                  <c:v>84</c:v>
                </c:pt>
                <c:pt idx="82">
                  <c:v>85</c:v>
                </c:pt>
                <c:pt idx="83">
                  <c:v>86</c:v>
                </c:pt>
                <c:pt idx="84">
                  <c:v>87</c:v>
                </c:pt>
                <c:pt idx="85">
                  <c:v>88</c:v>
                </c:pt>
                <c:pt idx="86">
                  <c:v>89</c:v>
                </c:pt>
                <c:pt idx="87">
                  <c:v>90</c:v>
                </c:pt>
                <c:pt idx="88">
                  <c:v>91</c:v>
                </c:pt>
                <c:pt idx="89">
                  <c:v>92</c:v>
                </c:pt>
                <c:pt idx="90">
                  <c:v>93</c:v>
                </c:pt>
                <c:pt idx="91">
                  <c:v>94</c:v>
                </c:pt>
                <c:pt idx="92">
                  <c:v>95</c:v>
                </c:pt>
                <c:pt idx="93">
                  <c:v>96</c:v>
                </c:pt>
                <c:pt idx="94">
                  <c:v>97</c:v>
                </c:pt>
                <c:pt idx="95">
                  <c:v>98</c:v>
                </c:pt>
                <c:pt idx="96">
                  <c:v>99</c:v>
                </c:pt>
                <c:pt idx="97">
                  <c:v>100</c:v>
                </c:pt>
                <c:pt idx="98">
                  <c:v>101</c:v>
                </c:pt>
                <c:pt idx="99">
                  <c:v>102</c:v>
                </c:pt>
                <c:pt idx="100">
                  <c:v>103</c:v>
                </c:pt>
                <c:pt idx="101">
                  <c:v>104</c:v>
                </c:pt>
                <c:pt idx="102">
                  <c:v>105</c:v>
                </c:pt>
                <c:pt idx="103">
                  <c:v>106</c:v>
                </c:pt>
                <c:pt idx="104">
                  <c:v>107</c:v>
                </c:pt>
                <c:pt idx="105">
                  <c:v>108</c:v>
                </c:pt>
                <c:pt idx="106">
                  <c:v>109</c:v>
                </c:pt>
                <c:pt idx="107">
                  <c:v>110</c:v>
                </c:pt>
                <c:pt idx="108">
                  <c:v>111</c:v>
                </c:pt>
                <c:pt idx="109">
                  <c:v>112</c:v>
                </c:pt>
                <c:pt idx="110">
                  <c:v>113</c:v>
                </c:pt>
                <c:pt idx="111">
                  <c:v>114</c:v>
                </c:pt>
                <c:pt idx="112">
                  <c:v>115</c:v>
                </c:pt>
                <c:pt idx="113">
                  <c:v>116</c:v>
                </c:pt>
                <c:pt idx="114">
                  <c:v>117</c:v>
                </c:pt>
                <c:pt idx="115">
                  <c:v>118</c:v>
                </c:pt>
                <c:pt idx="116">
                  <c:v>119</c:v>
                </c:pt>
                <c:pt idx="117">
                  <c:v>120</c:v>
                </c:pt>
                <c:pt idx="118">
                  <c:v>121</c:v>
                </c:pt>
                <c:pt idx="119">
                  <c:v>122</c:v>
                </c:pt>
                <c:pt idx="120">
                  <c:v>123</c:v>
                </c:pt>
                <c:pt idx="121">
                  <c:v>124</c:v>
                </c:pt>
                <c:pt idx="122">
                  <c:v>125</c:v>
                </c:pt>
                <c:pt idx="123">
                  <c:v>126</c:v>
                </c:pt>
                <c:pt idx="124">
                  <c:v>127</c:v>
                </c:pt>
                <c:pt idx="125">
                  <c:v>128</c:v>
                </c:pt>
                <c:pt idx="126">
                  <c:v>129</c:v>
                </c:pt>
                <c:pt idx="127">
                  <c:v>130</c:v>
                </c:pt>
                <c:pt idx="128">
                  <c:v>131</c:v>
                </c:pt>
                <c:pt idx="129">
                  <c:v>132</c:v>
                </c:pt>
                <c:pt idx="130">
                  <c:v>133</c:v>
                </c:pt>
                <c:pt idx="131">
                  <c:v>134</c:v>
                </c:pt>
                <c:pt idx="132">
                  <c:v>135</c:v>
                </c:pt>
                <c:pt idx="133">
                  <c:v>136</c:v>
                </c:pt>
                <c:pt idx="134">
                  <c:v>137</c:v>
                </c:pt>
                <c:pt idx="135">
                  <c:v>138</c:v>
                </c:pt>
                <c:pt idx="136">
                  <c:v>139</c:v>
                </c:pt>
                <c:pt idx="137">
                  <c:v>140</c:v>
                </c:pt>
                <c:pt idx="138">
                  <c:v>141</c:v>
                </c:pt>
              </c:numCache>
            </c:numRef>
          </c:xVal>
          <c:yVal>
            <c:numRef>
              <c:f>Sheet1!$E$2:$E$140</c:f>
              <c:numCache>
                <c:formatCode>General</c:formatCode>
                <c:ptCount val="139"/>
                <c:pt idx="0">
                  <c:v>0.999999999944397</c:v>
                </c:pt>
                <c:pt idx="1">
                  <c:v/>
                </c:pt>
                <c:pt idx="2">
                  <c:v>0.6586135247103253</c:v>
                </c:pt>
                <c:pt idx="3">
                  <c:v/>
                </c:pt>
                <c:pt idx="4">
                  <c:v>0.3711252777581211</c:v>
                </c:pt>
                <c:pt idx="5">
                  <c:v/>
                </c:pt>
                <c:pt idx="6">
                  <c:v>0.11899243446285035</c:v>
                </c:pt>
                <c:pt idx="7">
                  <c:v/>
                </c:pt>
                <c:pt idx="8">
                  <c:v>0.02320068584806667</c:v>
                </c:pt>
                <c:pt idx="9">
                  <c:v/>
                </c:pt>
                <c:pt idx="10">
                  <c:v>0.02633787066956339</c:v>
                </c:pt>
                <c:pt idx="11">
                  <c:v/>
                </c:pt>
                <c:pt idx="12">
                  <c:v>0.006441459443071951</c:v>
                </c:pt>
                <c:pt idx="13">
                  <c:v/>
                </c:pt>
                <c:pt idx="14">
                  <c:v>0.0009102028778271709</c:v>
                </c:pt>
                <c:pt idx="15">
                  <c:v/>
                </c:pt>
                <c:pt idx="16">
                  <c:v>0.0009274602090308948</c:v>
                </c:pt>
                <c:pt idx="17">
                  <c:v/>
                </c:pt>
                <c:pt idx="18">
                  <c:v>0.0002973107844086442</c:v>
                </c:pt>
                <c:pt idx="19">
                  <c:v/>
                </c:pt>
                <c:pt idx="20">
                  <c:v>0.00009308849173117473</c:v>
                </c:pt>
                <c:pt idx="21">
                  <c:v/>
                </c:pt>
                <c:pt idx="22">
                  <c:v>0.000025022733514568074</c:v>
                </c:pt>
                <c:pt idx="23">
                  <c:v/>
                </c:pt>
                <c:pt idx="24">
                  <c:v>0.0000023350739630778605</c:v>
                </c:pt>
                <c:pt idx="25">
                  <c:v/>
                </c:pt>
                <c:pt idx="26">
                  <c:v>0.0000052273762766175125</c:v>
                </c:pt>
                <c:pt idx="27">
                  <c:v/>
                </c:pt>
                <c:pt idx="28">
                  <c:v>1.8574850324526437e-7</c:v>
                </c:pt>
                <c:pt idx="29">
                  <c:v/>
                </c:pt>
                <c:pt idx="30">
                  <c:v>6.545250181844153e-7</c:v>
                </c:pt>
                <c:pt idx="31">
                  <c:v/>
                </c:pt>
                <c:pt idx="32">
                  <c:v>9.43425999544445e-8</c:v>
                </c:pt>
                <c:pt idx="33">
                  <c:v/>
                </c:pt>
                <c:pt idx="34">
                  <c:v>9.788903021501483e-10</c:v>
                </c:pt>
                <c:pt idx="35">
                  <c:v/>
                </c:pt>
                <c:pt idx="36">
                  <c:v>3.014234373210911e-8</c:v>
                </c:pt>
                <c:pt idx="37">
                  <c:v/>
                </c:pt>
                <c:pt idx="38">
                  <c:v>9.394853783817325e-9</c:v>
                </c:pt>
                <c:pt idx="39">
                  <c:v/>
                </c:pt>
                <c:pt idx="40">
                  <c:v>2.4790236530236598e-9</c:v>
                </c:pt>
                <c:pt idx="41">
                  <c:v>1e-18</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numCache>
            </c:numRef>
          </c:yVal>
          <c:smooth val="0"/>
        </c:ser>
        <c:ser>
          <c:idx val="4"/>
          <c:order val="4"/>
          <c:tx>
            <c:strRef>
              <c:f>Sheet1!$F$1</c:f>
              <c:strCache>
                <c:ptCount val="1"/>
                <c:pt idx="0">
                  <c:v>Stagnation-aware</c:v>
                </c:pt>
              </c:strCache>
            </c:strRef>
          </c:tx>
          <c:spPr>
            <a:solidFill>
              <a:srgbClr val="E07B30"/>
            </a:solidFill>
            <a:ln w="28575" cap="flat">
              <a:solidFill>
                <a:srgbClr val="E07B30"/>
              </a:solidFill>
              <a:prstDash val="solid"/>
              <a:round/>
            </a:ln>
            <a:effectLst/>
          </c:spPr>
          <c:marker>
            <c:symbol val="none"/>
            <c:size val="6"/>
            <c:spPr>
              <a:solidFill>
                <a:srgbClr val="E07B30"/>
              </a:solidFill>
              <a:ln w="9525" cap="flat">
                <a:solidFill>
                  <a:srgbClr val="E07B30"/>
                </a:solidFill>
                <a:prstDash val="solid"/>
                <a:round/>
              </a:ln>
              <a:effectLst/>
            </c:spPr>
          </c:marker>
          <c:xVal>
            <c:numRef>
              <c:f>Sheet1!$A$2:$A$140</c:f>
              <c:numCache>
                <c:formatCode>General</c:formatCode>
                <c:ptCount val="139"/>
                <c:pt idx="0">
                  <c:v>3</c:v>
                </c:pt>
                <c:pt idx="1">
                  <c:v>4</c:v>
                </c:pt>
                <c:pt idx="2">
                  <c:v>5</c:v>
                </c:pt>
                <c:pt idx="3">
                  <c:v>6</c:v>
                </c:pt>
                <c:pt idx="4">
                  <c:v>7</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23</c:v>
                </c:pt>
                <c:pt idx="21">
                  <c:v>24</c:v>
                </c:pt>
                <c:pt idx="22">
                  <c:v>25</c:v>
                </c:pt>
                <c:pt idx="23">
                  <c:v>26</c:v>
                </c:pt>
                <c:pt idx="24">
                  <c:v>27</c:v>
                </c:pt>
                <c:pt idx="25">
                  <c:v>28</c:v>
                </c:pt>
                <c:pt idx="26">
                  <c:v>29</c:v>
                </c:pt>
                <c:pt idx="27">
                  <c:v>30</c:v>
                </c:pt>
                <c:pt idx="28">
                  <c:v>31</c:v>
                </c:pt>
                <c:pt idx="29">
                  <c:v>32</c:v>
                </c:pt>
                <c:pt idx="30">
                  <c:v>33</c:v>
                </c:pt>
                <c:pt idx="31">
                  <c:v>34</c:v>
                </c:pt>
                <c:pt idx="32">
                  <c:v>35</c:v>
                </c:pt>
                <c:pt idx="33">
                  <c:v>36</c:v>
                </c:pt>
                <c:pt idx="34">
                  <c:v>37</c:v>
                </c:pt>
                <c:pt idx="35">
                  <c:v>38</c:v>
                </c:pt>
                <c:pt idx="36">
                  <c:v>39</c:v>
                </c:pt>
                <c:pt idx="37">
                  <c:v>40</c:v>
                </c:pt>
                <c:pt idx="38">
                  <c:v>41</c:v>
                </c:pt>
                <c:pt idx="39">
                  <c:v>42</c:v>
                </c:pt>
                <c:pt idx="40">
                  <c:v>43</c:v>
                </c:pt>
                <c:pt idx="41">
                  <c:v>44</c:v>
                </c:pt>
                <c:pt idx="42">
                  <c:v>45</c:v>
                </c:pt>
                <c:pt idx="43">
                  <c:v>46</c:v>
                </c:pt>
                <c:pt idx="44">
                  <c:v>47</c:v>
                </c:pt>
                <c:pt idx="45">
                  <c:v>48</c:v>
                </c:pt>
                <c:pt idx="46">
                  <c:v>49</c:v>
                </c:pt>
                <c:pt idx="47">
                  <c:v>50</c:v>
                </c:pt>
                <c:pt idx="48">
                  <c:v>51</c:v>
                </c:pt>
                <c:pt idx="49">
                  <c:v>52</c:v>
                </c:pt>
                <c:pt idx="50">
                  <c:v>53</c:v>
                </c:pt>
                <c:pt idx="51">
                  <c:v>54</c:v>
                </c:pt>
                <c:pt idx="52">
                  <c:v>55</c:v>
                </c:pt>
                <c:pt idx="53">
                  <c:v>56</c:v>
                </c:pt>
                <c:pt idx="54">
                  <c:v>57</c:v>
                </c:pt>
                <c:pt idx="55">
                  <c:v>58</c:v>
                </c:pt>
                <c:pt idx="56">
                  <c:v>59</c:v>
                </c:pt>
                <c:pt idx="57">
                  <c:v>60</c:v>
                </c:pt>
                <c:pt idx="58">
                  <c:v>61</c:v>
                </c:pt>
                <c:pt idx="59">
                  <c:v>62</c:v>
                </c:pt>
                <c:pt idx="60">
                  <c:v>63</c:v>
                </c:pt>
                <c:pt idx="61">
                  <c:v>64</c:v>
                </c:pt>
                <c:pt idx="62">
                  <c:v>65</c:v>
                </c:pt>
                <c:pt idx="63">
                  <c:v>66</c:v>
                </c:pt>
                <c:pt idx="64">
                  <c:v>67</c:v>
                </c:pt>
                <c:pt idx="65">
                  <c:v>68</c:v>
                </c:pt>
                <c:pt idx="66">
                  <c:v>69</c:v>
                </c:pt>
                <c:pt idx="67">
                  <c:v>70</c:v>
                </c:pt>
                <c:pt idx="68">
                  <c:v>71</c:v>
                </c:pt>
                <c:pt idx="69">
                  <c:v>72</c:v>
                </c:pt>
                <c:pt idx="70">
                  <c:v>73</c:v>
                </c:pt>
                <c:pt idx="71">
                  <c:v>74</c:v>
                </c:pt>
                <c:pt idx="72">
                  <c:v>75</c:v>
                </c:pt>
                <c:pt idx="73">
                  <c:v>76</c:v>
                </c:pt>
                <c:pt idx="74">
                  <c:v>77</c:v>
                </c:pt>
                <c:pt idx="75">
                  <c:v>78</c:v>
                </c:pt>
                <c:pt idx="76">
                  <c:v>79</c:v>
                </c:pt>
                <c:pt idx="77">
                  <c:v>80</c:v>
                </c:pt>
                <c:pt idx="78">
                  <c:v>81</c:v>
                </c:pt>
                <c:pt idx="79">
                  <c:v>82</c:v>
                </c:pt>
                <c:pt idx="80">
                  <c:v>83</c:v>
                </c:pt>
                <c:pt idx="81">
                  <c:v>84</c:v>
                </c:pt>
                <c:pt idx="82">
                  <c:v>85</c:v>
                </c:pt>
                <c:pt idx="83">
                  <c:v>86</c:v>
                </c:pt>
                <c:pt idx="84">
                  <c:v>87</c:v>
                </c:pt>
                <c:pt idx="85">
                  <c:v>88</c:v>
                </c:pt>
                <c:pt idx="86">
                  <c:v>89</c:v>
                </c:pt>
                <c:pt idx="87">
                  <c:v>90</c:v>
                </c:pt>
                <c:pt idx="88">
                  <c:v>91</c:v>
                </c:pt>
                <c:pt idx="89">
                  <c:v>92</c:v>
                </c:pt>
                <c:pt idx="90">
                  <c:v>93</c:v>
                </c:pt>
                <c:pt idx="91">
                  <c:v>94</c:v>
                </c:pt>
                <c:pt idx="92">
                  <c:v>95</c:v>
                </c:pt>
                <c:pt idx="93">
                  <c:v>96</c:v>
                </c:pt>
                <c:pt idx="94">
                  <c:v>97</c:v>
                </c:pt>
                <c:pt idx="95">
                  <c:v>98</c:v>
                </c:pt>
                <c:pt idx="96">
                  <c:v>99</c:v>
                </c:pt>
                <c:pt idx="97">
                  <c:v>100</c:v>
                </c:pt>
                <c:pt idx="98">
                  <c:v>101</c:v>
                </c:pt>
                <c:pt idx="99">
                  <c:v>102</c:v>
                </c:pt>
                <c:pt idx="100">
                  <c:v>103</c:v>
                </c:pt>
                <c:pt idx="101">
                  <c:v>104</c:v>
                </c:pt>
                <c:pt idx="102">
                  <c:v>105</c:v>
                </c:pt>
                <c:pt idx="103">
                  <c:v>106</c:v>
                </c:pt>
                <c:pt idx="104">
                  <c:v>107</c:v>
                </c:pt>
                <c:pt idx="105">
                  <c:v>108</c:v>
                </c:pt>
                <c:pt idx="106">
                  <c:v>109</c:v>
                </c:pt>
                <c:pt idx="107">
                  <c:v>110</c:v>
                </c:pt>
                <c:pt idx="108">
                  <c:v>111</c:v>
                </c:pt>
                <c:pt idx="109">
                  <c:v>112</c:v>
                </c:pt>
                <c:pt idx="110">
                  <c:v>113</c:v>
                </c:pt>
                <c:pt idx="111">
                  <c:v>114</c:v>
                </c:pt>
                <c:pt idx="112">
                  <c:v>115</c:v>
                </c:pt>
                <c:pt idx="113">
                  <c:v>116</c:v>
                </c:pt>
                <c:pt idx="114">
                  <c:v>117</c:v>
                </c:pt>
                <c:pt idx="115">
                  <c:v>118</c:v>
                </c:pt>
                <c:pt idx="116">
                  <c:v>119</c:v>
                </c:pt>
                <c:pt idx="117">
                  <c:v>120</c:v>
                </c:pt>
                <c:pt idx="118">
                  <c:v>121</c:v>
                </c:pt>
                <c:pt idx="119">
                  <c:v>122</c:v>
                </c:pt>
                <c:pt idx="120">
                  <c:v>123</c:v>
                </c:pt>
                <c:pt idx="121">
                  <c:v>124</c:v>
                </c:pt>
                <c:pt idx="122">
                  <c:v>125</c:v>
                </c:pt>
                <c:pt idx="123">
                  <c:v>126</c:v>
                </c:pt>
                <c:pt idx="124">
                  <c:v>127</c:v>
                </c:pt>
                <c:pt idx="125">
                  <c:v>128</c:v>
                </c:pt>
                <c:pt idx="126">
                  <c:v>129</c:v>
                </c:pt>
                <c:pt idx="127">
                  <c:v>130</c:v>
                </c:pt>
                <c:pt idx="128">
                  <c:v>131</c:v>
                </c:pt>
                <c:pt idx="129">
                  <c:v>132</c:v>
                </c:pt>
                <c:pt idx="130">
                  <c:v>133</c:v>
                </c:pt>
                <c:pt idx="131">
                  <c:v>134</c:v>
                </c:pt>
                <c:pt idx="132">
                  <c:v>135</c:v>
                </c:pt>
                <c:pt idx="133">
                  <c:v>136</c:v>
                </c:pt>
                <c:pt idx="134">
                  <c:v>137</c:v>
                </c:pt>
                <c:pt idx="135">
                  <c:v>138</c:v>
                </c:pt>
                <c:pt idx="136">
                  <c:v>139</c:v>
                </c:pt>
                <c:pt idx="137">
                  <c:v>140</c:v>
                </c:pt>
                <c:pt idx="138">
                  <c:v>141</c:v>
                </c:pt>
              </c:numCache>
            </c:numRef>
          </c:xVal>
          <c:yVal>
            <c:numRef>
              <c:f>Sheet1!$F$2:$F$140</c:f>
              <c:numCache>
                <c:formatCode>General</c:formatCode>
                <c:ptCount val="139"/>
                <c:pt idx="0">
                  <c:v>0.999999999944397</c:v>
                </c:pt>
                <c:pt idx="1">
                  <c:v>0.9999999606489614</c:v>
                </c:pt>
                <c:pt idx="2">
                  <c:v>0.9999984242890871</c:v>
                </c:pt>
                <c:pt idx="3">
                  <c:v/>
                </c:pt>
                <c:pt idx="4">
                  <c:v>0.3736604791112086</c:v>
                </c:pt>
                <c:pt idx="5">
                  <c:v/>
                </c:pt>
                <c:pt idx="6">
                  <c:v>0.9584829472735121</c:v>
                </c:pt>
                <c:pt idx="7">
                  <c:v>0.12607255459915967</c:v>
                </c:pt>
                <c:pt idx="8">
                  <c:v>0.03684742544155917</c:v>
                </c:pt>
                <c:pt idx="9">
                  <c:v>0.010298444094906545</c:v>
                </c:pt>
                <c:pt idx="10">
                  <c:v/>
                </c:pt>
                <c:pt idx="11">
                  <c:v>0.24903346203496768</c:v>
                </c:pt>
                <c:pt idx="12">
                  <c:v>0.0010056050559017482</c:v>
                </c:pt>
                <c:pt idx="13">
                  <c:v>0.00009766634806762653</c:v>
                </c:pt>
                <c:pt idx="14">
                  <c:v>0.000009480579810872136</c:v>
                </c:pt>
                <c:pt idx="15">
                  <c:v/>
                </c:pt>
                <c:pt idx="16">
                  <c:v>0.07752618475029127</c:v>
                </c:pt>
                <c:pt idx="17">
                  <c:v>3.1536997868730765e-7</c:v>
                </c:pt>
                <c:pt idx="18">
                  <c:v>1.0490672774920995e-8</c:v>
                </c:pt>
                <c:pt idx="19">
                  <c:v>3.489686317692531e-10</c:v>
                </c:pt>
                <c:pt idx="20">
                  <c:v/>
                </c:pt>
                <c:pt idx="21">
                  <c:v>0.025265168453328934</c:v>
                </c:pt>
                <c:pt idx="22">
                  <c:v>3.9046543776066756e-12</c:v>
                </c:pt>
                <c:pt idx="23">
                  <c:v>4.3298697960381105e-14</c:v>
                </c:pt>
                <c:pt idx="24">
                  <c:v>1e-18</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numCache>
            </c:numRef>
          </c:yVal>
          <c:smooth val="0"/>
        </c:ser>
        <c:dLbls>
          <c:numFmt formatCode="General"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dLbls>
        <c:axId val="2094734554"/>
        <c:axId val="2094734552"/>
      </c:scatterChart>
      <c:valAx>
        <c:axId val="2094734554"/>
        <c:scaling>
          <c:orientation val="minMax"/>
          <c:max val="150"/>
          <c:min val="0"/>
        </c:scaling>
        <c:delete val="0"/>
        <c:axPos val="b"/>
        <c:title>
          <c:tx>
            <c:rich>
              <a:bodyPr/>
              <a:lstStyle/>
              <a:p>
                <a:pPr>
                  <a:defRPr sz="1200" b="0" i="0" u="none" strike="noStrike">
                    <a:solidFill>
                      <a:srgbClr val="6B6B6B"/>
                    </a:solidFill>
                    <a:latin typeface="Arial"/>
                  </a:defRPr>
                </a:pPr>
                <a:r>
                  <a:rPr sz="1200" b="0" i="0" u="none" strike="noStrike">
                    <a:solidFill>
                      <a:srgbClr val="6B6B6B"/>
                    </a:solidFill>
                    <a:latin typeface="Arial"/>
                  </a:rPr>
                  <a:t>Cumulative function evaluations</a:t>
                </a:r>
              </a:p>
            </c:rich>
          </c:tx>
          <c:layout/>
          <c:overlay val="0"/>
        </c:title>
        <c:numFmt formatCode="0E+0" sourceLinked="1"/>
        <c:majorTickMark val="none"/>
        <c:minorTickMark val="none"/>
        <c:tickLblPos val="nextTo"/>
        <c:spPr>
          <a:ln w="12700" cap="flat">
            <a:solidFill>
              <a:srgbClr val="9AA39C"/>
            </a:solidFill>
            <a:prstDash val="solid"/>
            <a:round/>
          </a:ln>
        </c:spPr>
        <c:txPr>
          <a:bodyPr/>
          <a:lstStyle/>
          <a:p>
            <a:pPr>
              <a:defRPr sz="1100" b="0" i="0" u="none" strike="noStrike">
                <a:solidFill>
                  <a:srgbClr val="333333"/>
                </a:solidFill>
                <a:latin typeface="Calibri"/>
              </a:defRPr>
            </a:pPr>
            <a:endParaRPr lang="en-US"/>
          </a:p>
        </c:txPr>
        <c:crossAx val="2094734552"/>
        <c:crossesAt val="1e-18"/>
        <c:auto val="1"/>
        <c:lblAlgn val="ctr"/>
        <c:noMultiLvlLbl val="1"/>
        <c:majorUnit val="25"/>
      </c:valAx>
      <c:valAx>
        <c:axId val="2094734552"/>
        <c:scaling>
          <c:logBase val="10"/>
          <c:orientation val="minMax"/>
          <c:max val="10"/>
          <c:min val="1e-18"/>
        </c:scaling>
        <c:delete val="0"/>
        <c:axPos val="l"/>
        <c:majorGridlines>
          <c:spPr>
            <a:ln w="6350" cap="flat">
              <a:solidFill>
                <a:srgbClr val="E6E6E6"/>
              </a:solidFill>
              <a:prstDash val="solid"/>
              <a:round/>
            </a:ln>
          </c:spPr>
        </c:majorGridlines>
        <c:title>
          <c:tx>
            <c:rich>
              <a:bodyPr/>
              <a:lstStyle/>
              <a:p>
                <a:pPr>
                  <a:defRPr sz="1200" b="0" i="0" u="none" strike="noStrike">
                    <a:solidFill>
                      <a:srgbClr val="6B6B6B"/>
                    </a:solidFill>
                    <a:latin typeface="Arial"/>
                  </a:defRPr>
                </a:pPr>
                <a:r>
                  <a:rPr sz="1200" b="0" i="0" u="none" strike="noStrike">
                    <a:solidFill>
                      <a:srgbClr val="6B6B6B"/>
                    </a:solidFill>
                    <a:latin typeface="Arial"/>
                  </a:rPr>
                  <a:t>Selected residual |f(x)|  (0 shown as 1e-18)</a:t>
                </a:r>
              </a:p>
            </c:rich>
          </c:tx>
          <c:layout/>
          <c:overlay val="0"/>
        </c:title>
        <c:numFmt formatCode="0E+0" sourceLinked="0"/>
        <c:majorTickMark val="none"/>
        <c:minorTickMark val="none"/>
        <c:tickLblPos val="nextTo"/>
        <c:spPr>
          <a:ln w="12700" cap="flat">
            <a:noFill/>
            <a:prstDash val="solid"/>
            <a:round/>
          </a:ln>
        </c:spPr>
        <c:txPr>
          <a:bodyPr/>
          <a:lstStyle/>
          <a:p>
            <a:pPr>
              <a:defRPr sz="1100" b="0" i="0" u="none" strike="noStrike">
                <a:solidFill>
                  <a:srgbClr val="6B6B6B"/>
                </a:solidFill>
                <a:latin typeface="Calibri"/>
              </a:defRPr>
            </a:pPr>
            <a:endParaRPr lang="en-US"/>
          </a:p>
        </c:txPr>
        <c:crossAx val="2094734554"/>
        <c:crosses val="autoZero"/>
        <c:crossBetween val="midCat"/>
      </c:valAx>
      <c:spPr>
        <a:noFill/>
        <a:ln>
          <a:noFill/>
        </a:ln>
        <a:effectLst/>
      </c:spPr>
    </c:plotArea>
    <c:legend>
      <c:legendPos val="t"/>
      <c:overlay val="0"/>
      <c:txPr>
        <a:bodyPr/>
        <a:lstStyle/>
        <a:p>
          <a:pPr>
            <a:defRPr sz="1100">
              <a:solidFill>
                <a:srgbClr val="3333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Static BF</c:v>
                </c:pt>
              </c:strCache>
            </c:strRef>
          </c:tx>
          <c:spPr>
            <a:solidFill>
              <a:srgbClr val="8C9A90"/>
            </a:solidFill>
            <a:ln w="31750" cap="flat">
              <a:solidFill>
                <a:srgbClr val="8C9A90"/>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8"/>
            <c:spPr>
              <a:solidFill>
                <a:srgbClr val="8C9A90"/>
              </a:solidFill>
              <a:ln w="9525" cap="flat">
                <a:solidFill>
                  <a:srgbClr val="8C9A90"/>
                </a:solidFill>
                <a:prstDash val="solid"/>
                <a:round/>
              </a:ln>
              <a:effectLst/>
            </c:spPr>
          </c:marker>
          <c:cat>
            <c:multiLvlStrRef>
              <c:f>Sheet1!$A$2:$A$4</c:f>
              <c:multiLvlStrCache>
                <c:ptCount val="3"/>
                <c:lvl>
                  <c:pt idx="0">
                    <c:v>ε = 10⁻⁶</c:v>
                  </c:pt>
                  <c:pt idx="1">
                    <c:v>ε = 10⁻¹⁰</c:v>
                  </c:pt>
                  <c:pt idx="2">
                    <c:v>ε = 10⁻¹⁴</c:v>
                  </c:pt>
                </c:lvl>
              </c:multiLvlStrCache>
            </c:multiLvlStrRef>
          </c:cat>
          <c:val>
            <c:numRef>
              <c:f>Sheet1!$B$2:$B$4</c:f>
              <c:numCache>
                <c:formatCode>General</c:formatCode>
                <c:ptCount val="3"/>
                <c:pt idx="0">
                  <c:v>196</c:v>
                </c:pt>
                <c:pt idx="1">
                  <c:v>238</c:v>
                </c:pt>
                <c:pt idx="2">
                  <c:v>273</c:v>
                </c:pt>
              </c:numCache>
            </c:numRef>
          </c:val>
          <c:smooth val="0"/>
        </c:ser>
        <c:ser>
          <c:idx val="1"/>
          <c:order val="1"/>
          <c:tx>
            <c:strRef>
              <c:f>Sheet1!$C$1</c:f>
              <c:strCache>
                <c:ptCount val="1"/>
                <c:pt idx="0">
                  <c:v>Static TF</c:v>
                </c:pt>
              </c:strCache>
            </c:strRef>
          </c:tx>
          <c:spPr>
            <a:solidFill>
              <a:srgbClr val="1E4D2B"/>
            </a:solidFill>
            <a:ln w="31750" cap="flat">
              <a:solidFill>
                <a:srgbClr val="1E4D2B"/>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8"/>
            <c:spPr>
              <a:solidFill>
                <a:srgbClr val="1E4D2B"/>
              </a:solidFill>
              <a:ln w="9525" cap="flat">
                <a:solidFill>
                  <a:srgbClr val="1E4D2B"/>
                </a:solidFill>
                <a:prstDash val="solid"/>
                <a:round/>
              </a:ln>
              <a:effectLst/>
            </c:spPr>
          </c:marker>
          <c:cat>
            <c:multiLvlStrRef>
              <c:f>Sheet1!$A$2:$A$4</c:f>
              <c:multiLvlStrCache>
                <c:ptCount val="3"/>
                <c:lvl>
                  <c:pt idx="0">
                    <c:v>ε = 10⁻⁶</c:v>
                  </c:pt>
                  <c:pt idx="1">
                    <c:v>ε = 10⁻¹⁰</c:v>
                  </c:pt>
                  <c:pt idx="2">
                    <c:v>ε = 10⁻¹⁴</c:v>
                  </c:pt>
                </c:lvl>
              </c:multiLvlStrCache>
            </c:multiLvlStrRef>
          </c:cat>
          <c:val>
            <c:numRef>
              <c:f>Sheet1!$C$2:$C$4</c:f>
              <c:numCache>
                <c:formatCode>General</c:formatCode>
                <c:ptCount val="3"/>
                <c:pt idx="0">
                  <c:v>229</c:v>
                </c:pt>
                <c:pt idx="1">
                  <c:v>280</c:v>
                </c:pt>
                <c:pt idx="2">
                  <c:v>325</c:v>
                </c:pt>
              </c:numCache>
            </c:numRef>
          </c:val>
          <c:smooth val="0"/>
        </c:ser>
        <c:ser>
          <c:idx val="2"/>
          <c:order val="2"/>
          <c:tx>
            <c:strRef>
              <c:f>Sheet1!$D$1</c:f>
              <c:strCache>
                <c:ptCount val="1"/>
                <c:pt idx="0">
                  <c:v>Adaptive threshold</c:v>
                </c:pt>
              </c:strCache>
            </c:strRef>
          </c:tx>
          <c:spPr>
            <a:solidFill>
              <a:srgbClr val="7FAF78"/>
            </a:solidFill>
            <a:ln w="31750" cap="flat">
              <a:solidFill>
                <a:srgbClr val="7FAF78"/>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8"/>
            <c:spPr>
              <a:solidFill>
                <a:srgbClr val="7FAF78"/>
              </a:solidFill>
              <a:ln w="9525" cap="flat">
                <a:solidFill>
                  <a:srgbClr val="7FAF78"/>
                </a:solidFill>
                <a:prstDash val="solid"/>
                <a:round/>
              </a:ln>
              <a:effectLst/>
            </c:spPr>
          </c:marker>
          <c:cat>
            <c:multiLvlStrRef>
              <c:f>Sheet1!$A$2:$A$4</c:f>
              <c:multiLvlStrCache>
                <c:ptCount val="3"/>
                <c:lvl>
                  <c:pt idx="0">
                    <c:v>ε = 10⁻⁶</c:v>
                  </c:pt>
                  <c:pt idx="1">
                    <c:v>ε = 10⁻¹⁰</c:v>
                  </c:pt>
                  <c:pt idx="2">
                    <c:v>ε = 10⁻¹⁴</c:v>
                  </c:pt>
                </c:lvl>
              </c:multiLvlStrCache>
            </c:multiLvlStrRef>
          </c:cat>
          <c:val>
            <c:numRef>
              <c:f>Sheet1!$D$2:$D$4</c:f>
              <c:numCache>
                <c:formatCode>General</c:formatCode>
                <c:ptCount val="3"/>
                <c:pt idx="0">
                  <c:v>265</c:v>
                </c:pt>
                <c:pt idx="1">
                  <c:v>383</c:v>
                </c:pt>
                <c:pt idx="2">
                  <c:v>458</c:v>
                </c:pt>
              </c:numCache>
            </c:numRef>
          </c:val>
          <c:smooth val="0"/>
        </c:ser>
        <c:ser>
          <c:idx val="3"/>
          <c:order val="3"/>
          <c:tx>
            <c:strRef>
              <c:f>Sheet1!$E$1</c:f>
              <c:strCache>
                <c:ptCount val="1"/>
                <c:pt idx="0">
                  <c:v>Cost-aware</c:v>
                </c:pt>
              </c:strCache>
            </c:strRef>
          </c:tx>
          <c:spPr>
            <a:solidFill>
              <a:srgbClr val="E9A15F"/>
            </a:solidFill>
            <a:ln w="31750" cap="flat">
              <a:solidFill>
                <a:srgbClr val="E9A15F"/>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8"/>
            <c:spPr>
              <a:solidFill>
                <a:srgbClr val="E9A15F"/>
              </a:solidFill>
              <a:ln w="9525" cap="flat">
                <a:solidFill>
                  <a:srgbClr val="E9A15F"/>
                </a:solidFill>
                <a:prstDash val="solid"/>
                <a:round/>
              </a:ln>
              <a:effectLst/>
            </c:spPr>
          </c:marker>
          <c:cat>
            <c:multiLvlStrRef>
              <c:f>Sheet1!$A$2:$A$4</c:f>
              <c:multiLvlStrCache>
                <c:ptCount val="3"/>
                <c:lvl>
                  <c:pt idx="0">
                    <c:v>ε = 10⁻⁶</c:v>
                  </c:pt>
                  <c:pt idx="1">
                    <c:v>ε = 10⁻¹⁰</c:v>
                  </c:pt>
                  <c:pt idx="2">
                    <c:v>ε = 10⁻¹⁴</c:v>
                  </c:pt>
                </c:lvl>
              </c:multiLvlStrCache>
            </c:multiLvlStrRef>
          </c:cat>
          <c:val>
            <c:numRef>
              <c:f>Sheet1!$E$2:$E$4</c:f>
              <c:numCache>
                <c:formatCode>General</c:formatCode>
                <c:ptCount val="3"/>
                <c:pt idx="0">
                  <c:v>219</c:v>
                </c:pt>
                <c:pt idx="1">
                  <c:v>303</c:v>
                </c:pt>
                <c:pt idx="2">
                  <c:v>367</c:v>
                </c:pt>
              </c:numCache>
            </c:numRef>
          </c:val>
          <c:smooth val="0"/>
        </c:ser>
        <c:ser>
          <c:idx val="4"/>
          <c:order val="4"/>
          <c:tx>
            <c:strRef>
              <c:f>Sheet1!$F$1</c:f>
              <c:strCache>
                <c:ptCount val="1"/>
                <c:pt idx="0">
                  <c:v>Stagnation-aware</c:v>
                </c:pt>
              </c:strCache>
            </c:strRef>
          </c:tx>
          <c:spPr>
            <a:solidFill>
              <a:srgbClr val="E07B30"/>
            </a:solidFill>
            <a:ln w="31750" cap="flat">
              <a:solidFill>
                <a:srgbClr val="E07B30"/>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8"/>
            <c:spPr>
              <a:solidFill>
                <a:srgbClr val="E07B30"/>
              </a:solidFill>
              <a:ln w="9525" cap="flat">
                <a:solidFill>
                  <a:srgbClr val="E07B30"/>
                </a:solidFill>
                <a:prstDash val="solid"/>
                <a:round/>
              </a:ln>
              <a:effectLst/>
            </c:spPr>
          </c:marker>
          <c:cat>
            <c:multiLvlStrRef>
              <c:f>Sheet1!$A$2:$A$4</c:f>
              <c:multiLvlStrCache>
                <c:ptCount val="3"/>
                <c:lvl>
                  <c:pt idx="0">
                    <c:v>ε = 10⁻⁶</c:v>
                  </c:pt>
                  <c:pt idx="1">
                    <c:v>ε = 10⁻¹⁰</c:v>
                  </c:pt>
                  <c:pt idx="2">
                    <c:v>ε = 10⁻¹⁴</c:v>
                  </c:pt>
                </c:lvl>
              </c:multiLvlStrCache>
            </c:multiLvlStrRef>
          </c:cat>
          <c:val>
            <c:numRef>
              <c:f>Sheet1!$F$2:$F$4</c:f>
              <c:numCache>
                <c:formatCode>General</c:formatCode>
                <c:ptCount val="3"/>
                <c:pt idx="0">
                  <c:v>189</c:v>
                </c:pt>
                <c:pt idx="1">
                  <c:v>253</c:v>
                </c:pt>
                <c:pt idx="2">
                  <c:v>300</c:v>
                </c:pt>
              </c:numCache>
            </c:numRef>
          </c:val>
          <c:smooth val="0"/>
        </c:ser>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AA39C"/>
            </a:solidFill>
            <a:prstDash val="solid"/>
            <a:round/>
          </a:ln>
        </c:spPr>
        <c:txPr>
          <a:bodyPr/>
          <a:lstStyle/>
          <a:p>
            <a:pPr>
              <a:defRPr sz="1200" b="0" i="0" u="none" strike="noStrike">
                <a:solidFill>
                  <a:srgbClr val="333333"/>
                </a:solidFill>
                <a:latin typeface="Calibri"/>
              </a:defRPr>
            </a:pPr>
            <a:endParaRPr lang="en-US"/>
          </a:p>
        </c:txPr>
        <c:crossAx val="2094734552"/>
        <c:crosses val="autoZero"/>
        <c:auto val="1"/>
        <c:lblAlgn val="ctr"/>
        <c:noMultiLvlLbl val="1"/>
      </c:catAx>
      <c:valAx>
        <c:axId val="2094734552"/>
        <c:scaling>
          <c:orientation val="minMax"/>
          <c:max val="500"/>
          <c:min val="150"/>
        </c:scaling>
        <c:delete val="0"/>
        <c:axPos val="l"/>
        <c:majorGridlines>
          <c:spPr>
            <a:ln w="6350" cap="flat">
              <a:solidFill>
                <a:srgbClr val="E6E6E6"/>
              </a:solidFill>
              <a:prstDash val="solid"/>
              <a:round/>
            </a:ln>
          </c:spPr>
        </c:majorGridlines>
        <c:title>
          <c:tx>
            <c:rich>
              <a:bodyPr/>
              <a:lstStyle/>
              <a:p>
                <a:pPr>
                  <a:defRPr sz="1200" b="0" i="0" u="none" strike="noStrike">
                    <a:solidFill>
                      <a:srgbClr val="6B6B6B"/>
                    </a:solidFill>
                    <a:latin typeface="Arial"/>
                  </a:defRPr>
                </a:pPr>
                <a:r>
                  <a:rPr sz="1200" b="0" i="0" u="none" strike="noStrike">
                    <a:solidFill>
                      <a:srgbClr val="6B6B6B"/>
                    </a:solidFill>
                    <a:latin typeface="Arial"/>
                  </a:rPr>
                  <a:t>Total function evaluations (15 equations)</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Calibri"/>
              </a:defRPr>
            </a:pPr>
            <a:endParaRPr lang="en-US"/>
          </a:p>
        </c:txPr>
        <c:crossAx val="2094734554"/>
        <c:crosses val="autoZero"/>
        <c:crossBetween val="between"/>
        <c:majorUnit val="50"/>
      </c:valAx>
      <c:spPr>
        <a:noFill/>
        <a:ln>
          <a:noFill/>
        </a:ln>
        <a:effectLst/>
      </c:spPr>
    </c:plotArea>
    <c:legend>
      <c:legendPos val="t"/>
      <c:overlay val="0"/>
      <c:txPr>
        <a:bodyPr/>
        <a:lstStyle/>
        <a:p>
          <a:pPr>
            <a:defRPr sz="1200">
              <a:solidFill>
                <a:srgbClr val="3333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Mean wall time (µs)</c:v>
                </c:pt>
              </c:strCache>
            </c:strRef>
          </c:tx>
          <c:spPr>
            <a:solidFill>
              <a:srgbClr val="D9DED9"/>
            </a:solidFill>
            <a:effectLst/>
          </c:spPr>
          <c:invertIfNegative val="0"/>
          <c:dLbls>
            <c:numFmt formatCode="0.0" sourceLinked="0"/>
            <c:txPr>
              <a:bodyPr/>
              <a:lstStyle/>
              <a:p>
                <a:pPr>
                  <a:defRPr b="0" i="0" strike="noStrike" sz="1100" u="none">
                    <a:solidFill>
                      <a:srgbClr val="333333"/>
                    </a:solidFill>
                    <a:latin typeface="Calibri"/>
                  </a:defRPr>
                </a:pPr>
              </a:p>
            </c:txPr>
            <c:showLegendKey val="0"/>
            <c:showVal val="1"/>
            <c:showCatName val="0"/>
            <c:showSerName val="0"/>
            <c:showPercent val="0"/>
            <c:showBubbleSize val="0"/>
            <c:showLeaderLines val="0"/>
          </c:dLbls>
          <c:dPt>
            <c:idx val="0"/>
            <c:invertIfNegative val="0"/>
            <c:bubble3D val="0"/>
            <c:spPr>
              <a:solidFill>
                <a:srgbClr val="D9DED9"/>
              </a:solidFill>
              <a:effectLst/>
            </c:spPr>
          </c:dPt>
          <c:dPt>
            <c:idx val="1"/>
            <c:invertIfNegative val="0"/>
            <c:bubble3D val="0"/>
            <c:spPr>
              <a:solidFill>
                <a:srgbClr val="D9DED9"/>
              </a:solidFill>
              <a:effectLst/>
            </c:spPr>
          </c:dPt>
          <c:dPt>
            <c:idx val="2"/>
            <c:invertIfNegative val="0"/>
            <c:bubble3D val="0"/>
            <c:spPr>
              <a:solidFill>
                <a:srgbClr val="1E4D2B"/>
              </a:solidFill>
              <a:effectLst/>
            </c:spPr>
          </c:dPt>
          <c:dPt>
            <c:idx val="3"/>
            <c:invertIfNegative val="0"/>
            <c:bubble3D val="0"/>
            <c:spPr>
              <a:solidFill>
                <a:srgbClr val="8C9A90"/>
              </a:solidFill>
              <a:effectLst/>
            </c:spPr>
          </c:dPt>
          <c:dPt>
            <c:idx val="4"/>
            <c:invertIfNegative val="0"/>
            <c:bubble3D val="0"/>
            <c:spPr>
              <a:solidFill>
                <a:srgbClr val="E07B30"/>
              </a:solidFill>
              <a:effectLst/>
            </c:spPr>
          </c:dPt>
          <c:dPt>
            <c:idx val="5"/>
            <c:invertIfNegative val="0"/>
            <c:bubble3D val="0"/>
            <c:spPr>
              <a:solidFill>
                <a:srgbClr val="E9A15F"/>
              </a:solidFill>
              <a:effectLst/>
            </c:spPr>
          </c:dPt>
          <c:dPt>
            <c:idx val="6"/>
            <c:invertIfNegative val="0"/>
            <c:bubble3D val="0"/>
            <c:spPr>
              <a:solidFill>
                <a:srgbClr val="7FAF78"/>
              </a:solidFill>
              <a:effectLst/>
            </c:spPr>
          </c:dPt>
          <c:dPt>
            <c:idx val="7"/>
            <c:invertIfNegative val="0"/>
            <c:bubble3D val="0"/>
            <c:spPr>
              <a:solidFill>
                <a:srgbClr val="9AA39C"/>
              </a:solidFill>
              <a:effectLst/>
            </c:spPr>
          </c:dPt>
          <c:dPt>
            <c:idx val="8"/>
            <c:invertIfNegative val="0"/>
            <c:bubble3D val="0"/>
            <c:spPr>
              <a:solidFill>
                <a:srgbClr val="9AA39C"/>
              </a:solidFill>
              <a:effectLst/>
            </c:spPr>
          </c:dPt>
          <c:dPt>
            <c:idx val="9"/>
            <c:invertIfNegative val="0"/>
            <c:bubble3D val="0"/>
            <c:spPr>
              <a:solidFill>
                <a:srgbClr val="9AA39C"/>
              </a:solidFill>
              <a:effectLst/>
            </c:spPr>
          </c:dPt>
          <c:cat>
            <c:multiLvlStrRef>
              <c:f>Sheet1!$A$2:$A$11</c:f>
              <c:multiLvlStrCache>
                <c:ptCount val="10"/>
                <c:lvl>
                  <c:pt idx="0">
                    <c:v>Newton</c:v>
                  </c:pt>
                  <c:pt idx="1">
                    <c:v>Secant</c:v>
                  </c:pt>
                  <c:pt idx="2">
                    <c:v>Static TF</c:v>
                  </c:pt>
                  <c:pt idx="3">
                    <c:v>Static BF</c:v>
                  </c:pt>
                  <c:pt idx="4">
                    <c:v>Stagnation-aware</c:v>
                  </c:pt>
                  <c:pt idx="5">
                    <c:v>Cost-aware</c:v>
                  </c:pt>
                  <c:pt idx="6">
                    <c:v>Adaptive threshold</c:v>
                  </c:pt>
                  <c:pt idx="7">
                    <c:v>Trisection</c:v>
                  </c:pt>
                  <c:pt idx="8">
                    <c:v>False position</c:v>
                  </c:pt>
                  <c:pt idx="9">
                    <c:v>Bisection</c:v>
                  </c:pt>
                </c:lvl>
              </c:multiLvlStrCache>
            </c:multiLvlStrRef>
          </c:cat>
          <c:val>
            <c:numRef>
              <c:f>Sheet1!$B$2:$B$11</c:f>
              <c:numCache>
                <c:formatCode>General</c:formatCode>
                <c:ptCount val="10"/>
                <c:pt idx="0">
                  <c:v>9.98</c:v>
                </c:pt>
                <c:pt idx="1">
                  <c:v>10.42</c:v>
                </c:pt>
                <c:pt idx="2">
                  <c:v>56.33</c:v>
                </c:pt>
                <c:pt idx="3">
                  <c:v>59.49</c:v>
                </c:pt>
                <c:pt idx="4">
                  <c:v>81.28</c:v>
                </c:pt>
                <c:pt idx="5">
                  <c:v>110.77</c:v>
                </c:pt>
                <c:pt idx="6">
                  <c:v>136.58</c:v>
                </c:pt>
                <c:pt idx="7">
                  <c:v>155.52</c:v>
                </c:pt>
                <c:pt idx="8">
                  <c:v>159.62</c:v>
                </c:pt>
                <c:pt idx="9">
                  <c:v>219.57</c:v>
                </c:pt>
              </c:numCache>
            </c:numRef>
          </c:val>
        </c:ser>
        <c:dLbls>
          <c:numFmt formatCode="0.0" sourceLinked="0"/>
          <c:txPr>
            <a:bodyPr/>
            <a:lstStyle/>
            <a:p>
              <a:pPr>
                <a:defRPr b="0" i="0" strike="noStrike" sz="1100" u="none">
                  <a:solidFill>
                    <a:srgbClr val="333333"/>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9AA39C"/>
            </a:solidFill>
            <a:prstDash val="solid"/>
            <a:round/>
          </a:ln>
        </c:spPr>
        <c:txPr>
          <a:bodyPr/>
          <a:lstStyle/>
          <a:p>
            <a:pPr>
              <a:defRPr sz="1200" b="0" i="0" u="none" strike="noStrike">
                <a:solidFill>
                  <a:srgbClr val="333333"/>
                </a:solidFill>
                <a:latin typeface="Calibri"/>
              </a:defRPr>
            </a:pPr>
            <a:endParaRPr lang="en-US"/>
          </a:p>
        </c:txPr>
        <c:crossAx val="2094734552"/>
        <c:crosses val="autoZero"/>
        <c:auto val="1"/>
        <c:lblAlgn val="ctr"/>
        <c:noMultiLvlLbl val="1"/>
      </c:catAx>
      <c:valAx>
        <c:axId val="2094734552"/>
        <c:scaling>
          <c:orientation val="minMax"/>
          <c:max val="25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6B6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project: we took the static trisection–false position hybrid from Badr et al. (2021) and tested whether replacing its fixed selection rule with an adaptive one saves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 audience of the proposal. The base paper counts iterations, but a TF iteration costs up to three function evaluations. Our question is whether an adaptive rule saves real work, and which of three signals works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eight bracketed methods run through the same engine; they differ only in the selector that decides which candidates to evaluate. Function values are cached, every distinct evaluation is counted, and the only stopping rule is |f(x)| ≤ 1e-14. Newton and secant stay classical so the baselines are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policy: what it measures, how it decides, and what one step costs. For cost-aware, the proposal did not define an estimator for 'expected efficiency', so we used a rolling mean of the last three observed efficiencies for each method. None of the parameters were tuned per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problem–method pairs. Function evaluations are our main cost measure because they don't depend on the machine; timing is reported too but mostly reflects Python overhead. Reference roots come from an independent 80-digit bisection, so accuracy is checked separately from the residual stopping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BF and TF totals are 122 and 99 against the paper's 121 and 98. 28 of the 30 per-problem counts match exactly; only P3 is off by one for both methods. That gives us confidence the shared engine reproduces the published algorithms, so the adaptive policies are compared on a faithful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chart. Iterations and function evaluations tell different stories. Static TF wins on iterations, which is what the base paper reported, but Static BF does the least work. Among our three policies, stagnation-aware is the most economical, beating Static TF's total by 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Per-equation comparisons. Against Static TF, the proposal's own baseline, stagnation-aware wins 11 of 15 and cost-aware has a median ratio of 0.82. Against Static BF no policy comes out ahead. Note that cost-aware has a good median but a worse total: a few expensive cases (P6, P10) outweigh many small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shows where aggregate totals come from. Adaptive threshold and cost-aware are often cheapest on individual equations, but have large outliers. Stagnation-aware is never catastrophic: its worst case is 27 calls. That robustness is why its total is the best of the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is one method across the 15 equations. Classical methods are dashed, hybrids solid. Bisection (~47) and trisection (~30) are flat. False position is erratic, peaking at 139 on P11, and the adaptive-threshold line follows the same peaks. Newton and secant take the fewest iterations but have gaps where they failed. Remember an iteration costs different amounts for different methods, so the next slide is the fairer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view counting function calls, our measure of work. Trisection moves above bisection because each step costs two calls. The static hybrids and stagnation-aware form the low, steady band. Cost-aware spikes on P6 and P10, adaptive threshold on P2, P4, P11, P13 and P14. Newton's P10 point converged to a root outside the starting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P11 is the textbook failure case for false position. Plain FP needs 141 evaluations because one endpoint never moves. The threshold policy does not detect this: the residual improves by a small, steady ratio, so false position keeps beating the running average. The endpoint counter detects the stall directly and fixes it in 27 calls, slightly fewer than Static TF's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policies solve all 15 equations at every tolerance. The ranking depends on the stopping accuracy: at a loose tolerance the stagnation-aware policy beats both static hybrids, and at tight tolerances Static BF's midpoint steps win. Changing the reuse limit to 2 reduces iterations but not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completeness: every bracketed method solves all 15 equations. Newton fails three times because the documented left-endpoint start has a zero derivative, which matches the failures the paper reports, and it once converges outside the interval. The stress cases show limits the paper's equations don't expose, such as a residual floor above 1e-14.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agrees with the call counts in ranking the static hybrids first, but the gap is larger because adaptive policies have bookkeeping overhead in Python. On these microsecond-scale functions, call savings can't show up as time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proposal asked whether adaptivity pays and which signal is right. The signal question has a clear answer: endpoint reuse. Whether adaptivity pays depends on the baseline and the tolerance. It beats the base paper's TF hybrid, but not BF at 1e-14.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scope. The most promising next step follows directly from our results: combine the stagnation signal with the cheaper BF hybrid, and test on functions where each evaluation is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FB08C"/>
        </a:solidFill>
      </p:bgPr>
    </p:bg>
    <p:spTree>
      <p:nvGrpSpPr>
        <p:cNvPr id="1" name=""/>
        <p:cNvGrpSpPr/>
        <p:nvPr/>
      </p:nvGrpSpPr>
      <p:grpSpPr>
        <a:xfrm>
          <a:off x="0" y="0"/>
          <a:ext cx="0" cy="0"/>
          <a:chOff x="0" y="0"/>
          <a:chExt cx="0" cy="0"/>
        </a:xfrm>
      </p:grpSpPr>
      <p:sp>
        <p:nvSpPr>
          <p:cNvPr id="2" name="Shape 0"/>
          <p:cNvSpPr/>
          <p:nvPr/>
        </p:nvSpPr>
        <p:spPr>
          <a:xfrm>
            <a:off x="502920" y="457200"/>
            <a:ext cx="11185855" cy="5943600"/>
          </a:xfrm>
          <a:prstGeom prst="roundRect">
            <a:avLst>
              <a:gd name="adj" fmla="val 1231"/>
            </a:avLst>
          </a:prstGeom>
          <a:solidFill>
            <a:srgbClr val="FFFFFF"/>
          </a:solidFill>
          <a:ln w="12700">
            <a:solidFill>
              <a:srgbClr val="FFFFFF"/>
            </a:solidFill>
            <a:prstDash val="solid"/>
          </a:ln>
        </p:spPr>
      </p:sp>
      <p:sp>
        <p:nvSpPr>
          <p:cNvPr id="3" name="Text 1"/>
          <p:cNvSpPr/>
          <p:nvPr/>
        </p:nvSpPr>
        <p:spPr>
          <a:xfrm>
            <a:off x="914400" y="960120"/>
            <a:ext cx="10362895" cy="365760"/>
          </a:xfrm>
          <a:prstGeom prst="rect">
            <a:avLst/>
          </a:prstGeom>
          <a:noFill/>
          <a:ln/>
        </p:spPr>
        <p:txBody>
          <a:bodyPr wrap="square" lIns="635" tIns="635" rIns="635" bIns="635" rtlCol="0" anchor="t"/>
          <a:lstStyle/>
          <a:p>
            <a:pPr algn="ctr" indent="0" marL="0">
              <a:buNone/>
            </a:pPr>
            <a:r>
              <a:rPr lang="en-US" sz="1500" dirty="0">
                <a:solidFill>
                  <a:srgbClr val="2E7D4F"/>
                </a:solidFill>
                <a:latin typeface="Calibri" pitchFamily="34" charset="0"/>
                <a:ea typeface="Calibri" pitchFamily="34" charset="-122"/>
                <a:cs typeface="Calibri" pitchFamily="34" charset="-120"/>
              </a:rPr>
              <a:t>CSE402 · Numerical Analysis, Simulation and Modeling Sessional · Section B1</a:t>
            </a:r>
            <a:endParaRPr lang="en-US" sz="1500" dirty="0"/>
          </a:p>
        </p:txBody>
      </p:sp>
      <p:sp>
        <p:nvSpPr>
          <p:cNvPr id="4" name="Text 2"/>
          <p:cNvSpPr/>
          <p:nvPr/>
        </p:nvSpPr>
        <p:spPr>
          <a:xfrm>
            <a:off x="914400" y="1463040"/>
            <a:ext cx="10362895" cy="1463040"/>
          </a:xfrm>
          <a:prstGeom prst="rect">
            <a:avLst/>
          </a:prstGeom>
          <a:noFill/>
          <a:ln/>
        </p:spPr>
        <p:txBody>
          <a:bodyPr wrap="square" rtlCol="0" anchor="ctr"/>
          <a:lstStyle/>
          <a:p>
            <a:pPr algn="ctr" indent="0" marL="0">
              <a:buNone/>
            </a:pPr>
            <a:r>
              <a:rPr lang="en-US" sz="4000" b="1" dirty="0">
                <a:solidFill>
                  <a:srgbClr val="1E4D2B"/>
                </a:solidFill>
                <a:latin typeface="Cambria" pitchFamily="34" charset="0"/>
                <a:ea typeface="Cambria" pitchFamily="34" charset="-122"/>
                <a:cs typeface="Cambria" pitchFamily="34" charset="-120"/>
              </a:rPr>
              <a:t>Adaptive Switching Strategies for the</a:t>
            </a:r>
            <a:endParaRPr lang="en-US" sz="4000" dirty="0"/>
          </a:p>
          <a:p>
            <a:pPr algn="ctr" indent="0" marL="0">
              <a:buNone/>
            </a:pPr>
            <a:r>
              <a:rPr lang="en-US" sz="4000" b="1" dirty="0">
                <a:solidFill>
                  <a:srgbClr val="1E4D2B"/>
                </a:solidFill>
                <a:latin typeface="Cambria" pitchFamily="34" charset="0"/>
                <a:ea typeface="Cambria" pitchFamily="34" charset="-122"/>
                <a:cs typeface="Cambria" pitchFamily="34" charset="-120"/>
              </a:rPr>
              <a:t>Trisection–False Position Hybrid</a:t>
            </a:r>
            <a:endParaRPr lang="en-US" sz="4000" dirty="0"/>
          </a:p>
        </p:txBody>
      </p:sp>
      <p:sp>
        <p:nvSpPr>
          <p:cNvPr id="5" name="Text 3"/>
          <p:cNvSpPr/>
          <p:nvPr/>
        </p:nvSpPr>
        <p:spPr>
          <a:xfrm>
            <a:off x="914400" y="3017520"/>
            <a:ext cx="10362895" cy="411480"/>
          </a:xfrm>
          <a:prstGeom prst="rect">
            <a:avLst/>
          </a:prstGeom>
          <a:noFill/>
          <a:ln/>
        </p:spPr>
        <p:txBody>
          <a:bodyPr wrap="square" lIns="635" tIns="635" rIns="635" bIns="635" rtlCol="0" anchor="t"/>
          <a:lstStyle/>
          <a:p>
            <a:pPr algn="ctr" indent="0" marL="0">
              <a:buNone/>
            </a:pPr>
            <a:r>
              <a:rPr lang="en-US" sz="1800" i="1" dirty="0">
                <a:solidFill>
                  <a:srgbClr val="E07B30"/>
                </a:solidFill>
                <a:latin typeface="Calibri" pitchFamily="34" charset="0"/>
                <a:ea typeface="Calibri" pitchFamily="34" charset="-122"/>
                <a:cs typeface="Calibri" pitchFamily="34" charset="-120"/>
              </a:rPr>
              <a:t>Final presentation — implementation, results and what they mean</a:t>
            </a:r>
            <a:endParaRPr lang="en-US" sz="1800" dirty="0"/>
          </a:p>
        </p:txBody>
      </p:sp>
      <p:sp>
        <p:nvSpPr>
          <p:cNvPr id="6" name="Text 4"/>
          <p:cNvSpPr/>
          <p:nvPr/>
        </p:nvSpPr>
        <p:spPr>
          <a:xfrm>
            <a:off x="3200400" y="3794760"/>
            <a:ext cx="5790895" cy="2011680"/>
          </a:xfrm>
          <a:prstGeom prst="rect">
            <a:avLst/>
          </a:prstGeom>
          <a:noFill/>
          <a:ln/>
        </p:spPr>
        <p:txBody>
          <a:bodyPr wrap="square" rtlCol="0" anchor="ctr"/>
          <a:lstStyle/>
          <a:p>
            <a:pPr algn="ctr" indent="0" marL="0">
              <a:spcAft>
                <a:spcPts val="400"/>
              </a:spcAft>
              <a:buNone/>
            </a:pPr>
            <a:r>
              <a:rPr lang="en-US" sz="1600" dirty="0">
                <a:solidFill>
                  <a:srgbClr val="333333"/>
                </a:solidFill>
                <a:latin typeface="Calibri" pitchFamily="34" charset="0"/>
                <a:ea typeface="Calibri" pitchFamily="34" charset="-122"/>
                <a:cs typeface="Calibri" pitchFamily="34" charset="-120"/>
              </a:rPr>
              <a:t>2105069 — Sheikh Iftikharun Nisa</a:t>
            </a:r>
            <a:endParaRPr lang="en-US" sz="1600" dirty="0"/>
          </a:p>
          <a:p>
            <a:pPr algn="ctr" indent="0" marL="0">
              <a:spcAft>
                <a:spcPts val="400"/>
              </a:spcAft>
              <a:buNone/>
            </a:pPr>
            <a:r>
              <a:rPr lang="en-US" sz="1600" dirty="0">
                <a:solidFill>
                  <a:srgbClr val="333333"/>
                </a:solidFill>
                <a:latin typeface="Calibri" pitchFamily="34" charset="0"/>
                <a:ea typeface="Calibri" pitchFamily="34" charset="-122"/>
                <a:cs typeface="Calibri" pitchFamily="34" charset="-120"/>
              </a:rPr>
              <a:t>2105071 — Tanzim Tousif</a:t>
            </a:r>
            <a:endParaRPr lang="en-US" sz="1600" dirty="0"/>
          </a:p>
          <a:p>
            <a:pPr algn="ctr" indent="0" marL="0">
              <a:spcAft>
                <a:spcPts val="400"/>
              </a:spcAft>
              <a:buNone/>
            </a:pPr>
            <a:r>
              <a:rPr lang="en-US" sz="1600" dirty="0">
                <a:solidFill>
                  <a:srgbClr val="333333"/>
                </a:solidFill>
                <a:latin typeface="Calibri" pitchFamily="34" charset="0"/>
                <a:ea typeface="Calibri" pitchFamily="34" charset="-122"/>
                <a:cs typeface="Calibri" pitchFamily="34" charset="-120"/>
              </a:rPr>
              <a:t>2105077 — Sadia Tasnim</a:t>
            </a:r>
            <a:endParaRPr lang="en-US" sz="1600" dirty="0"/>
          </a:p>
          <a:p>
            <a:pPr algn="ctr" indent="0" marL="0">
              <a:spcAft>
                <a:spcPts val="400"/>
              </a:spcAft>
              <a:buNone/>
            </a:pPr>
            <a:r>
              <a:rPr lang="en-US" sz="1600" dirty="0">
                <a:solidFill>
                  <a:srgbClr val="333333"/>
                </a:solidFill>
                <a:latin typeface="Calibri" pitchFamily="34" charset="0"/>
                <a:ea typeface="Calibri" pitchFamily="34" charset="-122"/>
                <a:cs typeface="Calibri" pitchFamily="34" charset="-120"/>
              </a:rPr>
              <a:t>2105078 — Mahbuba Sayed Sinthia</a:t>
            </a:r>
            <a:endParaRPr lang="en-US" sz="1600" dirty="0"/>
          </a:p>
          <a:p>
            <a:pPr algn="ctr" indent="0" marL="0">
              <a:spcAft>
                <a:spcPts val="400"/>
              </a:spcAft>
              <a:buNone/>
            </a:pPr>
            <a:r>
              <a:rPr lang="en-US" sz="1600" dirty="0">
                <a:solidFill>
                  <a:srgbClr val="333333"/>
                </a:solidFill>
                <a:latin typeface="Calibri" pitchFamily="34" charset="0"/>
                <a:ea typeface="Calibri" pitchFamily="34" charset="-122"/>
                <a:cs typeface="Calibri" pitchFamily="34" charset="-120"/>
              </a:rPr>
              <a:t>2105084 — Dibya Jyoti Sarker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Recap: Where We Started</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The proposal in one slide</a:t>
            </a:r>
            <a:endParaRPr lang="en-US" sz="1500" dirty="0"/>
          </a:p>
        </p:txBody>
      </p:sp>
      <p:sp>
        <p:nvSpPr>
          <p:cNvPr id="7" name="Shape 5"/>
          <p:cNvSpPr/>
          <p:nvPr/>
        </p:nvSpPr>
        <p:spPr>
          <a:xfrm>
            <a:off x="548640" y="1463040"/>
            <a:ext cx="5486400" cy="4480560"/>
          </a:xfrm>
          <a:prstGeom prst="roundRect">
            <a:avLst>
              <a:gd name="adj" fmla="val 1633"/>
            </a:avLst>
          </a:prstGeom>
          <a:solidFill>
            <a:srgbClr val="FBEDE2"/>
          </a:solidFill>
          <a:ln w="12700">
            <a:solidFill>
              <a:srgbClr val="E07B30"/>
            </a:solidFill>
            <a:prstDash val="solid"/>
          </a:ln>
        </p:spPr>
      </p:sp>
      <p:sp>
        <p:nvSpPr>
          <p:cNvPr id="8" name="Text 6"/>
          <p:cNvSpPr/>
          <p:nvPr/>
        </p:nvSpPr>
        <p:spPr>
          <a:xfrm>
            <a:off x="822960" y="1645920"/>
            <a:ext cx="4937760" cy="320040"/>
          </a:xfrm>
          <a:prstGeom prst="rect">
            <a:avLst/>
          </a:prstGeom>
          <a:noFill/>
          <a:ln/>
        </p:spPr>
        <p:txBody>
          <a:bodyPr wrap="square" lIns="635" tIns="635" rIns="635" bIns="635" rtlCol="0" anchor="t"/>
          <a:lstStyle/>
          <a:p>
            <a:pPr indent="0" marL="0">
              <a:buNone/>
            </a:pPr>
            <a:r>
              <a:rPr lang="en-US" sz="1200" b="1" spc="200" kern="0" dirty="0">
                <a:solidFill>
                  <a:srgbClr val="E07B30"/>
                </a:solidFill>
                <a:latin typeface="Calibri" pitchFamily="34" charset="0"/>
                <a:ea typeface="Calibri" pitchFamily="34" charset="-122"/>
                <a:cs typeface="Calibri" pitchFamily="34" charset="-120"/>
              </a:rPr>
              <a:t>THE BASE PAPER</a:t>
            </a:r>
            <a:endParaRPr lang="en-US" sz="1200" dirty="0"/>
          </a:p>
        </p:txBody>
      </p:sp>
      <p:sp>
        <p:nvSpPr>
          <p:cNvPr id="9" name="Text 7"/>
          <p:cNvSpPr/>
          <p:nvPr/>
        </p:nvSpPr>
        <p:spPr>
          <a:xfrm>
            <a:off x="822960" y="1938528"/>
            <a:ext cx="4937760" cy="320040"/>
          </a:xfrm>
          <a:prstGeom prst="rect">
            <a:avLst/>
          </a:prstGeom>
          <a:noFill/>
          <a:ln/>
        </p:spPr>
        <p:txBody>
          <a:bodyPr wrap="square" lIns="635" tIns="635" rIns="635" bIns="635" rtlCol="0" anchor="t"/>
          <a:lstStyle/>
          <a:p>
            <a:pPr indent="0" marL="0">
              <a:buNone/>
            </a:pPr>
            <a:r>
              <a:rPr lang="en-US" sz="1300" i="1" dirty="0">
                <a:solidFill>
                  <a:srgbClr val="6B6B6B"/>
                </a:solidFill>
                <a:latin typeface="Calibri" pitchFamily="34" charset="0"/>
                <a:ea typeface="Calibri" pitchFamily="34" charset="-122"/>
                <a:cs typeface="Calibri" pitchFamily="34" charset="-120"/>
              </a:rPr>
              <a:t>Badr, Almotairi &amp; El Ghamry, Mathematics 9 (2021) 1306</a:t>
            </a:r>
            <a:endParaRPr lang="en-US" sz="1300" dirty="0"/>
          </a:p>
        </p:txBody>
      </p:sp>
      <p:sp>
        <p:nvSpPr>
          <p:cNvPr id="10" name="Text 8"/>
          <p:cNvSpPr/>
          <p:nvPr/>
        </p:nvSpPr>
        <p:spPr>
          <a:xfrm>
            <a:off x="822960" y="2377440"/>
            <a:ext cx="4937760" cy="3383280"/>
          </a:xfrm>
          <a:prstGeom prst="rect">
            <a:avLst/>
          </a:prstGeom>
          <a:noFill/>
          <a:ln/>
        </p:spPr>
        <p:txBody>
          <a:bodyPr wrap="square" rtlCol="0" anchor="t"/>
          <a:lstStyle/>
          <a:p>
            <a:pPr indent="0" marL="0">
              <a:buNone/>
            </a:pPr>
            <a:r>
              <a:rPr lang="en-US" sz="1500" b="1" dirty="0">
                <a:solidFill>
                  <a:srgbClr val="333333"/>
                </a:solidFill>
                <a:latin typeface="Calibri" pitchFamily="34" charset="0"/>
                <a:ea typeface="Calibri" pitchFamily="34" charset="-122"/>
                <a:cs typeface="Calibri" pitchFamily="34" charset="-120"/>
              </a:rPr>
              <a:t>Static trisection + false position (TF). </a:t>
            </a:r>
            <a:pPr indent="0" marL="0">
              <a:buNone/>
            </a:pPr>
            <a:r>
              <a:rPr lang="en-US" sz="1500" dirty="0">
                <a:solidFill>
                  <a:srgbClr val="333333"/>
                </a:solidFill>
                <a:latin typeface="Calibri" pitchFamily="34" charset="0"/>
                <a:ea typeface="Calibri" pitchFamily="34" charset="-122"/>
                <a:cs typeface="Calibri" pitchFamily="34" charset="-120"/>
              </a:rPr>
              <a:t>Every step evaluates both trisection points x₁, x₂ and the false-position point x_F, keeps the smallest |f(x)| and narrows the bracket.</a:t>
            </a:r>
            <a:endParaRPr lang="en-US" sz="1500" dirty="0"/>
          </a:p>
          <a:p>
            <a:pPr indent="0" marL="0">
              <a:buNone/>
            </a:pPr>
            <a:r>
              <a:rPr lang="en-US" sz="800" dirty="0">
                <a:solidFill>
                  <a:srgbClr val="333333"/>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333333"/>
                </a:solidFill>
                <a:latin typeface="Calibri" pitchFamily="34" charset="0"/>
                <a:ea typeface="Calibri" pitchFamily="34" charset="-122"/>
                <a:cs typeface="Calibri" pitchFamily="34" charset="-120"/>
              </a:rPr>
              <a:t>Reported: </a:t>
            </a:r>
            <a:pPr indent="0" marL="0">
              <a:buNone/>
            </a:pPr>
            <a:r>
              <a:rPr lang="en-US" sz="1500" dirty="0">
                <a:solidFill>
                  <a:srgbClr val="333333"/>
                </a:solidFill>
                <a:latin typeface="Calibri" pitchFamily="34" charset="0"/>
                <a:ea typeface="Calibri" pitchFamily="34" charset="-122"/>
                <a:cs typeface="Calibri" pitchFamily="34" charset="-120"/>
              </a:rPr>
              <a:t>98 total iterations vs 121 for the bisection–false position hybrid (BF) on 15 equations.</a:t>
            </a:r>
            <a:endParaRPr lang="en-US" sz="1500" dirty="0"/>
          </a:p>
          <a:p>
            <a:pPr indent="0" marL="0">
              <a:buNone/>
            </a:pPr>
            <a:r>
              <a:rPr lang="en-US" sz="800" dirty="0">
                <a:solidFill>
                  <a:srgbClr val="333333"/>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E07B30"/>
                </a:solidFill>
                <a:latin typeface="Calibri" pitchFamily="34" charset="0"/>
                <a:ea typeface="Calibri" pitchFamily="34" charset="-122"/>
                <a:cs typeface="Calibri" pitchFamily="34" charset="-120"/>
              </a:rPr>
              <a:t>The gap: </a:t>
            </a:r>
            <a:pPr indent="0" marL="0">
              <a:buNone/>
            </a:pPr>
            <a:r>
              <a:rPr lang="en-US" sz="1500" dirty="0">
                <a:solidFill>
                  <a:srgbClr val="333333"/>
                </a:solidFill>
                <a:latin typeface="Calibri" pitchFamily="34" charset="0"/>
                <a:ea typeface="Calibri" pitchFamily="34" charset="-122"/>
                <a:cs typeface="Calibri" pitchFamily="34" charset="-120"/>
              </a:rPr>
              <a:t>iterations were compared, but TF pays up to 3 new function calls per iteration, whatever the function is doing.</a:t>
            </a:r>
            <a:endParaRPr lang="en-US" sz="1500" dirty="0"/>
          </a:p>
        </p:txBody>
      </p:sp>
      <p:sp>
        <p:nvSpPr>
          <p:cNvPr id="11" name="Text 9"/>
          <p:cNvSpPr/>
          <p:nvPr/>
        </p:nvSpPr>
        <p:spPr>
          <a:xfrm>
            <a:off x="822960" y="4846320"/>
            <a:ext cx="4937760" cy="274320"/>
          </a:xfrm>
          <a:prstGeom prst="rect">
            <a:avLst/>
          </a:prstGeom>
          <a:noFill/>
          <a:ln/>
        </p:spPr>
        <p:txBody>
          <a:bodyPr wrap="square" lIns="635" tIns="635" rIns="635" bIns="635" rtlCol="0" anchor="t"/>
          <a:lstStyle/>
          <a:p>
            <a:pPr indent="0" marL="0">
              <a:buNone/>
            </a:pPr>
            <a:r>
              <a:rPr lang="en-US" sz="1150" b="1" spc="100" kern="0" dirty="0">
                <a:solidFill>
                  <a:srgbClr val="E07B30"/>
                </a:solidFill>
                <a:latin typeface="Calibri" pitchFamily="34" charset="0"/>
                <a:ea typeface="Calibri" pitchFamily="34" charset="-122"/>
                <a:cs typeface="Calibri" pitchFamily="34" charset="-120"/>
              </a:rPr>
              <a:t>WHAT WE MEASURE FOR EVERY METHOD</a:t>
            </a:r>
            <a:endParaRPr lang="en-US" sz="1150" dirty="0"/>
          </a:p>
        </p:txBody>
      </p:sp>
      <p:sp>
        <p:nvSpPr>
          <p:cNvPr id="12" name="Shape 10"/>
          <p:cNvSpPr/>
          <p:nvPr/>
        </p:nvSpPr>
        <p:spPr>
          <a:xfrm>
            <a:off x="822960" y="5212080"/>
            <a:ext cx="1143000" cy="457200"/>
          </a:xfrm>
          <a:prstGeom prst="roundRect">
            <a:avLst>
              <a:gd name="adj" fmla="val 20000"/>
            </a:avLst>
          </a:prstGeom>
          <a:solidFill>
            <a:srgbClr val="FFFFFF"/>
          </a:solidFill>
          <a:ln w="12700">
            <a:solidFill>
              <a:srgbClr val="E07B30"/>
            </a:solidFill>
            <a:prstDash val="solid"/>
          </a:ln>
        </p:spPr>
      </p:sp>
      <p:sp>
        <p:nvSpPr>
          <p:cNvPr id="13" name="Text 11"/>
          <p:cNvSpPr/>
          <p:nvPr/>
        </p:nvSpPr>
        <p:spPr>
          <a:xfrm>
            <a:off x="822960" y="5212080"/>
            <a:ext cx="1143000" cy="457200"/>
          </a:xfrm>
          <a:prstGeom prst="rect">
            <a:avLst/>
          </a:prstGeom>
          <a:noFill/>
          <a:ln/>
        </p:spPr>
        <p:txBody>
          <a:bodyPr wrap="square" rtlCol="0" anchor="ctr"/>
          <a:lstStyle/>
          <a:p>
            <a:pPr algn="ctr" indent="0" marL="0">
              <a:buNone/>
            </a:pPr>
            <a:r>
              <a:rPr lang="en-US" sz="1300" b="1" dirty="0">
                <a:solidFill>
                  <a:srgbClr val="1E4D2B"/>
                </a:solidFill>
                <a:latin typeface="Calibri" pitchFamily="34" charset="0"/>
                <a:ea typeface="Calibri" pitchFamily="34" charset="-122"/>
                <a:cs typeface="Calibri" pitchFamily="34" charset="-120"/>
              </a:rPr>
              <a:t>Iterations</a:t>
            </a:r>
            <a:endParaRPr lang="en-US" sz="1300" dirty="0"/>
          </a:p>
        </p:txBody>
      </p:sp>
      <p:sp>
        <p:nvSpPr>
          <p:cNvPr id="14" name="Shape 12"/>
          <p:cNvSpPr/>
          <p:nvPr/>
        </p:nvSpPr>
        <p:spPr>
          <a:xfrm>
            <a:off x="2075688" y="5212080"/>
            <a:ext cx="1143000" cy="457200"/>
          </a:xfrm>
          <a:prstGeom prst="roundRect">
            <a:avLst>
              <a:gd name="adj" fmla="val 20000"/>
            </a:avLst>
          </a:prstGeom>
          <a:solidFill>
            <a:srgbClr val="FFFFFF"/>
          </a:solidFill>
          <a:ln w="12700">
            <a:solidFill>
              <a:srgbClr val="E07B30"/>
            </a:solidFill>
            <a:prstDash val="solid"/>
          </a:ln>
        </p:spPr>
      </p:sp>
      <p:sp>
        <p:nvSpPr>
          <p:cNvPr id="15" name="Text 13"/>
          <p:cNvSpPr/>
          <p:nvPr/>
        </p:nvSpPr>
        <p:spPr>
          <a:xfrm>
            <a:off x="2075688" y="5212080"/>
            <a:ext cx="1143000" cy="457200"/>
          </a:xfrm>
          <a:prstGeom prst="rect">
            <a:avLst/>
          </a:prstGeom>
          <a:noFill/>
          <a:ln/>
        </p:spPr>
        <p:txBody>
          <a:bodyPr wrap="square" rtlCol="0" anchor="ctr"/>
          <a:lstStyle/>
          <a:p>
            <a:pPr algn="ctr" indent="0" marL="0">
              <a:buNone/>
            </a:pPr>
            <a:r>
              <a:rPr lang="en-US" sz="1300" b="1" dirty="0">
                <a:solidFill>
                  <a:srgbClr val="1E4D2B"/>
                </a:solidFill>
                <a:latin typeface="Calibri" pitchFamily="34" charset="0"/>
                <a:ea typeface="Calibri" pitchFamily="34" charset="-122"/>
                <a:cs typeface="Calibri" pitchFamily="34" charset="-120"/>
              </a:rPr>
              <a:t>f calls</a:t>
            </a:r>
            <a:endParaRPr lang="en-US" sz="1300" dirty="0"/>
          </a:p>
        </p:txBody>
      </p:sp>
      <p:sp>
        <p:nvSpPr>
          <p:cNvPr id="16" name="Shape 14"/>
          <p:cNvSpPr/>
          <p:nvPr/>
        </p:nvSpPr>
        <p:spPr>
          <a:xfrm>
            <a:off x="3328416" y="5212080"/>
            <a:ext cx="1143000" cy="457200"/>
          </a:xfrm>
          <a:prstGeom prst="roundRect">
            <a:avLst>
              <a:gd name="adj" fmla="val 20000"/>
            </a:avLst>
          </a:prstGeom>
          <a:solidFill>
            <a:srgbClr val="FFFFFF"/>
          </a:solidFill>
          <a:ln w="12700">
            <a:solidFill>
              <a:srgbClr val="E07B30"/>
            </a:solidFill>
            <a:prstDash val="solid"/>
          </a:ln>
        </p:spPr>
      </p:sp>
      <p:sp>
        <p:nvSpPr>
          <p:cNvPr id="17" name="Text 15"/>
          <p:cNvSpPr/>
          <p:nvPr/>
        </p:nvSpPr>
        <p:spPr>
          <a:xfrm>
            <a:off x="3328416" y="5212080"/>
            <a:ext cx="1143000" cy="457200"/>
          </a:xfrm>
          <a:prstGeom prst="rect">
            <a:avLst/>
          </a:prstGeom>
          <a:noFill/>
          <a:ln/>
        </p:spPr>
        <p:txBody>
          <a:bodyPr wrap="square" rtlCol="0" anchor="ctr"/>
          <a:lstStyle/>
          <a:p>
            <a:pPr algn="ctr" indent="0" marL="0">
              <a:buNone/>
            </a:pPr>
            <a:r>
              <a:rPr lang="en-US" sz="1300" b="1" dirty="0">
                <a:solidFill>
                  <a:srgbClr val="1E4D2B"/>
                </a:solidFill>
                <a:latin typeface="Calibri" pitchFamily="34" charset="0"/>
                <a:ea typeface="Calibri" pitchFamily="34" charset="-122"/>
                <a:cs typeface="Calibri" pitchFamily="34" charset="-120"/>
              </a:rPr>
              <a:t>Time</a:t>
            </a:r>
            <a:endParaRPr lang="en-US" sz="1300" dirty="0"/>
          </a:p>
        </p:txBody>
      </p:sp>
      <p:sp>
        <p:nvSpPr>
          <p:cNvPr id="18" name="Shape 16"/>
          <p:cNvSpPr/>
          <p:nvPr/>
        </p:nvSpPr>
        <p:spPr>
          <a:xfrm>
            <a:off x="4581144" y="5212080"/>
            <a:ext cx="1143000" cy="457200"/>
          </a:xfrm>
          <a:prstGeom prst="roundRect">
            <a:avLst>
              <a:gd name="adj" fmla="val 20000"/>
            </a:avLst>
          </a:prstGeom>
          <a:solidFill>
            <a:srgbClr val="FFFFFF"/>
          </a:solidFill>
          <a:ln w="12700">
            <a:solidFill>
              <a:srgbClr val="E07B30"/>
            </a:solidFill>
            <a:prstDash val="solid"/>
          </a:ln>
        </p:spPr>
      </p:sp>
      <p:sp>
        <p:nvSpPr>
          <p:cNvPr id="19" name="Text 17"/>
          <p:cNvSpPr/>
          <p:nvPr/>
        </p:nvSpPr>
        <p:spPr>
          <a:xfrm>
            <a:off x="4581144" y="5212080"/>
            <a:ext cx="1143000" cy="457200"/>
          </a:xfrm>
          <a:prstGeom prst="rect">
            <a:avLst/>
          </a:prstGeom>
          <a:noFill/>
          <a:ln/>
        </p:spPr>
        <p:txBody>
          <a:bodyPr wrap="square" rtlCol="0" anchor="ctr"/>
          <a:lstStyle/>
          <a:p>
            <a:pPr algn="ctr" indent="0" marL="0">
              <a:buNone/>
            </a:pPr>
            <a:r>
              <a:rPr lang="en-US" sz="1300" b="1" dirty="0">
                <a:solidFill>
                  <a:srgbClr val="1E4D2B"/>
                </a:solidFill>
                <a:latin typeface="Calibri" pitchFamily="34" charset="0"/>
                <a:ea typeface="Calibri" pitchFamily="34" charset="-122"/>
                <a:cs typeface="Calibri" pitchFamily="34" charset="-120"/>
              </a:rPr>
              <a:t>Success</a:t>
            </a:r>
            <a:endParaRPr lang="en-US" sz="1300" dirty="0"/>
          </a:p>
        </p:txBody>
      </p:sp>
      <p:sp>
        <p:nvSpPr>
          <p:cNvPr id="20" name="Shape 18"/>
          <p:cNvSpPr/>
          <p:nvPr/>
        </p:nvSpPr>
        <p:spPr>
          <a:xfrm>
            <a:off x="6400800" y="1463040"/>
            <a:ext cx="5212080" cy="2148840"/>
          </a:xfrm>
          <a:prstGeom prst="roundRect">
            <a:avLst>
              <a:gd name="adj" fmla="val 3404"/>
            </a:avLst>
          </a:prstGeom>
          <a:solidFill>
            <a:srgbClr val="E6EFE6"/>
          </a:solidFill>
          <a:ln w="12700">
            <a:solidFill>
              <a:srgbClr val="E6EFE6"/>
            </a:solidFill>
            <a:prstDash val="solid"/>
          </a:ln>
        </p:spPr>
      </p:sp>
      <p:sp>
        <p:nvSpPr>
          <p:cNvPr id="21" name="Text 19"/>
          <p:cNvSpPr/>
          <p:nvPr/>
        </p:nvSpPr>
        <p:spPr>
          <a:xfrm>
            <a:off x="6675120" y="1645920"/>
            <a:ext cx="4754880" cy="320040"/>
          </a:xfrm>
          <a:prstGeom prst="rect">
            <a:avLst/>
          </a:prstGeom>
          <a:noFill/>
          <a:ln/>
        </p:spPr>
        <p:txBody>
          <a:bodyPr wrap="square" lIns="635" tIns="635" rIns="635" bIns="635" rtlCol="0" anchor="t"/>
          <a:lstStyle/>
          <a:p>
            <a:pPr indent="0" marL="0">
              <a:buNone/>
            </a:pPr>
            <a:r>
              <a:rPr lang="en-US" sz="1200" b="1" spc="200" kern="0" dirty="0">
                <a:solidFill>
                  <a:srgbClr val="2E7D4F"/>
                </a:solidFill>
                <a:latin typeface="Calibri" pitchFamily="34" charset="0"/>
                <a:ea typeface="Calibri" pitchFamily="34" charset="-122"/>
                <a:cs typeface="Calibri" pitchFamily="34" charset="-120"/>
              </a:rPr>
              <a:t>RESEARCH QUESTION</a:t>
            </a:r>
            <a:endParaRPr lang="en-US" sz="1200" dirty="0"/>
          </a:p>
        </p:txBody>
      </p:sp>
      <p:sp>
        <p:nvSpPr>
          <p:cNvPr id="22" name="Text 20"/>
          <p:cNvSpPr/>
          <p:nvPr/>
        </p:nvSpPr>
        <p:spPr>
          <a:xfrm>
            <a:off x="6675120" y="2011680"/>
            <a:ext cx="4754880" cy="1371600"/>
          </a:xfrm>
          <a:prstGeom prst="rect">
            <a:avLst/>
          </a:prstGeom>
          <a:noFill/>
          <a:ln/>
        </p:spPr>
        <p:txBody>
          <a:bodyPr wrap="square" rtlCol="0" anchor="t"/>
          <a:lstStyle/>
          <a:p>
            <a:pPr indent="0" marL="0">
              <a:buNone/>
            </a:pPr>
            <a:r>
              <a:rPr lang="en-US" sz="2100" b="1" dirty="0">
                <a:solidFill>
                  <a:srgbClr val="1E4D2B"/>
                </a:solidFill>
                <a:latin typeface="Cambria" pitchFamily="34" charset="0"/>
                <a:ea typeface="Cambria" pitchFamily="34" charset="-122"/>
                <a:cs typeface="Cambria" pitchFamily="34" charset="-120"/>
              </a:rPr>
              <a:t>Does adaptivity actually pay, and which signal is the right one to adapt on?</a:t>
            </a:r>
            <a:endParaRPr lang="en-US" sz="2100" dirty="0"/>
          </a:p>
        </p:txBody>
      </p:sp>
      <p:sp>
        <p:nvSpPr>
          <p:cNvPr id="23" name="Text 21"/>
          <p:cNvSpPr/>
          <p:nvPr/>
        </p:nvSpPr>
        <p:spPr>
          <a:xfrm>
            <a:off x="6400800" y="3840480"/>
            <a:ext cx="5212080" cy="365760"/>
          </a:xfrm>
          <a:prstGeom prst="rect">
            <a:avLst/>
          </a:prstGeom>
          <a:noFill/>
          <a:ln/>
        </p:spPr>
        <p:txBody>
          <a:bodyPr wrap="square" lIns="635" tIns="635" rIns="635" bIns="635" rtlCol="0" anchor="t"/>
          <a:lstStyle/>
          <a:p>
            <a:pPr indent="0" marL="0">
              <a:buNone/>
            </a:pPr>
            <a:r>
              <a:rPr lang="en-US" sz="1400" b="1" dirty="0">
                <a:solidFill>
                  <a:srgbClr val="1E4D2B"/>
                </a:solidFill>
                <a:latin typeface="Calibri" pitchFamily="34" charset="0"/>
                <a:ea typeface="Calibri" pitchFamily="34" charset="-122"/>
                <a:cs typeface="Calibri" pitchFamily="34" charset="-120"/>
              </a:rPr>
              <a:t>Three adaptive policies replace only the selection rule</a:t>
            </a:r>
            <a:endParaRPr lang="en-US" sz="1400" dirty="0"/>
          </a:p>
        </p:txBody>
      </p:sp>
      <p:sp>
        <p:nvSpPr>
          <p:cNvPr id="24" name="Shape 22"/>
          <p:cNvSpPr/>
          <p:nvPr/>
        </p:nvSpPr>
        <p:spPr>
          <a:xfrm>
            <a:off x="6400800" y="4297680"/>
            <a:ext cx="5212080" cy="475488"/>
          </a:xfrm>
          <a:prstGeom prst="roundRect">
            <a:avLst>
              <a:gd name="adj" fmla="val 19231"/>
            </a:avLst>
          </a:prstGeom>
          <a:solidFill>
            <a:srgbClr val="FFFFFF"/>
          </a:solidFill>
          <a:ln w="15875">
            <a:solidFill>
              <a:srgbClr val="8FB08C"/>
            </a:solidFill>
            <a:prstDash val="solid"/>
          </a:ln>
        </p:spPr>
      </p:sp>
      <p:sp>
        <p:nvSpPr>
          <p:cNvPr id="25" name="Text 23"/>
          <p:cNvSpPr/>
          <p:nvPr/>
        </p:nvSpPr>
        <p:spPr>
          <a:xfrm>
            <a:off x="6583680" y="4297680"/>
            <a:ext cx="4937760" cy="475488"/>
          </a:xfrm>
          <a:prstGeom prst="rect">
            <a:avLst/>
          </a:prstGeom>
          <a:noFill/>
          <a:ln/>
        </p:spPr>
        <p:txBody>
          <a:bodyPr wrap="square" rtlCol="0" anchor="ctr"/>
          <a:lstStyle/>
          <a:p>
            <a:pPr indent="0" marL="0">
              <a:buNone/>
            </a:pPr>
            <a:r>
              <a:rPr lang="en-US" sz="1400" b="1" dirty="0">
                <a:solidFill>
                  <a:srgbClr val="1E4D2B"/>
                </a:solidFill>
                <a:latin typeface="Calibri" pitchFamily="34" charset="0"/>
                <a:ea typeface="Calibri" pitchFamily="34" charset="-122"/>
                <a:cs typeface="Calibri" pitchFamily="34" charset="-120"/>
              </a:rPr>
              <a:t>Adaptive threshold</a:t>
            </a:r>
            <a:pPr indent="0" marL="0">
              <a:buNone/>
            </a:pPr>
            <a:r>
              <a:rPr lang="en-US" sz="1400" dirty="0">
                <a:solidFill>
                  <a:srgbClr val="6B6B6B"/>
                </a:solidFill>
                <a:latin typeface="Calibri" pitchFamily="34" charset="0"/>
                <a:ea typeface="Calibri" pitchFamily="34" charset="-122"/>
                <a:cs typeface="Calibri" pitchFamily="34" charset="-120"/>
              </a:rPr>
              <a:t>   adapts on residual ratio</a:t>
            </a:r>
            <a:endParaRPr lang="en-US" sz="1400" dirty="0"/>
          </a:p>
        </p:txBody>
      </p:sp>
      <p:sp>
        <p:nvSpPr>
          <p:cNvPr id="26" name="Shape 24"/>
          <p:cNvSpPr/>
          <p:nvPr/>
        </p:nvSpPr>
        <p:spPr>
          <a:xfrm>
            <a:off x="6400800" y="4864608"/>
            <a:ext cx="5212080" cy="475488"/>
          </a:xfrm>
          <a:prstGeom prst="roundRect">
            <a:avLst>
              <a:gd name="adj" fmla="val 19231"/>
            </a:avLst>
          </a:prstGeom>
          <a:solidFill>
            <a:srgbClr val="FFFFFF"/>
          </a:solidFill>
          <a:ln w="15875">
            <a:solidFill>
              <a:srgbClr val="8FB08C"/>
            </a:solidFill>
            <a:prstDash val="solid"/>
          </a:ln>
        </p:spPr>
      </p:sp>
      <p:sp>
        <p:nvSpPr>
          <p:cNvPr id="27" name="Text 25"/>
          <p:cNvSpPr/>
          <p:nvPr/>
        </p:nvSpPr>
        <p:spPr>
          <a:xfrm>
            <a:off x="6583680" y="4864608"/>
            <a:ext cx="4937760" cy="475488"/>
          </a:xfrm>
          <a:prstGeom prst="rect">
            <a:avLst/>
          </a:prstGeom>
          <a:noFill/>
          <a:ln/>
        </p:spPr>
        <p:txBody>
          <a:bodyPr wrap="square" rtlCol="0" anchor="ctr"/>
          <a:lstStyle/>
          <a:p>
            <a:pPr indent="0" marL="0">
              <a:buNone/>
            </a:pPr>
            <a:r>
              <a:rPr lang="en-US" sz="1400" b="1" dirty="0">
                <a:solidFill>
                  <a:srgbClr val="1E4D2B"/>
                </a:solidFill>
                <a:latin typeface="Calibri" pitchFamily="34" charset="0"/>
                <a:ea typeface="Calibri" pitchFamily="34" charset="-122"/>
                <a:cs typeface="Calibri" pitchFamily="34" charset="-120"/>
              </a:rPr>
              <a:t>Cost-aware</a:t>
            </a:r>
            <a:pPr indent="0" marL="0">
              <a:buNone/>
            </a:pPr>
            <a:r>
              <a:rPr lang="en-US" sz="1400" dirty="0">
                <a:solidFill>
                  <a:srgbClr val="6B6B6B"/>
                </a:solidFill>
                <a:latin typeface="Calibri" pitchFamily="34" charset="0"/>
                <a:ea typeface="Calibri" pitchFamily="34" charset="-122"/>
                <a:cs typeface="Calibri" pitchFamily="34" charset="-120"/>
              </a:rPr>
              <a:t>   adapts on progress per f call</a:t>
            </a:r>
            <a:endParaRPr lang="en-US" sz="1400" dirty="0"/>
          </a:p>
        </p:txBody>
      </p:sp>
      <p:sp>
        <p:nvSpPr>
          <p:cNvPr id="28" name="Shape 26"/>
          <p:cNvSpPr/>
          <p:nvPr/>
        </p:nvSpPr>
        <p:spPr>
          <a:xfrm>
            <a:off x="6400800" y="5431536"/>
            <a:ext cx="5212080" cy="475488"/>
          </a:xfrm>
          <a:prstGeom prst="roundRect">
            <a:avLst>
              <a:gd name="adj" fmla="val 19231"/>
            </a:avLst>
          </a:prstGeom>
          <a:solidFill>
            <a:srgbClr val="FFFFFF"/>
          </a:solidFill>
          <a:ln w="15875">
            <a:solidFill>
              <a:srgbClr val="8FB08C"/>
            </a:solidFill>
            <a:prstDash val="solid"/>
          </a:ln>
        </p:spPr>
      </p:sp>
      <p:sp>
        <p:nvSpPr>
          <p:cNvPr id="29" name="Text 27"/>
          <p:cNvSpPr/>
          <p:nvPr/>
        </p:nvSpPr>
        <p:spPr>
          <a:xfrm>
            <a:off x="6583680" y="5431536"/>
            <a:ext cx="4937760" cy="475488"/>
          </a:xfrm>
          <a:prstGeom prst="rect">
            <a:avLst/>
          </a:prstGeom>
          <a:noFill/>
          <a:ln/>
        </p:spPr>
        <p:txBody>
          <a:bodyPr wrap="square" rtlCol="0" anchor="ctr"/>
          <a:lstStyle/>
          <a:p>
            <a:pPr indent="0" marL="0">
              <a:buNone/>
            </a:pPr>
            <a:r>
              <a:rPr lang="en-US" sz="1400" b="1" dirty="0">
                <a:solidFill>
                  <a:srgbClr val="1E4D2B"/>
                </a:solidFill>
                <a:latin typeface="Calibri" pitchFamily="34" charset="0"/>
                <a:ea typeface="Calibri" pitchFamily="34" charset="-122"/>
                <a:cs typeface="Calibri" pitchFamily="34" charset="-120"/>
              </a:rPr>
              <a:t>Stagnation-aware</a:t>
            </a:r>
            <a:pPr indent="0" marL="0">
              <a:buNone/>
            </a:pPr>
            <a:r>
              <a:rPr lang="en-US" sz="1400" dirty="0">
                <a:solidFill>
                  <a:srgbClr val="6B6B6B"/>
                </a:solidFill>
                <a:latin typeface="Calibri" pitchFamily="34" charset="0"/>
                <a:ea typeface="Calibri" pitchFamily="34" charset="-122"/>
                <a:cs typeface="Calibri" pitchFamily="34" charset="-120"/>
              </a:rPr>
              <a:t>   adapts on endpoint reuse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Implementation: One Engine, Pluggable Selectors</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Any difference in the results comes from the switching rule alone</a:t>
            </a:r>
            <a:endParaRPr lang="en-US" sz="1500" dirty="0"/>
          </a:p>
        </p:txBody>
      </p:sp>
      <p:sp>
        <p:nvSpPr>
          <p:cNvPr id="7" name="Shape 5"/>
          <p:cNvSpPr/>
          <p:nvPr/>
        </p:nvSpPr>
        <p:spPr>
          <a:xfrm>
            <a:off x="3017520" y="1417320"/>
            <a:ext cx="4023360" cy="502920"/>
          </a:xfrm>
          <a:prstGeom prst="roundRect">
            <a:avLst>
              <a:gd name="adj" fmla="val 14545"/>
            </a:avLst>
          </a:prstGeom>
          <a:solidFill>
            <a:srgbClr val="1E4D2B"/>
          </a:solidFill>
          <a:ln w="12700">
            <a:solidFill>
              <a:srgbClr val="1E4D2B"/>
            </a:solidFill>
            <a:prstDash val="solid"/>
          </a:ln>
        </p:spPr>
      </p:sp>
      <p:sp>
        <p:nvSpPr>
          <p:cNvPr id="8" name="Text 6"/>
          <p:cNvSpPr/>
          <p:nvPr/>
        </p:nvSpPr>
        <p:spPr>
          <a:xfrm>
            <a:off x="3017520" y="1417320"/>
            <a:ext cx="4023360" cy="50292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main.py — experiment driver &amp; CLI</a:t>
            </a:r>
            <a:endParaRPr lang="en-US" sz="1300" dirty="0"/>
          </a:p>
        </p:txBody>
      </p:sp>
      <p:sp>
        <p:nvSpPr>
          <p:cNvPr id="9" name="Shape 7"/>
          <p:cNvSpPr/>
          <p:nvPr/>
        </p:nvSpPr>
        <p:spPr>
          <a:xfrm>
            <a:off x="5029200" y="1920240"/>
            <a:ext cx="914" cy="320040"/>
          </a:xfrm>
          <a:prstGeom prst="line">
            <a:avLst/>
          </a:prstGeom>
          <a:noFill/>
          <a:ln w="19050">
            <a:solidFill>
              <a:srgbClr val="2E7D4F"/>
            </a:solidFill>
            <a:prstDash val="solid"/>
            <a:tailEnd type="triangle"/>
          </a:ln>
        </p:spPr>
      </p:sp>
      <p:sp>
        <p:nvSpPr>
          <p:cNvPr id="10" name="Shape 8"/>
          <p:cNvSpPr/>
          <p:nvPr/>
        </p:nvSpPr>
        <p:spPr>
          <a:xfrm>
            <a:off x="548640" y="2240280"/>
            <a:ext cx="8412480" cy="3063240"/>
          </a:xfrm>
          <a:prstGeom prst="roundRect">
            <a:avLst>
              <a:gd name="adj" fmla="val 2388"/>
            </a:avLst>
          </a:prstGeom>
          <a:solidFill>
            <a:srgbClr val="F6F9F6"/>
          </a:solidFill>
          <a:ln w="12700">
            <a:solidFill>
              <a:srgbClr val="8FB08C"/>
            </a:solidFill>
            <a:prstDash val="solid"/>
          </a:ln>
        </p:spPr>
      </p:sp>
      <p:sp>
        <p:nvSpPr>
          <p:cNvPr id="11" name="Text 9"/>
          <p:cNvSpPr/>
          <p:nvPr/>
        </p:nvSpPr>
        <p:spPr>
          <a:xfrm>
            <a:off x="731520" y="2304288"/>
            <a:ext cx="8046720" cy="320040"/>
          </a:xfrm>
          <a:prstGeom prst="rect">
            <a:avLst/>
          </a:prstGeom>
          <a:noFill/>
          <a:ln/>
        </p:spPr>
        <p:txBody>
          <a:bodyPr wrap="square" lIns="635" tIns="635" rIns="635" bIns="635" rtlCol="0" anchor="t"/>
          <a:lstStyle/>
          <a:p>
            <a:pPr indent="0" marL="0">
              <a:buNone/>
            </a:pPr>
            <a:r>
              <a:rPr lang="en-US" sz="1300" b="1" dirty="0">
                <a:solidFill>
                  <a:srgbClr val="1E4D2B"/>
                </a:solidFill>
                <a:latin typeface="Calibri" pitchFamily="34" charset="0"/>
                <a:ea typeface="Calibri" pitchFamily="34" charset="-122"/>
                <a:cs typeface="Calibri" pitchFamily="34" charset="-120"/>
              </a:rPr>
              <a:t>Bracketed methods (8) — guaranteed to keep a sign change</a:t>
            </a:r>
            <a:endParaRPr lang="en-US" sz="1300" dirty="0"/>
          </a:p>
        </p:txBody>
      </p:sp>
      <p:sp>
        <p:nvSpPr>
          <p:cNvPr id="12" name="Text 10"/>
          <p:cNvSpPr/>
          <p:nvPr/>
        </p:nvSpPr>
        <p:spPr>
          <a:xfrm>
            <a:off x="731520" y="2606040"/>
            <a:ext cx="8046720" cy="274320"/>
          </a:xfrm>
          <a:prstGeom prst="rect">
            <a:avLst/>
          </a:prstGeom>
          <a:noFill/>
          <a:ln/>
        </p:spPr>
        <p:txBody>
          <a:bodyPr wrap="square" lIns="635" tIns="635" rIns="635" bIns="635" rtlCol="0" anchor="t"/>
          <a:lstStyle/>
          <a:p>
            <a:pPr indent="0" marL="0">
              <a:buNone/>
            </a:pPr>
            <a:r>
              <a:rPr lang="en-US" sz="1150" i="1" dirty="0">
                <a:solidFill>
                  <a:srgbClr val="6B6B6B"/>
                </a:solidFill>
                <a:latin typeface="Calibri" pitchFamily="34" charset="0"/>
                <a:ea typeface="Calibri" pitchFamily="34" charset="-122"/>
                <a:cs typeface="Calibri" pitchFamily="34" charset="-120"/>
              </a:rPr>
              <a:t>Selector.choose() / observe()  — which candidate(s) to evaluate this step</a:t>
            </a:r>
            <a:endParaRPr lang="en-US" sz="1150" dirty="0"/>
          </a:p>
        </p:txBody>
      </p:sp>
      <p:sp>
        <p:nvSpPr>
          <p:cNvPr id="13" name="Shape 11"/>
          <p:cNvSpPr/>
          <p:nvPr/>
        </p:nvSpPr>
        <p:spPr>
          <a:xfrm>
            <a:off x="777240" y="2926080"/>
            <a:ext cx="1874520" cy="411480"/>
          </a:xfrm>
          <a:prstGeom prst="roundRect">
            <a:avLst>
              <a:gd name="adj" fmla="val 17778"/>
            </a:avLst>
          </a:prstGeom>
          <a:solidFill>
            <a:srgbClr val="D9DED9"/>
          </a:solidFill>
          <a:ln w="12700">
            <a:solidFill>
              <a:srgbClr val="D9DED9"/>
            </a:solidFill>
            <a:prstDash val="solid"/>
          </a:ln>
        </p:spPr>
      </p:sp>
      <p:sp>
        <p:nvSpPr>
          <p:cNvPr id="14" name="Text 12"/>
          <p:cNvSpPr/>
          <p:nvPr/>
        </p:nvSpPr>
        <p:spPr>
          <a:xfrm>
            <a:off x="777240" y="2926080"/>
            <a:ext cx="1874520" cy="411480"/>
          </a:xfrm>
          <a:prstGeom prst="rect">
            <a:avLst/>
          </a:prstGeom>
          <a:noFill/>
          <a:ln/>
        </p:spPr>
        <p:txBody>
          <a:bodyPr wrap="square" lIns="635" tIns="635" rIns="635" bIns="635"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Bisection</a:t>
            </a:r>
            <a:endParaRPr lang="en-US" sz="1200" dirty="0"/>
          </a:p>
        </p:txBody>
      </p:sp>
      <p:sp>
        <p:nvSpPr>
          <p:cNvPr id="15" name="Shape 13"/>
          <p:cNvSpPr/>
          <p:nvPr/>
        </p:nvSpPr>
        <p:spPr>
          <a:xfrm>
            <a:off x="2788920" y="2926080"/>
            <a:ext cx="1874520" cy="411480"/>
          </a:xfrm>
          <a:prstGeom prst="roundRect">
            <a:avLst>
              <a:gd name="adj" fmla="val 17778"/>
            </a:avLst>
          </a:prstGeom>
          <a:solidFill>
            <a:srgbClr val="D9DED9"/>
          </a:solidFill>
          <a:ln w="12700">
            <a:solidFill>
              <a:srgbClr val="D9DED9"/>
            </a:solidFill>
            <a:prstDash val="solid"/>
          </a:ln>
        </p:spPr>
      </p:sp>
      <p:sp>
        <p:nvSpPr>
          <p:cNvPr id="16" name="Text 14"/>
          <p:cNvSpPr/>
          <p:nvPr/>
        </p:nvSpPr>
        <p:spPr>
          <a:xfrm>
            <a:off x="2788920" y="2926080"/>
            <a:ext cx="1874520" cy="411480"/>
          </a:xfrm>
          <a:prstGeom prst="rect">
            <a:avLst/>
          </a:prstGeom>
          <a:noFill/>
          <a:ln/>
        </p:spPr>
        <p:txBody>
          <a:bodyPr wrap="square" lIns="635" tIns="635" rIns="635" bIns="635"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Trisection</a:t>
            </a:r>
            <a:endParaRPr lang="en-US" sz="1200" dirty="0"/>
          </a:p>
        </p:txBody>
      </p:sp>
      <p:sp>
        <p:nvSpPr>
          <p:cNvPr id="17" name="Shape 15"/>
          <p:cNvSpPr/>
          <p:nvPr/>
        </p:nvSpPr>
        <p:spPr>
          <a:xfrm>
            <a:off x="4800600" y="2926080"/>
            <a:ext cx="1874520" cy="411480"/>
          </a:xfrm>
          <a:prstGeom prst="roundRect">
            <a:avLst>
              <a:gd name="adj" fmla="val 17778"/>
            </a:avLst>
          </a:prstGeom>
          <a:solidFill>
            <a:srgbClr val="D9DED9"/>
          </a:solidFill>
          <a:ln w="12700">
            <a:solidFill>
              <a:srgbClr val="D9DED9"/>
            </a:solidFill>
            <a:prstDash val="solid"/>
          </a:ln>
        </p:spPr>
      </p:sp>
      <p:sp>
        <p:nvSpPr>
          <p:cNvPr id="18" name="Text 16"/>
          <p:cNvSpPr/>
          <p:nvPr/>
        </p:nvSpPr>
        <p:spPr>
          <a:xfrm>
            <a:off x="4800600" y="2926080"/>
            <a:ext cx="1874520" cy="411480"/>
          </a:xfrm>
          <a:prstGeom prst="rect">
            <a:avLst/>
          </a:prstGeom>
          <a:noFill/>
          <a:ln/>
        </p:spPr>
        <p:txBody>
          <a:bodyPr wrap="square" lIns="635" tIns="635" rIns="635" bIns="635"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False position</a:t>
            </a:r>
            <a:endParaRPr lang="en-US" sz="1200" dirty="0"/>
          </a:p>
        </p:txBody>
      </p:sp>
      <p:sp>
        <p:nvSpPr>
          <p:cNvPr id="19" name="Shape 17"/>
          <p:cNvSpPr/>
          <p:nvPr/>
        </p:nvSpPr>
        <p:spPr>
          <a:xfrm>
            <a:off x="6812280" y="2926080"/>
            <a:ext cx="1874520" cy="411480"/>
          </a:xfrm>
          <a:prstGeom prst="roundRect">
            <a:avLst>
              <a:gd name="adj" fmla="val 17778"/>
            </a:avLst>
          </a:prstGeom>
          <a:solidFill>
            <a:srgbClr val="8FB08C"/>
          </a:solidFill>
          <a:ln w="12700">
            <a:solidFill>
              <a:srgbClr val="8FB08C"/>
            </a:solidFill>
            <a:prstDash val="solid"/>
          </a:ln>
        </p:spPr>
      </p:sp>
      <p:sp>
        <p:nvSpPr>
          <p:cNvPr id="20" name="Text 18"/>
          <p:cNvSpPr/>
          <p:nvPr/>
        </p:nvSpPr>
        <p:spPr>
          <a:xfrm>
            <a:off x="6812280" y="2926080"/>
            <a:ext cx="1874520" cy="41148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Static BF</a:t>
            </a:r>
            <a:endParaRPr lang="en-US" sz="1200" dirty="0"/>
          </a:p>
        </p:txBody>
      </p:sp>
      <p:sp>
        <p:nvSpPr>
          <p:cNvPr id="21" name="Shape 19"/>
          <p:cNvSpPr/>
          <p:nvPr/>
        </p:nvSpPr>
        <p:spPr>
          <a:xfrm>
            <a:off x="777240" y="3429000"/>
            <a:ext cx="1874520" cy="411480"/>
          </a:xfrm>
          <a:prstGeom prst="roundRect">
            <a:avLst>
              <a:gd name="adj" fmla="val 17778"/>
            </a:avLst>
          </a:prstGeom>
          <a:solidFill>
            <a:srgbClr val="8FB08C"/>
          </a:solidFill>
          <a:ln w="12700">
            <a:solidFill>
              <a:srgbClr val="8FB08C"/>
            </a:solidFill>
            <a:prstDash val="solid"/>
          </a:ln>
        </p:spPr>
      </p:sp>
      <p:sp>
        <p:nvSpPr>
          <p:cNvPr id="22" name="Text 20"/>
          <p:cNvSpPr/>
          <p:nvPr/>
        </p:nvSpPr>
        <p:spPr>
          <a:xfrm>
            <a:off x="777240" y="3429000"/>
            <a:ext cx="1874520" cy="41148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Static TF</a:t>
            </a:r>
            <a:endParaRPr lang="en-US" sz="1200" dirty="0"/>
          </a:p>
        </p:txBody>
      </p:sp>
      <p:sp>
        <p:nvSpPr>
          <p:cNvPr id="23" name="Shape 21"/>
          <p:cNvSpPr/>
          <p:nvPr/>
        </p:nvSpPr>
        <p:spPr>
          <a:xfrm>
            <a:off x="2788920" y="3429000"/>
            <a:ext cx="1874520" cy="411480"/>
          </a:xfrm>
          <a:prstGeom prst="roundRect">
            <a:avLst>
              <a:gd name="adj" fmla="val 17778"/>
            </a:avLst>
          </a:prstGeom>
          <a:solidFill>
            <a:srgbClr val="E07B30"/>
          </a:solidFill>
          <a:ln w="12700">
            <a:solidFill>
              <a:srgbClr val="E07B30"/>
            </a:solidFill>
            <a:prstDash val="solid"/>
          </a:ln>
        </p:spPr>
      </p:sp>
      <p:sp>
        <p:nvSpPr>
          <p:cNvPr id="24" name="Text 22"/>
          <p:cNvSpPr/>
          <p:nvPr/>
        </p:nvSpPr>
        <p:spPr>
          <a:xfrm>
            <a:off x="2788920" y="3429000"/>
            <a:ext cx="1874520" cy="41148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Adaptive threshold</a:t>
            </a:r>
            <a:endParaRPr lang="en-US" sz="1200" dirty="0"/>
          </a:p>
        </p:txBody>
      </p:sp>
      <p:sp>
        <p:nvSpPr>
          <p:cNvPr id="25" name="Shape 23"/>
          <p:cNvSpPr/>
          <p:nvPr/>
        </p:nvSpPr>
        <p:spPr>
          <a:xfrm>
            <a:off x="4800600" y="3429000"/>
            <a:ext cx="1874520" cy="411480"/>
          </a:xfrm>
          <a:prstGeom prst="roundRect">
            <a:avLst>
              <a:gd name="adj" fmla="val 17778"/>
            </a:avLst>
          </a:prstGeom>
          <a:solidFill>
            <a:srgbClr val="E07B30"/>
          </a:solidFill>
          <a:ln w="12700">
            <a:solidFill>
              <a:srgbClr val="E07B30"/>
            </a:solidFill>
            <a:prstDash val="solid"/>
          </a:ln>
        </p:spPr>
      </p:sp>
      <p:sp>
        <p:nvSpPr>
          <p:cNvPr id="26" name="Text 24"/>
          <p:cNvSpPr/>
          <p:nvPr/>
        </p:nvSpPr>
        <p:spPr>
          <a:xfrm>
            <a:off x="4800600" y="3429000"/>
            <a:ext cx="1874520" cy="41148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Cost-aware</a:t>
            </a:r>
            <a:endParaRPr lang="en-US" sz="1200" dirty="0"/>
          </a:p>
        </p:txBody>
      </p:sp>
      <p:sp>
        <p:nvSpPr>
          <p:cNvPr id="27" name="Shape 25"/>
          <p:cNvSpPr/>
          <p:nvPr/>
        </p:nvSpPr>
        <p:spPr>
          <a:xfrm>
            <a:off x="6812280" y="3429000"/>
            <a:ext cx="1874520" cy="411480"/>
          </a:xfrm>
          <a:prstGeom prst="roundRect">
            <a:avLst>
              <a:gd name="adj" fmla="val 17778"/>
            </a:avLst>
          </a:prstGeom>
          <a:solidFill>
            <a:srgbClr val="E07B30"/>
          </a:solidFill>
          <a:ln w="12700">
            <a:solidFill>
              <a:srgbClr val="E07B30"/>
            </a:solidFill>
            <a:prstDash val="solid"/>
          </a:ln>
        </p:spPr>
      </p:sp>
      <p:sp>
        <p:nvSpPr>
          <p:cNvPr id="28" name="Text 26"/>
          <p:cNvSpPr/>
          <p:nvPr/>
        </p:nvSpPr>
        <p:spPr>
          <a:xfrm>
            <a:off x="6812280" y="3429000"/>
            <a:ext cx="1874520" cy="41148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Stagnation-aware</a:t>
            </a:r>
            <a:endParaRPr lang="en-US" sz="1200" dirty="0"/>
          </a:p>
        </p:txBody>
      </p:sp>
      <p:sp>
        <p:nvSpPr>
          <p:cNvPr id="29" name="Shape 27"/>
          <p:cNvSpPr/>
          <p:nvPr/>
        </p:nvSpPr>
        <p:spPr>
          <a:xfrm>
            <a:off x="3657600" y="3931920"/>
            <a:ext cx="914" cy="411480"/>
          </a:xfrm>
          <a:prstGeom prst="line">
            <a:avLst/>
          </a:prstGeom>
          <a:noFill/>
          <a:ln w="19050">
            <a:solidFill>
              <a:srgbClr val="2E7D4F"/>
            </a:solidFill>
            <a:prstDash val="solid"/>
            <a:tailEnd type="triangle"/>
          </a:ln>
        </p:spPr>
      </p:sp>
      <p:sp>
        <p:nvSpPr>
          <p:cNvPr id="30" name="Shape 28"/>
          <p:cNvSpPr/>
          <p:nvPr/>
        </p:nvSpPr>
        <p:spPr>
          <a:xfrm flipV="1">
            <a:off x="5852160" y="3931920"/>
            <a:ext cx="914" cy="411480"/>
          </a:xfrm>
          <a:prstGeom prst="line">
            <a:avLst/>
          </a:prstGeom>
          <a:noFill/>
          <a:ln w="19050">
            <a:solidFill>
              <a:srgbClr val="2E7D4F"/>
            </a:solidFill>
            <a:prstDash val="solid"/>
            <a:tailEnd type="triangle"/>
          </a:ln>
        </p:spPr>
      </p:sp>
      <p:sp>
        <p:nvSpPr>
          <p:cNvPr id="31" name="Text 29"/>
          <p:cNvSpPr/>
          <p:nvPr/>
        </p:nvSpPr>
        <p:spPr>
          <a:xfrm>
            <a:off x="2194560" y="3995928"/>
            <a:ext cx="1417320" cy="274320"/>
          </a:xfrm>
          <a:prstGeom prst="rect">
            <a:avLst/>
          </a:prstGeom>
          <a:noFill/>
          <a:ln/>
        </p:spPr>
        <p:txBody>
          <a:bodyPr wrap="square" lIns="635" tIns="635" rIns="635" bIns="635" rtlCol="0" anchor="t"/>
          <a:lstStyle/>
          <a:p>
            <a:pPr algn="r" indent="0" marL="0">
              <a:buNone/>
            </a:pPr>
            <a:r>
              <a:rPr lang="en-US" sz="1050" i="1" dirty="0">
                <a:solidFill>
                  <a:srgbClr val="6B6B6B"/>
                </a:solidFill>
                <a:latin typeface="Calibri" pitchFamily="34" charset="0"/>
                <a:ea typeface="Calibri" pitchFamily="34" charset="-122"/>
                <a:cs typeface="Calibri" pitchFamily="34" charset="-120"/>
              </a:rPr>
              <a:t>candidate points</a:t>
            </a:r>
            <a:endParaRPr lang="en-US" sz="1050" dirty="0"/>
          </a:p>
        </p:txBody>
      </p:sp>
      <p:sp>
        <p:nvSpPr>
          <p:cNvPr id="32" name="Text 30"/>
          <p:cNvSpPr/>
          <p:nvPr/>
        </p:nvSpPr>
        <p:spPr>
          <a:xfrm>
            <a:off x="5943600" y="3995928"/>
            <a:ext cx="2011680" cy="274320"/>
          </a:xfrm>
          <a:prstGeom prst="rect">
            <a:avLst/>
          </a:prstGeom>
          <a:noFill/>
          <a:ln/>
        </p:spPr>
        <p:txBody>
          <a:bodyPr wrap="square" lIns="635" tIns="635" rIns="635" bIns="635" rtlCol="0" anchor="t"/>
          <a:lstStyle/>
          <a:p>
            <a:pPr indent="0" marL="0">
              <a:buNone/>
            </a:pPr>
            <a:r>
              <a:rPr lang="en-US" sz="1050" i="1" dirty="0">
                <a:solidFill>
                  <a:srgbClr val="6B6B6B"/>
                </a:solidFill>
                <a:latin typeface="Calibri" pitchFamily="34" charset="0"/>
                <a:ea typeface="Calibri" pitchFamily="34" charset="-122"/>
                <a:cs typeface="Calibri" pitchFamily="34" charset="-120"/>
              </a:rPr>
              <a:t>new bracket, residuals</a:t>
            </a:r>
            <a:endParaRPr lang="en-US" sz="1050" dirty="0"/>
          </a:p>
        </p:txBody>
      </p:sp>
      <p:sp>
        <p:nvSpPr>
          <p:cNvPr id="33" name="Shape 31"/>
          <p:cNvSpPr/>
          <p:nvPr/>
        </p:nvSpPr>
        <p:spPr>
          <a:xfrm>
            <a:off x="777240" y="4343400"/>
            <a:ext cx="7955280" cy="822960"/>
          </a:xfrm>
          <a:prstGeom prst="roundRect">
            <a:avLst>
              <a:gd name="adj" fmla="val 8889"/>
            </a:avLst>
          </a:prstGeom>
          <a:solidFill>
            <a:srgbClr val="1E4D2B"/>
          </a:solidFill>
          <a:ln w="12700">
            <a:solidFill>
              <a:srgbClr val="1E4D2B"/>
            </a:solidFill>
            <a:prstDash val="solid"/>
          </a:ln>
        </p:spPr>
      </p:sp>
      <p:sp>
        <p:nvSpPr>
          <p:cNvPr id="34" name="Text 32"/>
          <p:cNvSpPr/>
          <p:nvPr/>
        </p:nvSpPr>
        <p:spPr>
          <a:xfrm>
            <a:off x="777240" y="4343400"/>
            <a:ext cx="7955280" cy="82296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Shared bracket engine (Bracket.narrow)</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Cached f evaluations · keep first adjacent sign change among all evaluated points · stop only when |f(x)| ≤ ε</a:t>
            </a:r>
            <a:endParaRPr lang="en-US" sz="1200" dirty="0"/>
          </a:p>
        </p:txBody>
      </p:sp>
      <p:sp>
        <p:nvSpPr>
          <p:cNvPr id="35" name="Shape 33"/>
          <p:cNvSpPr/>
          <p:nvPr/>
        </p:nvSpPr>
        <p:spPr>
          <a:xfrm>
            <a:off x="9189720" y="2240280"/>
            <a:ext cx="2468880" cy="3063240"/>
          </a:xfrm>
          <a:prstGeom prst="roundRect">
            <a:avLst>
              <a:gd name="adj" fmla="val 2963"/>
            </a:avLst>
          </a:prstGeom>
          <a:solidFill>
            <a:srgbClr val="FFFFFF"/>
          </a:solidFill>
          <a:ln w="12700">
            <a:solidFill>
              <a:srgbClr val="C9D6C9"/>
            </a:solidFill>
            <a:prstDash val="solid"/>
          </a:ln>
        </p:spPr>
      </p:sp>
      <p:sp>
        <p:nvSpPr>
          <p:cNvPr id="36" name="Text 34"/>
          <p:cNvSpPr/>
          <p:nvPr/>
        </p:nvSpPr>
        <p:spPr>
          <a:xfrm>
            <a:off x="9326880" y="2304288"/>
            <a:ext cx="2194560" cy="320040"/>
          </a:xfrm>
          <a:prstGeom prst="rect">
            <a:avLst/>
          </a:prstGeom>
          <a:noFill/>
          <a:ln/>
        </p:spPr>
        <p:txBody>
          <a:bodyPr wrap="square" lIns="635" tIns="635" rIns="635" bIns="635" rtlCol="0" anchor="t"/>
          <a:lstStyle/>
          <a:p>
            <a:pPr indent="0" marL="0">
              <a:buNone/>
            </a:pPr>
            <a:r>
              <a:rPr lang="en-US" sz="1300" b="1" dirty="0">
                <a:solidFill>
                  <a:srgbClr val="1E4D2B"/>
                </a:solidFill>
                <a:latin typeface="Calibri" pitchFamily="34" charset="0"/>
                <a:ea typeface="Calibri" pitchFamily="34" charset="-122"/>
                <a:cs typeface="Calibri" pitchFamily="34" charset="-120"/>
              </a:rPr>
              <a:t>Open methods (2)</a:t>
            </a:r>
            <a:endParaRPr lang="en-US" sz="1300" dirty="0"/>
          </a:p>
        </p:txBody>
      </p:sp>
      <p:sp>
        <p:nvSpPr>
          <p:cNvPr id="37" name="Shape 35"/>
          <p:cNvSpPr/>
          <p:nvPr/>
        </p:nvSpPr>
        <p:spPr>
          <a:xfrm>
            <a:off x="9372600" y="2743200"/>
            <a:ext cx="2103120" cy="411480"/>
          </a:xfrm>
          <a:prstGeom prst="roundRect">
            <a:avLst>
              <a:gd name="adj" fmla="val 17778"/>
            </a:avLst>
          </a:prstGeom>
          <a:solidFill>
            <a:srgbClr val="D9DED9"/>
          </a:solidFill>
          <a:ln w="12700">
            <a:solidFill>
              <a:srgbClr val="D9DED9"/>
            </a:solidFill>
            <a:prstDash val="solid"/>
          </a:ln>
        </p:spPr>
      </p:sp>
      <p:sp>
        <p:nvSpPr>
          <p:cNvPr id="38" name="Text 36"/>
          <p:cNvSpPr/>
          <p:nvPr/>
        </p:nvSpPr>
        <p:spPr>
          <a:xfrm>
            <a:off x="9372600" y="2743200"/>
            <a:ext cx="2103120" cy="411480"/>
          </a:xfrm>
          <a:prstGeom prst="rect">
            <a:avLst/>
          </a:prstGeom>
          <a:noFill/>
          <a:ln/>
        </p:spPr>
        <p:txBody>
          <a:bodyPr wrap="square" lIns="635" tIns="635" rIns="635" bIns="635"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Newton</a:t>
            </a:r>
            <a:endParaRPr lang="en-US" sz="1200" dirty="0"/>
          </a:p>
        </p:txBody>
      </p:sp>
      <p:sp>
        <p:nvSpPr>
          <p:cNvPr id="39" name="Shape 37"/>
          <p:cNvSpPr/>
          <p:nvPr/>
        </p:nvSpPr>
        <p:spPr>
          <a:xfrm>
            <a:off x="9372600" y="3246120"/>
            <a:ext cx="2103120" cy="411480"/>
          </a:xfrm>
          <a:prstGeom prst="roundRect">
            <a:avLst>
              <a:gd name="adj" fmla="val 17778"/>
            </a:avLst>
          </a:prstGeom>
          <a:solidFill>
            <a:srgbClr val="D9DED9"/>
          </a:solidFill>
          <a:ln w="12700">
            <a:solidFill>
              <a:srgbClr val="D9DED9"/>
            </a:solidFill>
            <a:prstDash val="solid"/>
          </a:ln>
        </p:spPr>
      </p:sp>
      <p:sp>
        <p:nvSpPr>
          <p:cNvPr id="40" name="Text 38"/>
          <p:cNvSpPr/>
          <p:nvPr/>
        </p:nvSpPr>
        <p:spPr>
          <a:xfrm>
            <a:off x="9372600" y="3246120"/>
            <a:ext cx="2103120" cy="411480"/>
          </a:xfrm>
          <a:prstGeom prst="rect">
            <a:avLst/>
          </a:prstGeom>
          <a:noFill/>
          <a:ln/>
        </p:spPr>
        <p:txBody>
          <a:bodyPr wrap="square" lIns="635" tIns="635" rIns="635" bIns="635"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Secant</a:t>
            </a:r>
            <a:endParaRPr lang="en-US" sz="1200" dirty="0"/>
          </a:p>
        </p:txBody>
      </p:sp>
      <p:sp>
        <p:nvSpPr>
          <p:cNvPr id="41" name="Text 39"/>
          <p:cNvSpPr/>
          <p:nvPr/>
        </p:nvSpPr>
        <p:spPr>
          <a:xfrm>
            <a:off x="9326880" y="3749040"/>
            <a:ext cx="2240280" cy="1463040"/>
          </a:xfrm>
          <a:prstGeom prst="rect">
            <a:avLst/>
          </a:prstGeom>
          <a:noFill/>
          <a:ln/>
        </p:spPr>
        <p:txBody>
          <a:bodyPr wrap="square" lIns="635" tIns="635" rIns="635" bIns="635" rtlCol="0" anchor="t"/>
          <a:lstStyle/>
          <a:p>
            <a:pPr indent="0" marL="0">
              <a:buNone/>
            </a:pPr>
            <a:r>
              <a:rPr lang="en-US" sz="1150" dirty="0">
                <a:solidFill>
                  <a:srgbClr val="6B6B6B"/>
                </a:solidFill>
                <a:latin typeface="Calibri" pitchFamily="34" charset="0"/>
                <a:ea typeface="Calibri" pitchFamily="34" charset="-122"/>
                <a:cs typeface="Calibri" pitchFamily="34" charset="-120"/>
              </a:rPr>
              <a:t>Classical and unsafeguarded: no clipping, no bracketed fallback. Newton starts at the left endpoint.</a:t>
            </a:r>
            <a:endParaRPr lang="en-US" sz="1150" dirty="0"/>
          </a:p>
        </p:txBody>
      </p:sp>
      <p:sp>
        <p:nvSpPr>
          <p:cNvPr id="42" name="Shape 40"/>
          <p:cNvSpPr/>
          <p:nvPr/>
        </p:nvSpPr>
        <p:spPr>
          <a:xfrm>
            <a:off x="7040880" y="1673352"/>
            <a:ext cx="3383280" cy="914"/>
          </a:xfrm>
          <a:prstGeom prst="line">
            <a:avLst/>
          </a:prstGeom>
          <a:noFill/>
          <a:ln w="19050">
            <a:solidFill>
              <a:srgbClr val="2E7D4F"/>
            </a:solidFill>
            <a:prstDash val="solid"/>
            <a:tailEnd type="triangle"/>
          </a:ln>
        </p:spPr>
      </p:sp>
      <p:sp>
        <p:nvSpPr>
          <p:cNvPr id="43" name="Shape 41"/>
          <p:cNvSpPr/>
          <p:nvPr/>
        </p:nvSpPr>
        <p:spPr>
          <a:xfrm>
            <a:off x="10424160" y="1673352"/>
            <a:ext cx="914" cy="566928"/>
          </a:xfrm>
          <a:prstGeom prst="line">
            <a:avLst/>
          </a:prstGeom>
          <a:noFill/>
          <a:ln w="19050">
            <a:solidFill>
              <a:srgbClr val="2E7D4F"/>
            </a:solidFill>
            <a:prstDash val="solid"/>
            <a:tailEnd type="triangle"/>
          </a:ln>
        </p:spPr>
      </p:sp>
      <p:sp>
        <p:nvSpPr>
          <p:cNvPr id="44" name="Shape 42"/>
          <p:cNvSpPr/>
          <p:nvPr/>
        </p:nvSpPr>
        <p:spPr>
          <a:xfrm>
            <a:off x="4754880" y="5303520"/>
            <a:ext cx="914" cy="274320"/>
          </a:xfrm>
          <a:prstGeom prst="line">
            <a:avLst/>
          </a:prstGeom>
          <a:noFill/>
          <a:ln w="19050">
            <a:solidFill>
              <a:srgbClr val="2E7D4F"/>
            </a:solidFill>
            <a:prstDash val="solid"/>
            <a:tailEnd type="triangle"/>
          </a:ln>
        </p:spPr>
      </p:sp>
      <p:sp>
        <p:nvSpPr>
          <p:cNvPr id="45" name="Shape 43"/>
          <p:cNvSpPr/>
          <p:nvPr/>
        </p:nvSpPr>
        <p:spPr>
          <a:xfrm>
            <a:off x="548640" y="5577840"/>
            <a:ext cx="11109960" cy="548640"/>
          </a:xfrm>
          <a:prstGeom prst="roundRect">
            <a:avLst>
              <a:gd name="adj" fmla="val 13333"/>
            </a:avLst>
          </a:prstGeom>
          <a:solidFill>
            <a:srgbClr val="E6EFE6"/>
          </a:solidFill>
          <a:ln w="12700">
            <a:solidFill>
              <a:srgbClr val="E6EFE6"/>
            </a:solidFill>
            <a:prstDash val="solid"/>
          </a:ln>
        </p:spPr>
      </p:sp>
      <p:sp>
        <p:nvSpPr>
          <p:cNvPr id="46" name="Text 44"/>
          <p:cNvSpPr/>
          <p:nvPr/>
        </p:nvSpPr>
        <p:spPr>
          <a:xfrm>
            <a:off x="548640" y="5577840"/>
            <a:ext cx="11109960" cy="548640"/>
          </a:xfrm>
          <a:prstGeom prst="rect">
            <a:avLst/>
          </a:prstGeom>
          <a:noFill/>
          <a:ln/>
        </p:spPr>
        <p:txBody>
          <a:bodyPr wrap="square" lIns="635" tIns="635" rIns="635" bIns="635" rtlCol="0" anchor="ctr"/>
          <a:lstStyle/>
          <a:p>
            <a:pPr algn="ctr" indent="0" marL="0">
              <a:buNone/>
            </a:pPr>
            <a:r>
              <a:rPr lang="en-US" sz="1250" b="1" dirty="0">
                <a:solidFill>
                  <a:srgbClr val="1E4D2B"/>
                </a:solidFill>
                <a:latin typeface="Calibri" pitchFamily="34" charset="0"/>
                <a:ea typeface="Calibri" pitchFamily="34" charset="-122"/>
                <a:cs typeface="Calibri" pitchFamily="34" charset="-120"/>
              </a:rPr>
              <a:t>experiment.py — 1 warm-up + 10 timed runs · 80-digit mpmath reference roots · results / comparisons / histories / plots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The Three Policies, As Implemented</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The proposal gave ideas, not pseudocode; these are our exact definitions</a:t>
            </a:r>
            <a:endParaRPr lang="en-US" sz="1500" dirty="0"/>
          </a:p>
        </p:txBody>
      </p:sp>
      <p:sp>
        <p:nvSpPr>
          <p:cNvPr id="7" name="Shape 5"/>
          <p:cNvSpPr/>
          <p:nvPr/>
        </p:nvSpPr>
        <p:spPr>
          <a:xfrm>
            <a:off x="548640" y="1463040"/>
            <a:ext cx="3520440" cy="4572000"/>
          </a:xfrm>
          <a:prstGeom prst="roundRect">
            <a:avLst>
              <a:gd name="adj" fmla="val 2078"/>
            </a:avLst>
          </a:prstGeom>
          <a:solidFill>
            <a:srgbClr val="FFFFFF"/>
          </a:solidFill>
          <a:ln w="12700">
            <a:solidFill>
              <a:srgbClr val="C9D6C9"/>
            </a:solidFill>
            <a:prstDash val="solid"/>
          </a:ln>
        </p:spPr>
      </p:sp>
      <p:sp>
        <p:nvSpPr>
          <p:cNvPr id="8" name="Shape 6"/>
          <p:cNvSpPr/>
          <p:nvPr/>
        </p:nvSpPr>
        <p:spPr>
          <a:xfrm>
            <a:off x="777240" y="1691640"/>
            <a:ext cx="457200" cy="457200"/>
          </a:xfrm>
          <a:prstGeom prst="ellipse">
            <a:avLst/>
          </a:prstGeom>
          <a:solidFill>
            <a:srgbClr val="E07B30"/>
          </a:solidFill>
          <a:ln w="12700">
            <a:solidFill>
              <a:srgbClr val="E07B30"/>
            </a:solidFill>
            <a:prstDash val="solid"/>
          </a:ln>
        </p:spPr>
      </p:sp>
      <p:sp>
        <p:nvSpPr>
          <p:cNvPr id="9" name="Text 7"/>
          <p:cNvSpPr/>
          <p:nvPr/>
        </p:nvSpPr>
        <p:spPr>
          <a:xfrm>
            <a:off x="777240" y="16916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325880" y="1645920"/>
            <a:ext cx="2606040" cy="548640"/>
          </a:xfrm>
          <a:prstGeom prst="rect">
            <a:avLst/>
          </a:prstGeom>
          <a:noFill/>
          <a:ln/>
        </p:spPr>
        <p:txBody>
          <a:bodyPr wrap="square" lIns="0" tIns="0" rIns="0" bIns="0" rtlCol="0" anchor="ctr"/>
          <a:lstStyle/>
          <a:p>
            <a:pPr indent="0" marL="0">
              <a:buNone/>
            </a:pPr>
            <a:r>
              <a:rPr lang="en-US" sz="1800" b="1" dirty="0">
                <a:solidFill>
                  <a:srgbClr val="1E4D2B"/>
                </a:solidFill>
                <a:latin typeface="Cambria" pitchFamily="34" charset="0"/>
                <a:ea typeface="Cambria" pitchFamily="34" charset="-122"/>
                <a:cs typeface="Cambria" pitchFamily="34" charset="-120"/>
              </a:rPr>
              <a:t>Adaptive Threshold</a:t>
            </a:r>
            <a:endParaRPr lang="en-US" sz="1800" dirty="0"/>
          </a:p>
        </p:txBody>
      </p:sp>
      <p:sp>
        <p:nvSpPr>
          <p:cNvPr id="11" name="Text 9"/>
          <p:cNvSpPr/>
          <p:nvPr/>
        </p:nvSpPr>
        <p:spPr>
          <a:xfrm>
            <a:off x="777240" y="2331720"/>
            <a:ext cx="3063240" cy="274320"/>
          </a:xfrm>
          <a:prstGeom prst="rect">
            <a:avLst/>
          </a:prstGeom>
          <a:noFill/>
          <a:ln/>
        </p:spPr>
        <p:txBody>
          <a:bodyPr wrap="square" lIns="635" tIns="635" rIns="635" bIns="635" rtlCol="0" anchor="t"/>
          <a:lstStyle/>
          <a:p>
            <a:pPr indent="0" marL="0">
              <a:buNone/>
            </a:pPr>
            <a:r>
              <a:rPr lang="en-US" sz="1100" b="1" spc="100" kern="0" dirty="0">
                <a:solidFill>
                  <a:srgbClr val="E07B30"/>
                </a:solidFill>
                <a:latin typeface="Calibri" pitchFamily="34" charset="0"/>
                <a:ea typeface="Calibri" pitchFamily="34" charset="-122"/>
                <a:cs typeface="Calibri" pitchFamily="34" charset="-120"/>
              </a:rPr>
              <a:t>SIGNAL</a:t>
            </a:r>
            <a:endParaRPr lang="en-US" sz="1100" dirty="0"/>
          </a:p>
        </p:txBody>
      </p:sp>
      <p:sp>
        <p:nvSpPr>
          <p:cNvPr id="12" name="Text 10"/>
          <p:cNvSpPr/>
          <p:nvPr/>
        </p:nvSpPr>
        <p:spPr>
          <a:xfrm>
            <a:off x="777240" y="2578608"/>
            <a:ext cx="3063240" cy="50292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Residual ratio  r = |f_new| / |f_old|</a:t>
            </a:r>
            <a:endParaRPr lang="en-US" sz="1300" dirty="0"/>
          </a:p>
        </p:txBody>
      </p:sp>
      <p:sp>
        <p:nvSpPr>
          <p:cNvPr id="13" name="Shape 11"/>
          <p:cNvSpPr/>
          <p:nvPr/>
        </p:nvSpPr>
        <p:spPr>
          <a:xfrm>
            <a:off x="777240" y="3154680"/>
            <a:ext cx="3063240" cy="1005840"/>
          </a:xfrm>
          <a:prstGeom prst="roundRect">
            <a:avLst>
              <a:gd name="adj" fmla="val 7273"/>
            </a:avLst>
          </a:prstGeom>
          <a:solidFill>
            <a:srgbClr val="E6EFE6"/>
          </a:solidFill>
          <a:ln w="12700">
            <a:solidFill>
              <a:srgbClr val="E6EFE6"/>
            </a:solidFill>
            <a:prstDash val="solid"/>
          </a:ln>
        </p:spPr>
      </p:sp>
      <p:sp>
        <p:nvSpPr>
          <p:cNvPr id="14" name="Text 12"/>
          <p:cNvSpPr/>
          <p:nvPr/>
        </p:nvSpPr>
        <p:spPr>
          <a:xfrm>
            <a:off x="822960" y="3154680"/>
            <a:ext cx="2971800" cy="1005840"/>
          </a:xfrm>
          <a:prstGeom prst="rect">
            <a:avLst/>
          </a:prstGeom>
          <a:noFill/>
          <a:ln/>
        </p:spPr>
        <p:txBody>
          <a:bodyPr wrap="square" rtlCol="0" anchor="ctr"/>
          <a:lstStyle/>
          <a:p>
            <a:pPr algn="ctr" indent="0" marL="0">
              <a:buNone/>
            </a:pPr>
            <a:r>
              <a:rPr lang="en-US" sz="1300" i="1" dirty="0">
                <a:solidFill>
                  <a:srgbClr val="1E4D2B"/>
                </a:solidFill>
                <a:latin typeface="Cambria" pitchFamily="34" charset="0"/>
                <a:ea typeface="Cambria" pitchFamily="34" charset="-122"/>
                <a:cs typeface="Cambria" pitchFamily="34" charset="-120"/>
              </a:rPr>
              <a:t>τ = mean of last 3 step ratios</a:t>
            </a:r>
            <a:endParaRPr lang="en-US" sz="1300" dirty="0"/>
          </a:p>
          <a:p>
            <a:pPr algn="ctr" indent="0" marL="0">
              <a:buNone/>
            </a:pPr>
            <a:r>
              <a:rPr lang="en-US" sz="1300" i="1" dirty="0">
                <a:solidFill>
                  <a:srgbClr val="1E4D2B"/>
                </a:solidFill>
                <a:latin typeface="Cambria" pitchFamily="34" charset="0"/>
                <a:ea typeface="Cambria" pitchFamily="34" charset="-122"/>
                <a:cs typeface="Cambria" pitchFamily="34" charset="-120"/>
              </a:rPr>
              <a:t>Take FP if r_F &lt; τ, else trisect</a:t>
            </a:r>
            <a:endParaRPr lang="en-US" sz="1300" dirty="0"/>
          </a:p>
        </p:txBody>
      </p:sp>
      <p:sp>
        <p:nvSpPr>
          <p:cNvPr id="15" name="Text 13"/>
          <p:cNvSpPr/>
          <p:nvPr/>
        </p:nvSpPr>
        <p:spPr>
          <a:xfrm>
            <a:off x="777240" y="4297680"/>
            <a:ext cx="3063240" cy="274320"/>
          </a:xfrm>
          <a:prstGeom prst="rect">
            <a:avLst/>
          </a:prstGeom>
          <a:noFill/>
          <a:ln/>
        </p:spPr>
        <p:txBody>
          <a:bodyPr wrap="square" lIns="635" tIns="635" rIns="635" bIns="635" rtlCol="0" anchor="t"/>
          <a:lstStyle/>
          <a:p>
            <a:pPr indent="0" marL="0">
              <a:buNone/>
            </a:pPr>
            <a:r>
              <a:rPr lang="en-US" sz="1100" b="1" spc="100" kern="0" dirty="0">
                <a:solidFill>
                  <a:srgbClr val="E07B30"/>
                </a:solidFill>
                <a:latin typeface="Calibri" pitchFamily="34" charset="0"/>
                <a:ea typeface="Calibri" pitchFamily="34" charset="-122"/>
                <a:cs typeface="Calibri" pitchFamily="34" charset="-120"/>
              </a:rPr>
              <a:t>NEW f CALLS PER STEP</a:t>
            </a:r>
            <a:endParaRPr lang="en-US" sz="1100" dirty="0"/>
          </a:p>
        </p:txBody>
      </p:sp>
      <p:sp>
        <p:nvSpPr>
          <p:cNvPr id="16" name="Text 14"/>
          <p:cNvSpPr/>
          <p:nvPr/>
        </p:nvSpPr>
        <p:spPr>
          <a:xfrm>
            <a:off x="777240" y="4553712"/>
            <a:ext cx="3063240" cy="59436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1 call if FP accepted</a:t>
            </a:r>
            <a:endParaRPr lang="en-US" sz="1300" dirty="0"/>
          </a:p>
          <a:p>
            <a:pPr indent="0" marL="0">
              <a:buNone/>
            </a:pPr>
            <a:r>
              <a:rPr lang="en-US" sz="1300" dirty="0">
                <a:solidFill>
                  <a:srgbClr val="333333"/>
                </a:solidFill>
                <a:latin typeface="Calibri" pitchFamily="34" charset="0"/>
                <a:ea typeface="Calibri" pitchFamily="34" charset="-122"/>
                <a:cs typeface="Calibri" pitchFamily="34" charset="-120"/>
              </a:rPr>
              <a:t>3 if rejected (probe still charged)</a:t>
            </a:r>
            <a:endParaRPr lang="en-US" sz="1300" dirty="0"/>
          </a:p>
        </p:txBody>
      </p:sp>
      <p:sp>
        <p:nvSpPr>
          <p:cNvPr id="17" name="Shape 15"/>
          <p:cNvSpPr/>
          <p:nvPr/>
        </p:nvSpPr>
        <p:spPr>
          <a:xfrm>
            <a:off x="777240" y="5212080"/>
            <a:ext cx="3063240" cy="658368"/>
          </a:xfrm>
          <a:prstGeom prst="roundRect">
            <a:avLst>
              <a:gd name="adj" fmla="val 11111"/>
            </a:avLst>
          </a:prstGeom>
          <a:solidFill>
            <a:srgbClr val="FBEDE2"/>
          </a:solidFill>
          <a:ln w="12700">
            <a:solidFill>
              <a:srgbClr val="FBEDE2"/>
            </a:solidFill>
            <a:prstDash val="solid"/>
          </a:ln>
        </p:spPr>
      </p:sp>
      <p:sp>
        <p:nvSpPr>
          <p:cNvPr id="18" name="Text 16"/>
          <p:cNvSpPr/>
          <p:nvPr/>
        </p:nvSpPr>
        <p:spPr>
          <a:xfrm>
            <a:off x="868680" y="5212080"/>
            <a:ext cx="2880360" cy="658368"/>
          </a:xfrm>
          <a:prstGeom prst="rect">
            <a:avLst/>
          </a:prstGeom>
          <a:noFill/>
          <a:ln/>
        </p:spPr>
        <p:txBody>
          <a:bodyPr wrap="square" lIns="635" tIns="635" rIns="635" bIns="635" rtlCol="0" anchor="ctr"/>
          <a:lstStyle/>
          <a:p>
            <a:pPr indent="0" marL="0">
              <a:buNone/>
            </a:pPr>
            <a:r>
              <a:rPr lang="en-US" sz="1200" dirty="0">
                <a:solidFill>
                  <a:srgbClr val="333333"/>
                </a:solidFill>
                <a:latin typeface="Calibri" pitchFamily="34" charset="0"/>
                <a:ea typeface="Calibri" pitchFamily="34" charset="-122"/>
                <a:cs typeface="Calibri" pitchFamily="34" charset="-120"/>
              </a:rPr>
              <a:t>τ starts at 1; the window never sees future information.</a:t>
            </a:r>
            <a:endParaRPr lang="en-US" sz="1200" dirty="0"/>
          </a:p>
        </p:txBody>
      </p:sp>
      <p:sp>
        <p:nvSpPr>
          <p:cNvPr id="19" name="Shape 17"/>
          <p:cNvSpPr/>
          <p:nvPr/>
        </p:nvSpPr>
        <p:spPr>
          <a:xfrm>
            <a:off x="4297680" y="1463040"/>
            <a:ext cx="3520440" cy="4572000"/>
          </a:xfrm>
          <a:prstGeom prst="roundRect">
            <a:avLst>
              <a:gd name="adj" fmla="val 2078"/>
            </a:avLst>
          </a:prstGeom>
          <a:solidFill>
            <a:srgbClr val="FFFFFF"/>
          </a:solidFill>
          <a:ln w="12700">
            <a:solidFill>
              <a:srgbClr val="C9D6C9"/>
            </a:solidFill>
            <a:prstDash val="solid"/>
          </a:ln>
        </p:spPr>
      </p:sp>
      <p:sp>
        <p:nvSpPr>
          <p:cNvPr id="20" name="Shape 18"/>
          <p:cNvSpPr/>
          <p:nvPr/>
        </p:nvSpPr>
        <p:spPr>
          <a:xfrm>
            <a:off x="4526280" y="1691640"/>
            <a:ext cx="457200" cy="457200"/>
          </a:xfrm>
          <a:prstGeom prst="ellipse">
            <a:avLst/>
          </a:prstGeom>
          <a:solidFill>
            <a:srgbClr val="E07B30"/>
          </a:solidFill>
          <a:ln w="12700">
            <a:solidFill>
              <a:srgbClr val="E07B30"/>
            </a:solidFill>
            <a:prstDash val="solid"/>
          </a:ln>
        </p:spPr>
      </p:sp>
      <p:sp>
        <p:nvSpPr>
          <p:cNvPr id="21" name="Text 19"/>
          <p:cNvSpPr/>
          <p:nvPr/>
        </p:nvSpPr>
        <p:spPr>
          <a:xfrm>
            <a:off x="4526280" y="16916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2" name="Text 20"/>
          <p:cNvSpPr/>
          <p:nvPr/>
        </p:nvSpPr>
        <p:spPr>
          <a:xfrm>
            <a:off x="5074920" y="1645920"/>
            <a:ext cx="2606040" cy="548640"/>
          </a:xfrm>
          <a:prstGeom prst="rect">
            <a:avLst/>
          </a:prstGeom>
          <a:noFill/>
          <a:ln/>
        </p:spPr>
        <p:txBody>
          <a:bodyPr wrap="square" lIns="0" tIns="0" rIns="0" bIns="0" rtlCol="0" anchor="ctr"/>
          <a:lstStyle/>
          <a:p>
            <a:pPr indent="0" marL="0">
              <a:buNone/>
            </a:pPr>
            <a:r>
              <a:rPr lang="en-US" sz="1800" b="1" dirty="0">
                <a:solidFill>
                  <a:srgbClr val="1E4D2B"/>
                </a:solidFill>
                <a:latin typeface="Cambria" pitchFamily="34" charset="0"/>
                <a:ea typeface="Cambria" pitchFamily="34" charset="-122"/>
                <a:cs typeface="Cambria" pitchFamily="34" charset="-120"/>
              </a:rPr>
              <a:t>Cost-Aware</a:t>
            </a:r>
            <a:endParaRPr lang="en-US" sz="1800" dirty="0"/>
          </a:p>
        </p:txBody>
      </p:sp>
      <p:sp>
        <p:nvSpPr>
          <p:cNvPr id="23" name="Text 21"/>
          <p:cNvSpPr/>
          <p:nvPr/>
        </p:nvSpPr>
        <p:spPr>
          <a:xfrm>
            <a:off x="4526280" y="2331720"/>
            <a:ext cx="3063240" cy="274320"/>
          </a:xfrm>
          <a:prstGeom prst="rect">
            <a:avLst/>
          </a:prstGeom>
          <a:noFill/>
          <a:ln/>
        </p:spPr>
        <p:txBody>
          <a:bodyPr wrap="square" lIns="635" tIns="635" rIns="635" bIns="635" rtlCol="0" anchor="t"/>
          <a:lstStyle/>
          <a:p>
            <a:pPr indent="0" marL="0">
              <a:buNone/>
            </a:pPr>
            <a:r>
              <a:rPr lang="en-US" sz="1100" b="1" spc="100" kern="0" dirty="0">
                <a:solidFill>
                  <a:srgbClr val="E07B30"/>
                </a:solidFill>
                <a:latin typeface="Calibri" pitchFamily="34" charset="0"/>
                <a:ea typeface="Calibri" pitchFamily="34" charset="-122"/>
                <a:cs typeface="Calibri" pitchFamily="34" charset="-120"/>
              </a:rPr>
              <a:t>SIGNAL</a:t>
            </a:r>
            <a:endParaRPr lang="en-US" sz="1100" dirty="0"/>
          </a:p>
        </p:txBody>
      </p:sp>
      <p:sp>
        <p:nvSpPr>
          <p:cNvPr id="24" name="Text 22"/>
          <p:cNvSpPr/>
          <p:nvPr/>
        </p:nvSpPr>
        <p:spPr>
          <a:xfrm>
            <a:off x="4526280" y="2578608"/>
            <a:ext cx="3063240" cy="50292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Log-progress per function call</a:t>
            </a:r>
            <a:endParaRPr lang="en-US" sz="1300" dirty="0"/>
          </a:p>
        </p:txBody>
      </p:sp>
      <p:sp>
        <p:nvSpPr>
          <p:cNvPr id="25" name="Shape 23"/>
          <p:cNvSpPr/>
          <p:nvPr/>
        </p:nvSpPr>
        <p:spPr>
          <a:xfrm>
            <a:off x="4526280" y="3154680"/>
            <a:ext cx="3063240" cy="1005840"/>
          </a:xfrm>
          <a:prstGeom prst="roundRect">
            <a:avLst>
              <a:gd name="adj" fmla="val 7273"/>
            </a:avLst>
          </a:prstGeom>
          <a:solidFill>
            <a:srgbClr val="E6EFE6"/>
          </a:solidFill>
          <a:ln w="12700">
            <a:solidFill>
              <a:srgbClr val="E6EFE6"/>
            </a:solidFill>
            <a:prstDash val="solid"/>
          </a:ln>
        </p:spPr>
      </p:sp>
      <p:sp>
        <p:nvSpPr>
          <p:cNvPr id="26" name="Text 24"/>
          <p:cNvSpPr/>
          <p:nvPr/>
        </p:nvSpPr>
        <p:spPr>
          <a:xfrm>
            <a:off x="4572000" y="3154680"/>
            <a:ext cx="2971800" cy="1005840"/>
          </a:xfrm>
          <a:prstGeom prst="rect">
            <a:avLst/>
          </a:prstGeom>
          <a:noFill/>
          <a:ln/>
        </p:spPr>
        <p:txBody>
          <a:bodyPr wrap="square" rtlCol="0" anchor="ctr"/>
          <a:lstStyle/>
          <a:p>
            <a:pPr algn="ctr" indent="0" marL="0">
              <a:buNone/>
            </a:pPr>
            <a:r>
              <a:rPr lang="en-US" sz="1300" i="1" dirty="0">
                <a:solidFill>
                  <a:srgbClr val="1E4D2B"/>
                </a:solidFill>
                <a:latin typeface="Cambria" pitchFamily="34" charset="0"/>
                <a:ea typeface="Cambria" pitchFamily="34" charset="-122"/>
                <a:cs typeface="Cambria" pitchFamily="34" charset="-120"/>
              </a:rPr>
              <a:t>E = [ln e_old − ln e_new] / new calls</a:t>
            </a:r>
            <a:endParaRPr lang="en-US" sz="1300" dirty="0"/>
          </a:p>
          <a:p>
            <a:pPr algn="ctr" indent="0" marL="0">
              <a:buNone/>
            </a:pPr>
            <a:r>
              <a:rPr lang="en-US" sz="1300" i="1" dirty="0">
                <a:solidFill>
                  <a:srgbClr val="1E4D2B"/>
                </a:solidFill>
                <a:latin typeface="Cambria" pitchFamily="34" charset="0"/>
                <a:ea typeface="Cambria" pitchFamily="34" charset="-122"/>
                <a:cs typeface="Cambria" pitchFamily="34" charset="-120"/>
              </a:rPr>
              <a:t>Pick the higher 3-step mean E</a:t>
            </a:r>
            <a:endParaRPr lang="en-US" sz="1300" dirty="0"/>
          </a:p>
        </p:txBody>
      </p:sp>
      <p:sp>
        <p:nvSpPr>
          <p:cNvPr id="27" name="Text 25"/>
          <p:cNvSpPr/>
          <p:nvPr/>
        </p:nvSpPr>
        <p:spPr>
          <a:xfrm>
            <a:off x="4526280" y="4297680"/>
            <a:ext cx="3063240" cy="274320"/>
          </a:xfrm>
          <a:prstGeom prst="rect">
            <a:avLst/>
          </a:prstGeom>
          <a:noFill/>
          <a:ln/>
        </p:spPr>
        <p:txBody>
          <a:bodyPr wrap="square" lIns="635" tIns="635" rIns="635" bIns="635" rtlCol="0" anchor="t"/>
          <a:lstStyle/>
          <a:p>
            <a:pPr indent="0" marL="0">
              <a:buNone/>
            </a:pPr>
            <a:r>
              <a:rPr lang="en-US" sz="1100" b="1" spc="100" kern="0" dirty="0">
                <a:solidFill>
                  <a:srgbClr val="E07B30"/>
                </a:solidFill>
                <a:latin typeface="Calibri" pitchFamily="34" charset="0"/>
                <a:ea typeface="Calibri" pitchFamily="34" charset="-122"/>
                <a:cs typeface="Calibri" pitchFamily="34" charset="-120"/>
              </a:rPr>
              <a:t>NEW f CALLS PER STEP</a:t>
            </a:r>
            <a:endParaRPr lang="en-US" sz="1100" dirty="0"/>
          </a:p>
        </p:txBody>
      </p:sp>
      <p:sp>
        <p:nvSpPr>
          <p:cNvPr id="28" name="Text 26"/>
          <p:cNvSpPr/>
          <p:nvPr/>
        </p:nvSpPr>
        <p:spPr>
          <a:xfrm>
            <a:off x="4526280" y="4553712"/>
            <a:ext cx="3063240" cy="59436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1 call (FP) or 2 calls (trisection)</a:t>
            </a:r>
            <a:endParaRPr lang="en-US" sz="1300" dirty="0"/>
          </a:p>
          <a:p>
            <a:pPr indent="0" marL="0">
              <a:buNone/>
            </a:pPr>
            <a:r>
              <a:rPr lang="en-US" sz="1300" dirty="0">
                <a:solidFill>
                  <a:srgbClr val="333333"/>
                </a:solidFill>
                <a:latin typeface="Calibri" pitchFamily="34" charset="0"/>
                <a:ea typeface="Calibri" pitchFamily="34" charset="-122"/>
                <a:cs typeface="Calibri" pitchFamily="34" charset="-120"/>
              </a:rPr>
              <a:t>Bootstrap: FP, then trisection</a:t>
            </a:r>
            <a:endParaRPr lang="en-US" sz="1300" dirty="0"/>
          </a:p>
        </p:txBody>
      </p:sp>
      <p:sp>
        <p:nvSpPr>
          <p:cNvPr id="29" name="Shape 27"/>
          <p:cNvSpPr/>
          <p:nvPr/>
        </p:nvSpPr>
        <p:spPr>
          <a:xfrm>
            <a:off x="4526280" y="5212080"/>
            <a:ext cx="3063240" cy="658368"/>
          </a:xfrm>
          <a:prstGeom prst="roundRect">
            <a:avLst>
              <a:gd name="adj" fmla="val 11111"/>
            </a:avLst>
          </a:prstGeom>
          <a:solidFill>
            <a:srgbClr val="FBEDE2"/>
          </a:solidFill>
          <a:ln w="12700">
            <a:solidFill>
              <a:srgbClr val="FBEDE2"/>
            </a:solidFill>
            <a:prstDash val="solid"/>
          </a:ln>
        </p:spPr>
      </p:sp>
      <p:sp>
        <p:nvSpPr>
          <p:cNvPr id="30" name="Text 28"/>
          <p:cNvSpPr/>
          <p:nvPr/>
        </p:nvSpPr>
        <p:spPr>
          <a:xfrm>
            <a:off x="4617720" y="5212080"/>
            <a:ext cx="2880360" cy="658368"/>
          </a:xfrm>
          <a:prstGeom prst="rect">
            <a:avLst/>
          </a:prstGeom>
          <a:noFill/>
          <a:ln/>
        </p:spPr>
        <p:txBody>
          <a:bodyPr wrap="square" lIns="635" tIns="635" rIns="635" bIns="635" rtlCol="0" anchor="ctr"/>
          <a:lstStyle/>
          <a:p>
            <a:pPr indent="0" marL="0">
              <a:buNone/>
            </a:pPr>
            <a:r>
              <a:rPr lang="en-US" sz="1200" dirty="0">
                <a:solidFill>
                  <a:srgbClr val="333333"/>
                </a:solidFill>
                <a:latin typeface="Calibri" pitchFamily="34" charset="0"/>
                <a:ea typeface="Calibri" pitchFamily="34" charset="-122"/>
                <a:cs typeface="Calibri" pitchFamily="34" charset="-120"/>
              </a:rPr>
              <a:t>Greedy: no exploration, so an unused method's estimate can go stale.</a:t>
            </a:r>
            <a:endParaRPr lang="en-US" sz="1200" dirty="0"/>
          </a:p>
        </p:txBody>
      </p:sp>
      <p:sp>
        <p:nvSpPr>
          <p:cNvPr id="31" name="Shape 29"/>
          <p:cNvSpPr/>
          <p:nvPr/>
        </p:nvSpPr>
        <p:spPr>
          <a:xfrm>
            <a:off x="8046720" y="1463040"/>
            <a:ext cx="3520440" cy="4572000"/>
          </a:xfrm>
          <a:prstGeom prst="roundRect">
            <a:avLst>
              <a:gd name="adj" fmla="val 2078"/>
            </a:avLst>
          </a:prstGeom>
          <a:solidFill>
            <a:srgbClr val="FFFFFF"/>
          </a:solidFill>
          <a:ln w="12700">
            <a:solidFill>
              <a:srgbClr val="C9D6C9"/>
            </a:solidFill>
            <a:prstDash val="solid"/>
          </a:ln>
        </p:spPr>
      </p:sp>
      <p:sp>
        <p:nvSpPr>
          <p:cNvPr id="32" name="Shape 30"/>
          <p:cNvSpPr/>
          <p:nvPr/>
        </p:nvSpPr>
        <p:spPr>
          <a:xfrm>
            <a:off x="8275320" y="1691640"/>
            <a:ext cx="457200" cy="457200"/>
          </a:xfrm>
          <a:prstGeom prst="ellipse">
            <a:avLst/>
          </a:prstGeom>
          <a:solidFill>
            <a:srgbClr val="E07B30"/>
          </a:solidFill>
          <a:ln w="12700">
            <a:solidFill>
              <a:srgbClr val="E07B30"/>
            </a:solidFill>
            <a:prstDash val="solid"/>
          </a:ln>
        </p:spPr>
      </p:sp>
      <p:sp>
        <p:nvSpPr>
          <p:cNvPr id="33" name="Text 31"/>
          <p:cNvSpPr/>
          <p:nvPr/>
        </p:nvSpPr>
        <p:spPr>
          <a:xfrm>
            <a:off x="8275320" y="16916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4" name="Text 32"/>
          <p:cNvSpPr/>
          <p:nvPr/>
        </p:nvSpPr>
        <p:spPr>
          <a:xfrm>
            <a:off x="8823960" y="1645920"/>
            <a:ext cx="2606040" cy="548640"/>
          </a:xfrm>
          <a:prstGeom prst="rect">
            <a:avLst/>
          </a:prstGeom>
          <a:noFill/>
          <a:ln/>
        </p:spPr>
        <p:txBody>
          <a:bodyPr wrap="square" lIns="0" tIns="0" rIns="0" bIns="0" rtlCol="0" anchor="ctr"/>
          <a:lstStyle/>
          <a:p>
            <a:pPr indent="0" marL="0">
              <a:buNone/>
            </a:pPr>
            <a:r>
              <a:rPr lang="en-US" sz="1800" b="1" dirty="0">
                <a:solidFill>
                  <a:srgbClr val="1E4D2B"/>
                </a:solidFill>
                <a:latin typeface="Cambria" pitchFamily="34" charset="0"/>
                <a:ea typeface="Cambria" pitchFamily="34" charset="-122"/>
                <a:cs typeface="Cambria" pitchFamily="34" charset="-120"/>
              </a:rPr>
              <a:t>Stagnation-Aware FP</a:t>
            </a:r>
            <a:endParaRPr lang="en-US" sz="1800" dirty="0"/>
          </a:p>
        </p:txBody>
      </p:sp>
      <p:sp>
        <p:nvSpPr>
          <p:cNvPr id="35" name="Text 33"/>
          <p:cNvSpPr/>
          <p:nvPr/>
        </p:nvSpPr>
        <p:spPr>
          <a:xfrm>
            <a:off x="8275320" y="2331720"/>
            <a:ext cx="3063240" cy="274320"/>
          </a:xfrm>
          <a:prstGeom prst="rect">
            <a:avLst/>
          </a:prstGeom>
          <a:noFill/>
          <a:ln/>
        </p:spPr>
        <p:txBody>
          <a:bodyPr wrap="square" lIns="635" tIns="635" rIns="635" bIns="635" rtlCol="0" anchor="t"/>
          <a:lstStyle/>
          <a:p>
            <a:pPr indent="0" marL="0">
              <a:buNone/>
            </a:pPr>
            <a:r>
              <a:rPr lang="en-US" sz="1100" b="1" spc="100" kern="0" dirty="0">
                <a:solidFill>
                  <a:srgbClr val="E07B30"/>
                </a:solidFill>
                <a:latin typeface="Calibri" pitchFamily="34" charset="0"/>
                <a:ea typeface="Calibri" pitchFamily="34" charset="-122"/>
                <a:cs typeface="Calibri" pitchFamily="34" charset="-120"/>
              </a:rPr>
              <a:t>SIGNAL</a:t>
            </a:r>
            <a:endParaRPr lang="en-US" sz="1100" dirty="0"/>
          </a:p>
        </p:txBody>
      </p:sp>
      <p:sp>
        <p:nvSpPr>
          <p:cNvPr id="36" name="Text 34"/>
          <p:cNvSpPr/>
          <p:nvPr/>
        </p:nvSpPr>
        <p:spPr>
          <a:xfrm>
            <a:off x="8275320" y="2578608"/>
            <a:ext cx="3063240" cy="50292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Left / right endpoint reuse counters</a:t>
            </a:r>
            <a:endParaRPr lang="en-US" sz="1300" dirty="0"/>
          </a:p>
        </p:txBody>
      </p:sp>
      <p:sp>
        <p:nvSpPr>
          <p:cNvPr id="37" name="Shape 35"/>
          <p:cNvSpPr/>
          <p:nvPr/>
        </p:nvSpPr>
        <p:spPr>
          <a:xfrm>
            <a:off x="8275320" y="3154680"/>
            <a:ext cx="3063240" cy="1005840"/>
          </a:xfrm>
          <a:prstGeom prst="roundRect">
            <a:avLst>
              <a:gd name="adj" fmla="val 7273"/>
            </a:avLst>
          </a:prstGeom>
          <a:solidFill>
            <a:srgbClr val="E6EFE6"/>
          </a:solidFill>
          <a:ln w="12700">
            <a:solidFill>
              <a:srgbClr val="E6EFE6"/>
            </a:solidFill>
            <a:prstDash val="solid"/>
          </a:ln>
        </p:spPr>
      </p:sp>
      <p:sp>
        <p:nvSpPr>
          <p:cNvPr id="38" name="Text 36"/>
          <p:cNvSpPr/>
          <p:nvPr/>
        </p:nvSpPr>
        <p:spPr>
          <a:xfrm>
            <a:off x="8321040" y="3154680"/>
            <a:ext cx="2971800" cy="1005840"/>
          </a:xfrm>
          <a:prstGeom prst="rect">
            <a:avLst/>
          </a:prstGeom>
          <a:noFill/>
          <a:ln/>
        </p:spPr>
        <p:txBody>
          <a:bodyPr wrap="square" rtlCol="0" anchor="ctr"/>
          <a:lstStyle/>
          <a:p>
            <a:pPr algn="ctr" indent="0" marL="0">
              <a:buNone/>
            </a:pPr>
            <a:r>
              <a:rPr lang="en-US" sz="1300" i="1" dirty="0">
                <a:solidFill>
                  <a:srgbClr val="1E4D2B"/>
                </a:solidFill>
                <a:latin typeface="Cambria" pitchFamily="34" charset="0"/>
                <a:ea typeface="Cambria" pitchFamily="34" charset="-122"/>
                <a:cs typeface="Cambria" pitchFamily="34" charset="-120"/>
              </a:rPr>
              <a:t>If a counter ≥ 3 → trisection step</a:t>
            </a:r>
            <a:endParaRPr lang="en-US" sz="1300" dirty="0"/>
          </a:p>
          <a:p>
            <a:pPr algn="ctr" indent="0" marL="0">
              <a:buNone/>
            </a:pPr>
            <a:r>
              <a:rPr lang="en-US" sz="1300" i="1" dirty="0">
                <a:solidFill>
                  <a:srgbClr val="1E4D2B"/>
                </a:solidFill>
                <a:latin typeface="Cambria" pitchFamily="34" charset="0"/>
                <a:ea typeface="Cambria" pitchFamily="34" charset="-122"/>
                <a:cs typeface="Cambria" pitchFamily="34" charset="-120"/>
              </a:rPr>
              <a:t>Otherwise → false position</a:t>
            </a:r>
            <a:endParaRPr lang="en-US" sz="1300" dirty="0"/>
          </a:p>
        </p:txBody>
      </p:sp>
      <p:sp>
        <p:nvSpPr>
          <p:cNvPr id="39" name="Text 37"/>
          <p:cNvSpPr/>
          <p:nvPr/>
        </p:nvSpPr>
        <p:spPr>
          <a:xfrm>
            <a:off x="8275320" y="4297680"/>
            <a:ext cx="3063240" cy="274320"/>
          </a:xfrm>
          <a:prstGeom prst="rect">
            <a:avLst/>
          </a:prstGeom>
          <a:noFill/>
          <a:ln/>
        </p:spPr>
        <p:txBody>
          <a:bodyPr wrap="square" lIns="635" tIns="635" rIns="635" bIns="635" rtlCol="0" anchor="t"/>
          <a:lstStyle/>
          <a:p>
            <a:pPr indent="0" marL="0">
              <a:buNone/>
            </a:pPr>
            <a:r>
              <a:rPr lang="en-US" sz="1100" b="1" spc="100" kern="0" dirty="0">
                <a:solidFill>
                  <a:srgbClr val="E07B30"/>
                </a:solidFill>
                <a:latin typeface="Calibri" pitchFamily="34" charset="0"/>
                <a:ea typeface="Calibri" pitchFamily="34" charset="-122"/>
                <a:cs typeface="Calibri" pitchFamily="34" charset="-120"/>
              </a:rPr>
              <a:t>NEW f CALLS PER STEP</a:t>
            </a:r>
            <a:endParaRPr lang="en-US" sz="1100" dirty="0"/>
          </a:p>
        </p:txBody>
      </p:sp>
      <p:sp>
        <p:nvSpPr>
          <p:cNvPr id="40" name="Text 38"/>
          <p:cNvSpPr/>
          <p:nvPr/>
        </p:nvSpPr>
        <p:spPr>
          <a:xfrm>
            <a:off x="8275320" y="4553712"/>
            <a:ext cx="3063240" cy="59436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1 call (FP) or 2 calls (forced trisection)</a:t>
            </a:r>
            <a:endParaRPr lang="en-US" sz="1300" dirty="0"/>
          </a:p>
        </p:txBody>
      </p:sp>
      <p:sp>
        <p:nvSpPr>
          <p:cNvPr id="41" name="Shape 39"/>
          <p:cNvSpPr/>
          <p:nvPr/>
        </p:nvSpPr>
        <p:spPr>
          <a:xfrm>
            <a:off x="8275320" y="5212080"/>
            <a:ext cx="3063240" cy="658368"/>
          </a:xfrm>
          <a:prstGeom prst="roundRect">
            <a:avLst>
              <a:gd name="adj" fmla="val 11111"/>
            </a:avLst>
          </a:prstGeom>
          <a:solidFill>
            <a:srgbClr val="FBEDE2"/>
          </a:solidFill>
          <a:ln w="12700">
            <a:solidFill>
              <a:srgbClr val="FBEDE2"/>
            </a:solidFill>
            <a:prstDash val="solid"/>
          </a:ln>
        </p:spPr>
      </p:sp>
      <p:sp>
        <p:nvSpPr>
          <p:cNvPr id="42" name="Text 40"/>
          <p:cNvSpPr/>
          <p:nvPr/>
        </p:nvSpPr>
        <p:spPr>
          <a:xfrm>
            <a:off x="8366760" y="5212080"/>
            <a:ext cx="2880360" cy="658368"/>
          </a:xfrm>
          <a:prstGeom prst="rect">
            <a:avLst/>
          </a:prstGeom>
          <a:noFill/>
          <a:ln/>
        </p:spPr>
        <p:txBody>
          <a:bodyPr wrap="square" lIns="635" tIns="635" rIns="635" bIns="635" rtlCol="0" anchor="ctr"/>
          <a:lstStyle/>
          <a:p>
            <a:pPr indent="0" marL="0">
              <a:buNone/>
            </a:pPr>
            <a:r>
              <a:rPr lang="en-US" sz="1200" dirty="0">
                <a:solidFill>
                  <a:srgbClr val="333333"/>
                </a:solidFill>
                <a:latin typeface="Calibri" pitchFamily="34" charset="0"/>
                <a:ea typeface="Calibri" pitchFamily="34" charset="-122"/>
                <a:cs typeface="Calibri" pitchFamily="34" charset="-120"/>
              </a:rPr>
              <a:t>Reuse limit 2 also tested; counters track real endpoint reuse.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Experimental Setup</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Same equations, tolerance, intervals and counting rules for every method</a:t>
            </a:r>
            <a:endParaRPr lang="en-US" sz="1500" dirty="0"/>
          </a:p>
        </p:txBody>
      </p:sp>
      <p:sp>
        <p:nvSpPr>
          <p:cNvPr id="7" name="Shape 5"/>
          <p:cNvSpPr/>
          <p:nvPr/>
        </p:nvSpPr>
        <p:spPr>
          <a:xfrm>
            <a:off x="548640" y="1463040"/>
            <a:ext cx="3520440" cy="1417320"/>
          </a:xfrm>
          <a:prstGeom prst="roundRect">
            <a:avLst>
              <a:gd name="adj" fmla="val 5161"/>
            </a:avLst>
          </a:prstGeom>
          <a:solidFill>
            <a:srgbClr val="E6EFE6"/>
          </a:solidFill>
          <a:ln w="12700">
            <a:solidFill>
              <a:srgbClr val="E6EFE6"/>
            </a:solidFill>
            <a:prstDash val="solid"/>
          </a:ln>
        </p:spPr>
      </p:sp>
      <p:sp>
        <p:nvSpPr>
          <p:cNvPr id="8" name="Text 6"/>
          <p:cNvSpPr/>
          <p:nvPr/>
        </p:nvSpPr>
        <p:spPr>
          <a:xfrm>
            <a:off x="731520" y="1572768"/>
            <a:ext cx="1463040" cy="731520"/>
          </a:xfrm>
          <a:prstGeom prst="rect">
            <a:avLst/>
          </a:prstGeom>
          <a:noFill/>
          <a:ln/>
        </p:spPr>
        <p:txBody>
          <a:bodyPr wrap="square" lIns="0" tIns="0" rIns="0" bIns="0" rtlCol="0" anchor="ctr"/>
          <a:lstStyle/>
          <a:p>
            <a:pPr indent="0" marL="0">
              <a:buNone/>
            </a:pPr>
            <a:r>
              <a:rPr lang="en-US" sz="3600" b="1" dirty="0">
                <a:solidFill>
                  <a:srgbClr val="E07B30"/>
                </a:solidFill>
                <a:latin typeface="Cambria" pitchFamily="34" charset="0"/>
                <a:ea typeface="Cambria" pitchFamily="34" charset="-122"/>
                <a:cs typeface="Cambria" pitchFamily="34" charset="-120"/>
              </a:rPr>
              <a:t>15</a:t>
            </a:r>
            <a:endParaRPr lang="en-US" sz="3600" dirty="0"/>
          </a:p>
        </p:txBody>
      </p:sp>
      <p:sp>
        <p:nvSpPr>
          <p:cNvPr id="9" name="Text 7"/>
          <p:cNvSpPr/>
          <p:nvPr/>
        </p:nvSpPr>
        <p:spPr>
          <a:xfrm>
            <a:off x="2148840" y="1664208"/>
            <a:ext cx="1828800" cy="59436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benchmark equations</a:t>
            </a:r>
            <a:endParaRPr lang="en-US" sz="1500" dirty="0"/>
          </a:p>
        </p:txBody>
      </p:sp>
      <p:sp>
        <p:nvSpPr>
          <p:cNvPr id="10" name="Text 8"/>
          <p:cNvSpPr/>
          <p:nvPr/>
        </p:nvSpPr>
        <p:spPr>
          <a:xfrm>
            <a:off x="731520" y="2331720"/>
            <a:ext cx="3200400" cy="457200"/>
          </a:xfrm>
          <a:prstGeom prst="rect">
            <a:avLst/>
          </a:prstGeom>
          <a:noFill/>
          <a:ln/>
        </p:spPr>
        <p:txBody>
          <a:bodyPr wrap="square" lIns="635" tIns="635" rIns="635" bIns="635" rtlCol="0" anchor="t"/>
          <a:lstStyle/>
          <a:p>
            <a:pPr indent="0" marL="0">
              <a:buNone/>
            </a:pPr>
            <a:r>
              <a:rPr lang="en-US" sz="1200" dirty="0">
                <a:solidFill>
                  <a:srgbClr val="6B6B6B"/>
                </a:solidFill>
                <a:latin typeface="Calibri" pitchFamily="34" charset="0"/>
                <a:ea typeface="Calibri" pitchFamily="34" charset="-122"/>
                <a:cs typeface="Calibri" pitchFamily="34" charset="-120"/>
              </a:rPr>
              <a:t>Table 1 of the base paper, same intervals</a:t>
            </a:r>
            <a:endParaRPr lang="en-US" sz="1200" dirty="0"/>
          </a:p>
        </p:txBody>
      </p:sp>
      <p:sp>
        <p:nvSpPr>
          <p:cNvPr id="11" name="Shape 9"/>
          <p:cNvSpPr/>
          <p:nvPr/>
        </p:nvSpPr>
        <p:spPr>
          <a:xfrm>
            <a:off x="4297680" y="1463040"/>
            <a:ext cx="3520440" cy="1417320"/>
          </a:xfrm>
          <a:prstGeom prst="roundRect">
            <a:avLst>
              <a:gd name="adj" fmla="val 5161"/>
            </a:avLst>
          </a:prstGeom>
          <a:solidFill>
            <a:srgbClr val="E6EFE6"/>
          </a:solidFill>
          <a:ln w="12700">
            <a:solidFill>
              <a:srgbClr val="E6EFE6"/>
            </a:solidFill>
            <a:prstDash val="solid"/>
          </a:ln>
        </p:spPr>
      </p:sp>
      <p:sp>
        <p:nvSpPr>
          <p:cNvPr id="12" name="Text 10"/>
          <p:cNvSpPr/>
          <p:nvPr/>
        </p:nvSpPr>
        <p:spPr>
          <a:xfrm>
            <a:off x="4480560" y="1572768"/>
            <a:ext cx="1463040" cy="731520"/>
          </a:xfrm>
          <a:prstGeom prst="rect">
            <a:avLst/>
          </a:prstGeom>
          <a:noFill/>
          <a:ln/>
        </p:spPr>
        <p:txBody>
          <a:bodyPr wrap="square" lIns="0" tIns="0" rIns="0" bIns="0" rtlCol="0" anchor="ctr"/>
          <a:lstStyle/>
          <a:p>
            <a:pPr indent="0" marL="0">
              <a:buNone/>
            </a:pPr>
            <a:r>
              <a:rPr lang="en-US" sz="3600" b="1" dirty="0">
                <a:solidFill>
                  <a:srgbClr val="E07B30"/>
                </a:solidFill>
                <a:latin typeface="Cambria" pitchFamily="34" charset="0"/>
                <a:ea typeface="Cambria" pitchFamily="34" charset="-122"/>
                <a:cs typeface="Cambria" pitchFamily="34" charset="-120"/>
              </a:rPr>
              <a:t>10</a:t>
            </a:r>
            <a:endParaRPr lang="en-US" sz="3600" dirty="0"/>
          </a:p>
        </p:txBody>
      </p:sp>
      <p:sp>
        <p:nvSpPr>
          <p:cNvPr id="13" name="Text 11"/>
          <p:cNvSpPr/>
          <p:nvPr/>
        </p:nvSpPr>
        <p:spPr>
          <a:xfrm>
            <a:off x="5897880" y="1664208"/>
            <a:ext cx="1828800" cy="59436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methods</a:t>
            </a:r>
            <a:endParaRPr lang="en-US" sz="1500" dirty="0"/>
          </a:p>
        </p:txBody>
      </p:sp>
      <p:sp>
        <p:nvSpPr>
          <p:cNvPr id="14" name="Text 12"/>
          <p:cNvSpPr/>
          <p:nvPr/>
        </p:nvSpPr>
        <p:spPr>
          <a:xfrm>
            <a:off x="4480560" y="2331720"/>
            <a:ext cx="3200400" cy="457200"/>
          </a:xfrm>
          <a:prstGeom prst="rect">
            <a:avLst/>
          </a:prstGeom>
          <a:noFill/>
          <a:ln/>
        </p:spPr>
        <p:txBody>
          <a:bodyPr wrap="square" lIns="635" tIns="635" rIns="635" bIns="635" rtlCol="0" anchor="t"/>
          <a:lstStyle/>
          <a:p>
            <a:pPr indent="0" marL="0">
              <a:buNone/>
            </a:pPr>
            <a:r>
              <a:rPr lang="en-US" sz="1200" dirty="0">
                <a:solidFill>
                  <a:srgbClr val="6B6B6B"/>
                </a:solidFill>
                <a:latin typeface="Calibri" pitchFamily="34" charset="0"/>
                <a:ea typeface="Calibri" pitchFamily="34" charset="-122"/>
                <a:cs typeface="Calibri" pitchFamily="34" charset="-120"/>
              </a:rPr>
              <a:t>5 classical · 2 static hybrids · 3 adaptive</a:t>
            </a:r>
            <a:endParaRPr lang="en-US" sz="1200" dirty="0"/>
          </a:p>
        </p:txBody>
      </p:sp>
      <p:sp>
        <p:nvSpPr>
          <p:cNvPr id="15" name="Shape 13"/>
          <p:cNvSpPr/>
          <p:nvPr/>
        </p:nvSpPr>
        <p:spPr>
          <a:xfrm>
            <a:off x="8046720" y="1463040"/>
            <a:ext cx="3520440" cy="1417320"/>
          </a:xfrm>
          <a:prstGeom prst="roundRect">
            <a:avLst>
              <a:gd name="adj" fmla="val 5161"/>
            </a:avLst>
          </a:prstGeom>
          <a:solidFill>
            <a:srgbClr val="E6EFE6"/>
          </a:solidFill>
          <a:ln w="12700">
            <a:solidFill>
              <a:srgbClr val="E6EFE6"/>
            </a:solidFill>
            <a:prstDash val="solid"/>
          </a:ln>
        </p:spPr>
      </p:sp>
      <p:sp>
        <p:nvSpPr>
          <p:cNvPr id="16" name="Text 14"/>
          <p:cNvSpPr/>
          <p:nvPr/>
        </p:nvSpPr>
        <p:spPr>
          <a:xfrm>
            <a:off x="8229600" y="1572768"/>
            <a:ext cx="1463040" cy="731520"/>
          </a:xfrm>
          <a:prstGeom prst="rect">
            <a:avLst/>
          </a:prstGeom>
          <a:noFill/>
          <a:ln/>
        </p:spPr>
        <p:txBody>
          <a:bodyPr wrap="square" lIns="0" tIns="0" rIns="0" bIns="0" rtlCol="0" anchor="ctr"/>
          <a:lstStyle/>
          <a:p>
            <a:pPr indent="0" marL="0">
              <a:buNone/>
            </a:pPr>
            <a:r>
              <a:rPr lang="en-US" sz="3600" b="1" dirty="0">
                <a:solidFill>
                  <a:srgbClr val="E07B30"/>
                </a:solidFill>
                <a:latin typeface="Cambria" pitchFamily="34" charset="0"/>
                <a:ea typeface="Cambria" pitchFamily="34" charset="-122"/>
                <a:cs typeface="Cambria" pitchFamily="34" charset="-120"/>
              </a:rPr>
              <a:t>10⁻¹⁴</a:t>
            </a:r>
            <a:endParaRPr lang="en-US" sz="3600" dirty="0"/>
          </a:p>
        </p:txBody>
      </p:sp>
      <p:sp>
        <p:nvSpPr>
          <p:cNvPr id="17" name="Text 15"/>
          <p:cNvSpPr/>
          <p:nvPr/>
        </p:nvSpPr>
        <p:spPr>
          <a:xfrm>
            <a:off x="9646920" y="1664208"/>
            <a:ext cx="1828800" cy="59436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residual tolerance</a:t>
            </a:r>
            <a:endParaRPr lang="en-US" sz="1500" dirty="0"/>
          </a:p>
        </p:txBody>
      </p:sp>
      <p:sp>
        <p:nvSpPr>
          <p:cNvPr id="18" name="Text 16"/>
          <p:cNvSpPr/>
          <p:nvPr/>
        </p:nvSpPr>
        <p:spPr>
          <a:xfrm>
            <a:off x="8229600" y="2331720"/>
            <a:ext cx="3200400" cy="457200"/>
          </a:xfrm>
          <a:prstGeom prst="rect">
            <a:avLst/>
          </a:prstGeom>
          <a:noFill/>
          <a:ln/>
        </p:spPr>
        <p:txBody>
          <a:bodyPr wrap="square" lIns="635" tIns="635" rIns="635" bIns="635" rtlCol="0" anchor="t"/>
          <a:lstStyle/>
          <a:p>
            <a:pPr indent="0" marL="0">
              <a:buNone/>
            </a:pPr>
            <a:r>
              <a:rPr lang="en-US" sz="1200" dirty="0">
                <a:solidFill>
                  <a:srgbClr val="6B6B6B"/>
                </a:solidFill>
                <a:latin typeface="Calibri" pitchFamily="34" charset="0"/>
                <a:ea typeface="Calibri" pitchFamily="34" charset="-122"/>
                <a:cs typeface="Calibri" pitchFamily="34" charset="-120"/>
              </a:rPr>
              <a:t>stop only when |f(x)| ≤ ε; max 1,000 iterations</a:t>
            </a:r>
            <a:endParaRPr lang="en-US" sz="1200" dirty="0"/>
          </a:p>
        </p:txBody>
      </p:sp>
      <p:sp>
        <p:nvSpPr>
          <p:cNvPr id="19" name="Shape 17"/>
          <p:cNvSpPr/>
          <p:nvPr/>
        </p:nvSpPr>
        <p:spPr>
          <a:xfrm>
            <a:off x="548640" y="3063240"/>
            <a:ext cx="3520440" cy="1417320"/>
          </a:xfrm>
          <a:prstGeom prst="roundRect">
            <a:avLst>
              <a:gd name="adj" fmla="val 5161"/>
            </a:avLst>
          </a:prstGeom>
          <a:solidFill>
            <a:srgbClr val="FFFFFF"/>
          </a:solidFill>
          <a:ln w="12700">
            <a:solidFill>
              <a:srgbClr val="C9D6C9"/>
            </a:solidFill>
            <a:prstDash val="solid"/>
          </a:ln>
        </p:spPr>
      </p:sp>
      <p:sp>
        <p:nvSpPr>
          <p:cNvPr id="20" name="Text 18"/>
          <p:cNvSpPr/>
          <p:nvPr/>
        </p:nvSpPr>
        <p:spPr>
          <a:xfrm>
            <a:off x="731520" y="3172968"/>
            <a:ext cx="1463040" cy="731520"/>
          </a:xfrm>
          <a:prstGeom prst="rect">
            <a:avLst/>
          </a:prstGeom>
          <a:noFill/>
          <a:ln/>
        </p:spPr>
        <p:txBody>
          <a:bodyPr wrap="square" lIns="0" tIns="0" rIns="0" bIns="0" rtlCol="0" anchor="ctr"/>
          <a:lstStyle/>
          <a:p>
            <a:pPr indent="0" marL="0">
              <a:buNone/>
            </a:pPr>
            <a:r>
              <a:rPr lang="en-US" sz="3600" b="1" dirty="0">
                <a:solidFill>
                  <a:srgbClr val="E07B30"/>
                </a:solidFill>
                <a:latin typeface="Cambria" pitchFamily="34" charset="0"/>
                <a:ea typeface="Cambria" pitchFamily="34" charset="-122"/>
                <a:cs typeface="Cambria" pitchFamily="34" charset="-120"/>
              </a:rPr>
              <a:t>10</a:t>
            </a:r>
            <a:endParaRPr lang="en-US" sz="3600" dirty="0"/>
          </a:p>
        </p:txBody>
      </p:sp>
      <p:sp>
        <p:nvSpPr>
          <p:cNvPr id="21" name="Text 19"/>
          <p:cNvSpPr/>
          <p:nvPr/>
        </p:nvSpPr>
        <p:spPr>
          <a:xfrm>
            <a:off x="2148840" y="3264408"/>
            <a:ext cx="1828800" cy="59436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timed runs per pair</a:t>
            </a:r>
            <a:endParaRPr lang="en-US" sz="1500" dirty="0"/>
          </a:p>
        </p:txBody>
      </p:sp>
      <p:sp>
        <p:nvSpPr>
          <p:cNvPr id="22" name="Text 20"/>
          <p:cNvSpPr/>
          <p:nvPr/>
        </p:nvSpPr>
        <p:spPr>
          <a:xfrm>
            <a:off x="731520" y="3931920"/>
            <a:ext cx="3200400" cy="457200"/>
          </a:xfrm>
          <a:prstGeom prst="rect">
            <a:avLst/>
          </a:prstGeom>
          <a:noFill/>
          <a:ln/>
        </p:spPr>
        <p:txBody>
          <a:bodyPr wrap="square" lIns="635" tIns="635" rIns="635" bIns="635" rtlCol="0" anchor="t"/>
          <a:lstStyle/>
          <a:p>
            <a:pPr indent="0" marL="0">
              <a:buNone/>
            </a:pPr>
            <a:r>
              <a:rPr lang="en-US" sz="1200" dirty="0">
                <a:solidFill>
                  <a:srgbClr val="6B6B6B"/>
                </a:solidFill>
                <a:latin typeface="Calibri" pitchFamily="34" charset="0"/>
                <a:ea typeface="Calibri" pitchFamily="34" charset="-122"/>
                <a:cs typeface="Calibri" pitchFamily="34" charset="-120"/>
              </a:rPr>
              <a:t>after 1 warm-up; method order shuffled (seed 402)</a:t>
            </a:r>
            <a:endParaRPr lang="en-US" sz="1200" dirty="0"/>
          </a:p>
        </p:txBody>
      </p:sp>
      <p:sp>
        <p:nvSpPr>
          <p:cNvPr id="23" name="Shape 21"/>
          <p:cNvSpPr/>
          <p:nvPr/>
        </p:nvSpPr>
        <p:spPr>
          <a:xfrm>
            <a:off x="4297680" y="3063240"/>
            <a:ext cx="3520440" cy="1417320"/>
          </a:xfrm>
          <a:prstGeom prst="roundRect">
            <a:avLst>
              <a:gd name="adj" fmla="val 5161"/>
            </a:avLst>
          </a:prstGeom>
          <a:solidFill>
            <a:srgbClr val="FFFFFF"/>
          </a:solidFill>
          <a:ln w="12700">
            <a:solidFill>
              <a:srgbClr val="C9D6C9"/>
            </a:solidFill>
            <a:prstDash val="solid"/>
          </a:ln>
        </p:spPr>
      </p:sp>
      <p:sp>
        <p:nvSpPr>
          <p:cNvPr id="24" name="Text 22"/>
          <p:cNvSpPr/>
          <p:nvPr/>
        </p:nvSpPr>
        <p:spPr>
          <a:xfrm>
            <a:off x="4480560" y="3172968"/>
            <a:ext cx="1463040" cy="731520"/>
          </a:xfrm>
          <a:prstGeom prst="rect">
            <a:avLst/>
          </a:prstGeom>
          <a:noFill/>
          <a:ln/>
        </p:spPr>
        <p:txBody>
          <a:bodyPr wrap="square" lIns="0" tIns="0" rIns="0" bIns="0" rtlCol="0" anchor="ctr"/>
          <a:lstStyle/>
          <a:p>
            <a:pPr indent="0" marL="0">
              <a:buNone/>
            </a:pPr>
            <a:r>
              <a:rPr lang="en-US" sz="3600" b="1" dirty="0">
                <a:solidFill>
                  <a:srgbClr val="E07B30"/>
                </a:solidFill>
                <a:latin typeface="Cambria" pitchFamily="34" charset="0"/>
                <a:ea typeface="Cambria" pitchFamily="34" charset="-122"/>
                <a:cs typeface="Cambria" pitchFamily="34" charset="-120"/>
              </a:rPr>
              <a:t>80</a:t>
            </a:r>
            <a:endParaRPr lang="en-US" sz="3600" dirty="0"/>
          </a:p>
        </p:txBody>
      </p:sp>
      <p:sp>
        <p:nvSpPr>
          <p:cNvPr id="25" name="Text 23"/>
          <p:cNvSpPr/>
          <p:nvPr/>
        </p:nvSpPr>
        <p:spPr>
          <a:xfrm>
            <a:off x="5897880" y="3264408"/>
            <a:ext cx="1828800" cy="59436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digit reference roots</a:t>
            </a:r>
            <a:endParaRPr lang="en-US" sz="1500" dirty="0"/>
          </a:p>
        </p:txBody>
      </p:sp>
      <p:sp>
        <p:nvSpPr>
          <p:cNvPr id="26" name="Text 24"/>
          <p:cNvSpPr/>
          <p:nvPr/>
        </p:nvSpPr>
        <p:spPr>
          <a:xfrm>
            <a:off x="4480560" y="3931920"/>
            <a:ext cx="3200400" cy="457200"/>
          </a:xfrm>
          <a:prstGeom prst="rect">
            <a:avLst/>
          </a:prstGeom>
          <a:noFill/>
          <a:ln/>
        </p:spPr>
        <p:txBody>
          <a:bodyPr wrap="square" lIns="635" tIns="635" rIns="635" bIns="635" rtlCol="0" anchor="t"/>
          <a:lstStyle/>
          <a:p>
            <a:pPr indent="0" marL="0">
              <a:buNone/>
            </a:pPr>
            <a:r>
              <a:rPr lang="en-US" sz="1200" dirty="0">
                <a:solidFill>
                  <a:srgbClr val="6B6B6B"/>
                </a:solidFill>
                <a:latin typeface="Calibri" pitchFamily="34" charset="0"/>
                <a:ea typeface="Calibri" pitchFamily="34" charset="-122"/>
                <a:cs typeface="Calibri" pitchFamily="34" charset="-120"/>
              </a:rPr>
              <a:t>independent mpmath check of every root</a:t>
            </a:r>
            <a:endParaRPr lang="en-US" sz="1200" dirty="0"/>
          </a:p>
        </p:txBody>
      </p:sp>
      <p:sp>
        <p:nvSpPr>
          <p:cNvPr id="27" name="Shape 25"/>
          <p:cNvSpPr/>
          <p:nvPr/>
        </p:nvSpPr>
        <p:spPr>
          <a:xfrm>
            <a:off x="8046720" y="3063240"/>
            <a:ext cx="3520440" cy="1417320"/>
          </a:xfrm>
          <a:prstGeom prst="roundRect">
            <a:avLst>
              <a:gd name="adj" fmla="val 5161"/>
            </a:avLst>
          </a:prstGeom>
          <a:solidFill>
            <a:srgbClr val="FFFFFF"/>
          </a:solidFill>
          <a:ln w="12700">
            <a:solidFill>
              <a:srgbClr val="C9D6C9"/>
            </a:solidFill>
            <a:prstDash val="solid"/>
          </a:ln>
        </p:spPr>
      </p:sp>
      <p:sp>
        <p:nvSpPr>
          <p:cNvPr id="28" name="Text 26"/>
          <p:cNvSpPr/>
          <p:nvPr/>
        </p:nvSpPr>
        <p:spPr>
          <a:xfrm>
            <a:off x="8229600" y="3172968"/>
            <a:ext cx="1463040" cy="731520"/>
          </a:xfrm>
          <a:prstGeom prst="rect">
            <a:avLst/>
          </a:prstGeom>
          <a:noFill/>
          <a:ln/>
        </p:spPr>
        <p:txBody>
          <a:bodyPr wrap="square" lIns="0" tIns="0" rIns="0" bIns="0" rtlCol="0" anchor="ctr"/>
          <a:lstStyle/>
          <a:p>
            <a:pPr indent="0" marL="0">
              <a:buNone/>
            </a:pPr>
            <a:r>
              <a:rPr lang="en-US" sz="3600" b="1" dirty="0">
                <a:solidFill>
                  <a:srgbClr val="E07B30"/>
                </a:solidFill>
                <a:latin typeface="Cambria" pitchFamily="34" charset="0"/>
                <a:ea typeface="Cambria" pitchFamily="34" charset="-122"/>
                <a:cs typeface="Cambria" pitchFamily="34" charset="-120"/>
              </a:rPr>
              <a:t>17</a:t>
            </a:r>
            <a:endParaRPr lang="en-US" sz="3600" dirty="0"/>
          </a:p>
        </p:txBody>
      </p:sp>
      <p:sp>
        <p:nvSpPr>
          <p:cNvPr id="29" name="Text 27"/>
          <p:cNvSpPr/>
          <p:nvPr/>
        </p:nvSpPr>
        <p:spPr>
          <a:xfrm>
            <a:off x="9646920" y="3264408"/>
            <a:ext cx="1828800" cy="59436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unit tests</a:t>
            </a:r>
            <a:endParaRPr lang="en-US" sz="1500" dirty="0"/>
          </a:p>
        </p:txBody>
      </p:sp>
      <p:sp>
        <p:nvSpPr>
          <p:cNvPr id="30" name="Text 28"/>
          <p:cNvSpPr/>
          <p:nvPr/>
        </p:nvSpPr>
        <p:spPr>
          <a:xfrm>
            <a:off x="8229600" y="3931920"/>
            <a:ext cx="3200400" cy="457200"/>
          </a:xfrm>
          <a:prstGeom prst="rect">
            <a:avLst/>
          </a:prstGeom>
          <a:noFill/>
          <a:ln/>
        </p:spPr>
        <p:txBody>
          <a:bodyPr wrap="square" lIns="635" tIns="635" rIns="635" bIns="635" rtlCol="0" anchor="t"/>
          <a:lstStyle/>
          <a:p>
            <a:pPr indent="0" marL="0">
              <a:buNone/>
            </a:pPr>
            <a:r>
              <a:rPr lang="en-US" sz="1200" dirty="0">
                <a:solidFill>
                  <a:srgbClr val="6B6B6B"/>
                </a:solidFill>
                <a:latin typeface="Calibri" pitchFamily="34" charset="0"/>
                <a:ea typeface="Calibri" pitchFamily="34" charset="-122"/>
                <a:cs typeface="Calibri" pitchFamily="34" charset="-120"/>
              </a:rPr>
              <a:t>roots, call accounting, failures, policy rules</a:t>
            </a:r>
            <a:endParaRPr lang="en-US" sz="1200" dirty="0"/>
          </a:p>
        </p:txBody>
      </p:sp>
      <p:sp>
        <p:nvSpPr>
          <p:cNvPr id="31" name="Shape 29"/>
          <p:cNvSpPr/>
          <p:nvPr/>
        </p:nvSpPr>
        <p:spPr>
          <a:xfrm>
            <a:off x="548640" y="4754880"/>
            <a:ext cx="11109960" cy="1280160"/>
          </a:xfrm>
          <a:prstGeom prst="roundRect">
            <a:avLst>
              <a:gd name="adj" fmla="val 5714"/>
            </a:avLst>
          </a:prstGeom>
          <a:solidFill>
            <a:srgbClr val="FBEDE2"/>
          </a:solidFill>
          <a:ln w="12700">
            <a:solidFill>
              <a:srgbClr val="FBEDE2"/>
            </a:solidFill>
            <a:prstDash val="solid"/>
          </a:ln>
        </p:spPr>
      </p:sp>
      <p:sp>
        <p:nvSpPr>
          <p:cNvPr id="32" name="Text 30"/>
          <p:cNvSpPr/>
          <p:nvPr/>
        </p:nvSpPr>
        <p:spPr>
          <a:xfrm>
            <a:off x="777240" y="4846320"/>
            <a:ext cx="3657600" cy="274320"/>
          </a:xfrm>
          <a:prstGeom prst="rect">
            <a:avLst/>
          </a:prstGeom>
          <a:noFill/>
          <a:ln/>
        </p:spPr>
        <p:txBody>
          <a:bodyPr wrap="square" lIns="635" tIns="635" rIns="635" bIns="635" rtlCol="0" anchor="t"/>
          <a:lstStyle/>
          <a:p>
            <a:pPr indent="0" marL="0">
              <a:buNone/>
            </a:pPr>
            <a:r>
              <a:rPr lang="en-US" sz="1150" b="1" spc="100" kern="0" dirty="0">
                <a:solidFill>
                  <a:srgbClr val="E07B30"/>
                </a:solidFill>
                <a:latin typeface="Calibri" pitchFamily="34" charset="0"/>
                <a:ea typeface="Calibri" pitchFamily="34" charset="-122"/>
                <a:cs typeface="Calibri" pitchFamily="34" charset="-120"/>
              </a:rPr>
              <a:t>FAIR ACCOUNTING</a:t>
            </a:r>
            <a:endParaRPr lang="en-US" sz="1150" dirty="0"/>
          </a:p>
        </p:txBody>
      </p:sp>
      <p:sp>
        <p:nvSpPr>
          <p:cNvPr id="33" name="Text 31"/>
          <p:cNvSpPr/>
          <p:nvPr/>
        </p:nvSpPr>
        <p:spPr>
          <a:xfrm>
            <a:off x="777240" y="5120640"/>
            <a:ext cx="10698480" cy="868680"/>
          </a:xfrm>
          <a:prstGeom prst="rect">
            <a:avLst/>
          </a:prstGeom>
          <a:noFill/>
          <a:ln/>
        </p:spPr>
        <p:txBody>
          <a:bodyPr wrap="square" rtlCol="0" anchor="t"/>
          <a:lstStyle/>
          <a:p>
            <a:pPr marL="342900" indent="-342900">
              <a:spcAft>
                <a:spcPts val="200"/>
              </a:spcAft>
              <a:buSzPct val="100000"/>
              <a:buChar char="•"/>
            </a:pPr>
            <a:r>
              <a:rPr lang="en-US" sz="1300" dirty="0">
                <a:solidFill>
                  <a:srgbClr val="333333"/>
                </a:solidFill>
                <a:latin typeface="Calibri" pitchFamily="34" charset="0"/>
                <a:ea typeface="Calibri" pitchFamily="34" charset="-122"/>
                <a:cs typeface="Calibri" pitchFamily="34" charset="-120"/>
              </a:rPr>
              <a:t>Every distinct f(x) call counts, including initial endpoints and rejected probes. A cached point is never charged twice.</a:t>
            </a:r>
            <a:endParaRPr lang="en-US" sz="1300" dirty="0"/>
          </a:p>
          <a:p>
            <a:pPr marL="342900" indent="-342900">
              <a:spcAft>
                <a:spcPts val="200"/>
              </a:spcAft>
              <a:buSzPct val="100000"/>
              <a:buChar char="•"/>
            </a:pPr>
            <a:r>
              <a:rPr lang="en-US" sz="1300" dirty="0">
                <a:solidFill>
                  <a:srgbClr val="333333"/>
                </a:solidFill>
                <a:latin typeface="Calibri" pitchFamily="34" charset="0"/>
                <a:ea typeface="Calibri" pitchFamily="34" charset="-122"/>
                <a:cs typeface="Calibri" pitchFamily="34" charset="-120"/>
              </a:rPr>
              <a:t>Failures stay in the totals. Pairwise comparisons use only problems where both methods succeed inside the interval.</a:t>
            </a:r>
            <a:endParaRPr lang="en-US" sz="1300" dirty="0"/>
          </a:p>
          <a:p>
            <a:pPr marL="342900" indent="-342900">
              <a:spcAft>
                <a:spcPts val="200"/>
              </a:spcAft>
              <a:buSzPct val="100000"/>
              <a:buChar char="•"/>
            </a:pPr>
            <a:r>
              <a:rPr lang="en-US" sz="1300" dirty="0">
                <a:solidFill>
                  <a:srgbClr val="333333"/>
                </a:solidFill>
                <a:latin typeface="Calibri" pitchFamily="34" charset="0"/>
                <a:ea typeface="Calibri" pitchFamily="34" charset="-122"/>
                <a:cs typeface="Calibri" pitchFamily="34" charset="-120"/>
              </a:rPr>
              <a:t>Newton's f′ calls are reported separately, not folded into f-call rankings.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Step 1: Reproducing the Base Paper</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Before comparing, we checked that our static hybrids match Tables 8–9</a:t>
            </a:r>
            <a:endParaRPr lang="en-US" sz="1500" dirty="0"/>
          </a:p>
        </p:txBody>
      </p:sp>
      <p:sp>
        <p:nvSpPr>
          <p:cNvPr id="7" name="Shape 5"/>
          <p:cNvSpPr/>
          <p:nvPr/>
        </p:nvSpPr>
        <p:spPr>
          <a:xfrm>
            <a:off x="548640" y="1508760"/>
            <a:ext cx="2743200" cy="2103120"/>
          </a:xfrm>
          <a:prstGeom prst="roundRect">
            <a:avLst>
              <a:gd name="adj" fmla="val 3478"/>
            </a:avLst>
          </a:prstGeom>
          <a:solidFill>
            <a:srgbClr val="E6EFE6"/>
          </a:solidFill>
          <a:ln w="12700">
            <a:solidFill>
              <a:srgbClr val="E6EFE6"/>
            </a:solidFill>
            <a:prstDash val="solid"/>
          </a:ln>
        </p:spPr>
      </p:sp>
      <p:sp>
        <p:nvSpPr>
          <p:cNvPr id="8" name="Text 6"/>
          <p:cNvSpPr/>
          <p:nvPr/>
        </p:nvSpPr>
        <p:spPr>
          <a:xfrm>
            <a:off x="731520" y="1645920"/>
            <a:ext cx="2377440" cy="365760"/>
          </a:xfrm>
          <a:prstGeom prst="rect">
            <a:avLst/>
          </a:prstGeom>
          <a:noFill/>
          <a:ln/>
        </p:spPr>
        <p:txBody>
          <a:bodyPr wrap="square" lIns="635" tIns="635" rIns="635" bIns="635" rtlCol="0" anchor="t"/>
          <a:lstStyle/>
          <a:p>
            <a:pPr algn="ctr" indent="0" marL="0">
              <a:buNone/>
            </a:pPr>
            <a:r>
              <a:rPr lang="en-US" sz="1500" b="1" dirty="0">
                <a:solidFill>
                  <a:srgbClr val="1E4D2B"/>
                </a:solidFill>
                <a:latin typeface="Calibri" pitchFamily="34" charset="0"/>
                <a:ea typeface="Calibri" pitchFamily="34" charset="-122"/>
                <a:cs typeface="Calibri" pitchFamily="34" charset="-120"/>
              </a:rPr>
              <a:t>Static BF</a:t>
            </a:r>
            <a:endParaRPr lang="en-US" sz="1500" dirty="0"/>
          </a:p>
        </p:txBody>
      </p:sp>
      <p:sp>
        <p:nvSpPr>
          <p:cNvPr id="9" name="Text 7"/>
          <p:cNvSpPr/>
          <p:nvPr/>
        </p:nvSpPr>
        <p:spPr>
          <a:xfrm>
            <a:off x="731520" y="2011680"/>
            <a:ext cx="2377440" cy="868680"/>
          </a:xfrm>
          <a:prstGeom prst="rect">
            <a:avLst/>
          </a:prstGeom>
          <a:noFill/>
          <a:ln/>
        </p:spPr>
        <p:txBody>
          <a:bodyPr wrap="square" rtlCol="0" anchor="ctr"/>
          <a:lstStyle/>
          <a:p>
            <a:pPr algn="ctr" indent="0" marL="0">
              <a:buNone/>
            </a:pPr>
            <a:r>
              <a:rPr lang="en-US" sz="4800" b="1" dirty="0">
                <a:solidFill>
                  <a:srgbClr val="1E4D2B"/>
                </a:solidFill>
                <a:latin typeface="Cambria" pitchFamily="34" charset="0"/>
                <a:ea typeface="Cambria" pitchFamily="34" charset="-122"/>
                <a:cs typeface="Cambria" pitchFamily="34" charset="-120"/>
              </a:rPr>
              <a:t>122</a:t>
            </a:r>
            <a:endParaRPr lang="en-US" sz="4800" dirty="0"/>
          </a:p>
        </p:txBody>
      </p:sp>
      <p:sp>
        <p:nvSpPr>
          <p:cNvPr id="10" name="Text 8"/>
          <p:cNvSpPr/>
          <p:nvPr/>
        </p:nvSpPr>
        <p:spPr>
          <a:xfrm>
            <a:off x="731520" y="2971800"/>
            <a:ext cx="2377440" cy="365760"/>
          </a:xfrm>
          <a:prstGeom prst="rect">
            <a:avLst/>
          </a:prstGeom>
          <a:noFill/>
          <a:ln/>
        </p:spPr>
        <p:txBody>
          <a:bodyPr wrap="square" lIns="635" tIns="635" rIns="635" bIns="635" rtlCol="0" anchor="t"/>
          <a:lstStyle/>
          <a:p>
            <a:pPr algn="ctr" indent="0" marL="0">
              <a:buNone/>
            </a:pPr>
            <a:r>
              <a:rPr lang="en-US" sz="1300" dirty="0">
                <a:solidFill>
                  <a:srgbClr val="6B6B6B"/>
                </a:solidFill>
                <a:latin typeface="Calibri" pitchFamily="34" charset="0"/>
                <a:ea typeface="Calibri" pitchFamily="34" charset="-122"/>
                <a:cs typeface="Calibri" pitchFamily="34" charset="-120"/>
              </a:rPr>
              <a:t>total iterations (paper: 121)</a:t>
            </a:r>
            <a:endParaRPr lang="en-US" sz="1300" dirty="0"/>
          </a:p>
        </p:txBody>
      </p:sp>
      <p:sp>
        <p:nvSpPr>
          <p:cNvPr id="11" name="Shape 9"/>
          <p:cNvSpPr/>
          <p:nvPr/>
        </p:nvSpPr>
        <p:spPr>
          <a:xfrm>
            <a:off x="3474720" y="1508760"/>
            <a:ext cx="2743200" cy="2103120"/>
          </a:xfrm>
          <a:prstGeom prst="roundRect">
            <a:avLst>
              <a:gd name="adj" fmla="val 3478"/>
            </a:avLst>
          </a:prstGeom>
          <a:solidFill>
            <a:srgbClr val="E6EFE6"/>
          </a:solidFill>
          <a:ln w="12700">
            <a:solidFill>
              <a:srgbClr val="E6EFE6"/>
            </a:solidFill>
            <a:prstDash val="solid"/>
          </a:ln>
        </p:spPr>
      </p:sp>
      <p:sp>
        <p:nvSpPr>
          <p:cNvPr id="12" name="Text 10"/>
          <p:cNvSpPr/>
          <p:nvPr/>
        </p:nvSpPr>
        <p:spPr>
          <a:xfrm>
            <a:off x="3657600" y="1645920"/>
            <a:ext cx="2377440" cy="365760"/>
          </a:xfrm>
          <a:prstGeom prst="rect">
            <a:avLst/>
          </a:prstGeom>
          <a:noFill/>
          <a:ln/>
        </p:spPr>
        <p:txBody>
          <a:bodyPr wrap="square" lIns="635" tIns="635" rIns="635" bIns="635" rtlCol="0" anchor="t"/>
          <a:lstStyle/>
          <a:p>
            <a:pPr algn="ctr" indent="0" marL="0">
              <a:buNone/>
            </a:pPr>
            <a:r>
              <a:rPr lang="en-US" sz="1500" b="1" dirty="0">
                <a:solidFill>
                  <a:srgbClr val="1E4D2B"/>
                </a:solidFill>
                <a:latin typeface="Calibri" pitchFamily="34" charset="0"/>
                <a:ea typeface="Calibri" pitchFamily="34" charset="-122"/>
                <a:cs typeface="Calibri" pitchFamily="34" charset="-120"/>
              </a:rPr>
              <a:t>Static TF</a:t>
            </a:r>
            <a:endParaRPr lang="en-US" sz="1500" dirty="0"/>
          </a:p>
        </p:txBody>
      </p:sp>
      <p:sp>
        <p:nvSpPr>
          <p:cNvPr id="13" name="Text 11"/>
          <p:cNvSpPr/>
          <p:nvPr/>
        </p:nvSpPr>
        <p:spPr>
          <a:xfrm>
            <a:off x="3657600" y="2011680"/>
            <a:ext cx="2377440" cy="868680"/>
          </a:xfrm>
          <a:prstGeom prst="rect">
            <a:avLst/>
          </a:prstGeom>
          <a:noFill/>
          <a:ln/>
        </p:spPr>
        <p:txBody>
          <a:bodyPr wrap="square" rtlCol="0" anchor="ctr"/>
          <a:lstStyle/>
          <a:p>
            <a:pPr algn="ctr" indent="0" marL="0">
              <a:buNone/>
            </a:pPr>
            <a:r>
              <a:rPr lang="en-US" sz="4800" b="1" dirty="0">
                <a:solidFill>
                  <a:srgbClr val="1E4D2B"/>
                </a:solidFill>
                <a:latin typeface="Cambria" pitchFamily="34" charset="0"/>
                <a:ea typeface="Cambria" pitchFamily="34" charset="-122"/>
                <a:cs typeface="Cambria" pitchFamily="34" charset="-120"/>
              </a:rPr>
              <a:t>99</a:t>
            </a:r>
            <a:endParaRPr lang="en-US" sz="4800" dirty="0"/>
          </a:p>
        </p:txBody>
      </p:sp>
      <p:sp>
        <p:nvSpPr>
          <p:cNvPr id="14" name="Text 12"/>
          <p:cNvSpPr/>
          <p:nvPr/>
        </p:nvSpPr>
        <p:spPr>
          <a:xfrm>
            <a:off x="3657600" y="2971800"/>
            <a:ext cx="2377440" cy="365760"/>
          </a:xfrm>
          <a:prstGeom prst="rect">
            <a:avLst/>
          </a:prstGeom>
          <a:noFill/>
          <a:ln/>
        </p:spPr>
        <p:txBody>
          <a:bodyPr wrap="square" lIns="635" tIns="635" rIns="635" bIns="635" rtlCol="0" anchor="t"/>
          <a:lstStyle/>
          <a:p>
            <a:pPr algn="ctr" indent="0" marL="0">
              <a:buNone/>
            </a:pPr>
            <a:r>
              <a:rPr lang="en-US" sz="1300" dirty="0">
                <a:solidFill>
                  <a:srgbClr val="6B6B6B"/>
                </a:solidFill>
                <a:latin typeface="Calibri" pitchFamily="34" charset="0"/>
                <a:ea typeface="Calibri" pitchFamily="34" charset="-122"/>
                <a:cs typeface="Calibri" pitchFamily="34" charset="-120"/>
              </a:rPr>
              <a:t>total iterations (paper: 98)</a:t>
            </a:r>
            <a:endParaRPr lang="en-US" sz="1300" dirty="0"/>
          </a:p>
        </p:txBody>
      </p:sp>
      <p:sp>
        <p:nvSpPr>
          <p:cNvPr id="15" name="Shape 13"/>
          <p:cNvSpPr/>
          <p:nvPr/>
        </p:nvSpPr>
        <p:spPr>
          <a:xfrm>
            <a:off x="548640" y="3840480"/>
            <a:ext cx="5669280" cy="1691640"/>
          </a:xfrm>
          <a:prstGeom prst="roundRect">
            <a:avLst>
              <a:gd name="adj" fmla="val 4324"/>
            </a:avLst>
          </a:prstGeom>
          <a:solidFill>
            <a:srgbClr val="FFFFFF"/>
          </a:solidFill>
          <a:ln w="12700">
            <a:solidFill>
              <a:srgbClr val="C9D6C9"/>
            </a:solidFill>
            <a:prstDash val="solid"/>
          </a:ln>
        </p:spPr>
      </p:sp>
      <p:sp>
        <p:nvSpPr>
          <p:cNvPr id="16" name="Text 14"/>
          <p:cNvSpPr/>
          <p:nvPr/>
        </p:nvSpPr>
        <p:spPr>
          <a:xfrm>
            <a:off x="777240" y="3886200"/>
            <a:ext cx="5303520" cy="1600200"/>
          </a:xfrm>
          <a:prstGeom prst="rect">
            <a:avLst/>
          </a:prstGeom>
          <a:noFill/>
          <a:ln/>
        </p:spPr>
        <p:txBody>
          <a:bodyPr wrap="square" rtlCol="0" anchor="ctr"/>
          <a:lstStyle/>
          <a:p>
            <a:pPr indent="0" marL="0">
              <a:buNone/>
            </a:pPr>
            <a:r>
              <a:rPr lang="en-US" sz="2800" b="1" dirty="0">
                <a:solidFill>
                  <a:srgbClr val="E07B30"/>
                </a:solidFill>
                <a:latin typeface="Cambria" pitchFamily="34" charset="0"/>
                <a:ea typeface="Cambria" pitchFamily="34" charset="-122"/>
                <a:cs typeface="Cambria" pitchFamily="34" charset="-120"/>
              </a:rPr>
              <a:t>28 of 30</a:t>
            </a:r>
            <a:endParaRPr lang="en-US" sz="1400" dirty="0"/>
          </a:p>
          <a:p>
            <a:pPr indent="0" marL="0">
              <a:buNone/>
            </a:pPr>
            <a:r>
              <a:rPr lang="en-US" sz="1400" dirty="0">
                <a:solidFill>
                  <a:srgbClr val="333333"/>
                </a:solidFill>
                <a:latin typeface="Calibri" pitchFamily="34" charset="0"/>
                <a:ea typeface="Calibri" pitchFamily="34" charset="-122"/>
                <a:cs typeface="Calibri" pitchFamily="34" charset="-120"/>
              </a:rPr>
              <a:t>per-problem iteration counts match the paper exactly.</a:t>
            </a:r>
            <a:endParaRPr lang="en-US" sz="1400" dirty="0"/>
          </a:p>
          <a:p>
            <a:pPr indent="0" marL="0">
              <a:buNone/>
            </a:pPr>
            <a:r>
              <a:rPr lang="en-US" sz="600" dirty="0">
                <a:solidFill>
                  <a:srgbClr val="333333"/>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333333"/>
                </a:solidFill>
                <a:latin typeface="Calibri" pitchFamily="34" charset="0"/>
                <a:ea typeface="Calibri" pitchFamily="34" charset="-122"/>
                <a:cs typeface="Calibri" pitchFamily="34" charset="-120"/>
              </a:rPr>
              <a:t>The only difference is P3 (x² − 10), +1 iteration for both hybrids, most likely from floating-point ordering in the false-position formula.</a:t>
            </a:r>
            <a:endParaRPr lang="en-US" sz="1400" dirty="0"/>
          </a:p>
        </p:txBody>
      </p:sp>
      <p:sp>
        <p:nvSpPr>
          <p:cNvPr id="17" name="Shape 15"/>
          <p:cNvSpPr/>
          <p:nvPr/>
        </p:nvSpPr>
        <p:spPr>
          <a:xfrm>
            <a:off x="6583680" y="1508760"/>
            <a:ext cx="5074920" cy="4023360"/>
          </a:xfrm>
          <a:prstGeom prst="roundRect">
            <a:avLst>
              <a:gd name="adj" fmla="val 1818"/>
            </a:avLst>
          </a:prstGeom>
          <a:solidFill>
            <a:srgbClr val="FBEDE2"/>
          </a:solidFill>
          <a:ln w="12700">
            <a:solidFill>
              <a:srgbClr val="E07B30"/>
            </a:solidFill>
            <a:prstDash val="solid"/>
          </a:ln>
        </p:spPr>
      </p:sp>
      <p:sp>
        <p:nvSpPr>
          <p:cNvPr id="18" name="Text 16"/>
          <p:cNvSpPr/>
          <p:nvPr/>
        </p:nvSpPr>
        <p:spPr>
          <a:xfrm>
            <a:off x="6812280" y="1691640"/>
            <a:ext cx="4572000" cy="274320"/>
          </a:xfrm>
          <a:prstGeom prst="rect">
            <a:avLst/>
          </a:prstGeom>
          <a:noFill/>
          <a:ln/>
        </p:spPr>
        <p:txBody>
          <a:bodyPr wrap="square" lIns="635" tIns="635" rIns="635" bIns="635" rtlCol="0" anchor="t"/>
          <a:lstStyle/>
          <a:p>
            <a:pPr indent="0" marL="0">
              <a:buNone/>
            </a:pPr>
            <a:r>
              <a:rPr lang="en-US" sz="1200" b="1" spc="100" kern="0" dirty="0">
                <a:solidFill>
                  <a:srgbClr val="E07B30"/>
                </a:solidFill>
                <a:latin typeface="Calibri" pitchFamily="34" charset="0"/>
                <a:ea typeface="Calibri" pitchFamily="34" charset="-122"/>
                <a:cs typeface="Calibri" pitchFamily="34" charset="-120"/>
              </a:rPr>
              <a:t>WHAT WE FOUND IN THE PAPER</a:t>
            </a:r>
            <a:endParaRPr lang="en-US" sz="1200" dirty="0"/>
          </a:p>
        </p:txBody>
      </p:sp>
      <p:sp>
        <p:nvSpPr>
          <p:cNvPr id="19" name="Text 17"/>
          <p:cNvSpPr/>
          <p:nvPr/>
        </p:nvSpPr>
        <p:spPr>
          <a:xfrm>
            <a:off x="6812280" y="2057400"/>
            <a:ext cx="4663440" cy="3383280"/>
          </a:xfrm>
          <a:prstGeom prst="rect">
            <a:avLst/>
          </a:prstGeom>
          <a:noFill/>
          <a:ln/>
        </p:spPr>
        <p:txBody>
          <a:bodyPr wrap="square" rtlCol="0" anchor="t"/>
          <a:lstStyle/>
          <a:p>
            <a:pPr marL="342900" indent="-342900">
              <a:spcAft>
                <a:spcPts val="600"/>
              </a:spcAft>
              <a:buSzPct val="100000"/>
              <a:buChar char="•"/>
            </a:pPr>
            <a:r>
              <a:rPr lang="en-US" sz="1400" dirty="0">
                <a:solidFill>
                  <a:srgbClr val="333333"/>
                </a:solidFill>
                <a:latin typeface="Calibri" pitchFamily="34" charset="0"/>
                <a:ea typeface="Calibri" pitchFamily="34" charset="-122"/>
                <a:cs typeface="Calibri" pitchFamily="34" charset="-120"/>
              </a:rPr>
              <a:t>Some printed residuals are labelled 0 but are not zero when the displayed root is substituted back in.</a:t>
            </a:r>
            <a:endParaRPr lang="en-US" sz="1400" dirty="0"/>
          </a:p>
          <a:p>
            <a:pPr marL="342900" indent="-342900">
              <a:spcAft>
                <a:spcPts val="600"/>
              </a:spcAft>
              <a:buSzPct val="100000"/>
              <a:buChar char="•"/>
            </a:pPr>
            <a:r>
              <a:rPr lang="en-US" sz="1400" dirty="0">
                <a:solidFill>
                  <a:srgbClr val="333333"/>
                </a:solidFill>
                <a:latin typeface="Calibri" pitchFamily="34" charset="0"/>
                <a:ea typeface="Calibri" pitchFamily="34" charset="-122"/>
                <a:cs typeface="Calibri" pitchFamily="34" charset="-120"/>
              </a:rPr>
              <a:t>The text around Figures 4–5 attributes P11's behaviour to P4. P4's root in [1, 4] is 2, found in one trisection step.</a:t>
            </a:r>
            <a:endParaRPr lang="en-US" sz="1400" dirty="0"/>
          </a:p>
          <a:p>
            <a:pPr marL="342900" indent="-342900">
              <a:spcAft>
                <a:spcPts val="600"/>
              </a:spcAft>
              <a:buSzPct val="100000"/>
              <a:buChar char="•"/>
            </a:pPr>
            <a:r>
              <a:rPr lang="en-US" sz="1400" dirty="0">
                <a:solidFill>
                  <a:srgbClr val="333333"/>
                </a:solidFill>
                <a:latin typeface="Calibri" pitchFamily="34" charset="0"/>
                <a:ea typeface="Calibri" pitchFamily="34" charset="-122"/>
                <a:cs typeface="Calibri" pitchFamily="34" charset="-120"/>
              </a:rPr>
              <a:t>Table 2's "error" is the difference between iterates, but the algorithms stop on |f(x)|.</a:t>
            </a:r>
            <a:endParaRPr lang="en-US" sz="1400" dirty="0"/>
          </a:p>
          <a:p>
            <a:pPr marL="342900" indent="-342900">
              <a:spcAft>
                <a:spcPts val="600"/>
              </a:spcAft>
              <a:buSzPct val="100000"/>
              <a:buChar char="•"/>
            </a:pPr>
            <a:r>
              <a:rPr lang="en-US" sz="1400" dirty="0">
                <a:solidFill>
                  <a:srgbClr val="333333"/>
                </a:solidFill>
                <a:latin typeface="Calibri" pitchFamily="34" charset="0"/>
                <a:ea typeface="Calibri" pitchFamily="34" charset="-122"/>
                <a:cs typeface="Calibri" pitchFamily="34" charset="-120"/>
              </a:rPr>
              <a:t>The log₂/log₃ step bounds limit interval width, not the residual stopping criterion.</a:t>
            </a:r>
            <a:endParaRPr lang="en-US" sz="1400" dirty="0"/>
          </a:p>
          <a:p>
            <a:pPr indent="0" marL="0">
              <a:spcAft>
                <a:spcPts val="600"/>
              </a:spcAft>
              <a:buNone/>
            </a:pPr>
            <a:r>
              <a:rPr lang="en-US" sz="600" dirty="0">
                <a:solidFill>
                  <a:srgbClr val="333333"/>
                </a:solidFill>
                <a:latin typeface="Calibri" pitchFamily="34" charset="0"/>
                <a:ea typeface="Calibri" pitchFamily="34" charset="-122"/>
                <a:cs typeface="Calibri" pitchFamily="34" charset="-120"/>
              </a:rPr>
              <a:t> </a:t>
            </a:r>
            <a:endParaRPr lang="en-US" sz="1400" dirty="0"/>
          </a:p>
          <a:p>
            <a:pPr indent="0" marL="0">
              <a:spcAft>
                <a:spcPts val="600"/>
              </a:spcAft>
              <a:buNone/>
            </a:pPr>
            <a:r>
              <a:rPr lang="en-US" sz="1400" b="1" dirty="0">
                <a:solidFill>
                  <a:srgbClr val="1E4D2B"/>
                </a:solidFill>
                <a:latin typeface="Calibri" pitchFamily="34" charset="0"/>
                <a:ea typeface="Calibri" pitchFamily="34" charset="-122"/>
                <a:cs typeface="Calibri" pitchFamily="34" charset="-120"/>
              </a:rPr>
              <a:t>We report published and measured values side by side and never force a match.</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Fewer Iterations ≠ Less Work</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Totals over all 15 equations at ε = 10⁻¹⁴ (every method solves all 15)</a:t>
            </a:r>
            <a:endParaRPr lang="en-US" sz="1500" dirty="0"/>
          </a:p>
        </p:txBody>
      </p:sp>
      <p:graphicFrame>
        <p:nvGraphicFramePr>
          <p:cNvPr id="7" name="Chart 0" descr=""/>
          <p:cNvGraphicFramePr/>
          <p:nvPr/>
        </p:nvGraphicFramePr>
        <p:xfrm>
          <a:off x="457200" y="1417320"/>
          <a:ext cx="7223760" cy="46634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001000" y="1554480"/>
            <a:ext cx="3657600" cy="987552"/>
          </a:xfrm>
          <a:prstGeom prst="roundRect">
            <a:avLst>
              <a:gd name="adj" fmla="val 7407"/>
            </a:avLst>
          </a:prstGeom>
          <a:solidFill>
            <a:srgbClr val="E6EFE6"/>
          </a:solidFill>
          <a:ln w="12700">
            <a:solidFill>
              <a:srgbClr val="E6EFE6"/>
            </a:solidFill>
            <a:prstDash val="solid"/>
          </a:ln>
        </p:spPr>
      </p:sp>
      <p:sp>
        <p:nvSpPr>
          <p:cNvPr id="9" name="Text 6"/>
          <p:cNvSpPr/>
          <p:nvPr/>
        </p:nvSpPr>
        <p:spPr>
          <a:xfrm>
            <a:off x="8138160" y="1554480"/>
            <a:ext cx="3429000" cy="987552"/>
          </a:xfrm>
          <a:prstGeom prst="rect">
            <a:avLst/>
          </a:prstGeom>
          <a:noFill/>
          <a:ln/>
        </p:spPr>
        <p:txBody>
          <a:bodyPr wrap="square" rtlCol="0" anchor="ctr"/>
          <a:lstStyle/>
          <a:p>
            <a:pPr indent="0" marL="0">
              <a:buNone/>
            </a:pPr>
            <a:r>
              <a:rPr lang="en-US" sz="1350" b="1" dirty="0">
                <a:solidFill>
                  <a:srgbClr val="1E4D2B"/>
                </a:solidFill>
                <a:latin typeface="Calibri" pitchFamily="34" charset="0"/>
                <a:ea typeface="Calibri" pitchFamily="34" charset="-122"/>
                <a:cs typeface="Calibri" pitchFamily="34" charset="-120"/>
              </a:rPr>
              <a:t>Static TF </a:t>
            </a:r>
            <a:pPr indent="0" marL="0">
              <a:buNone/>
            </a:pPr>
            <a:r>
              <a:rPr lang="en-US" sz="1350" dirty="0">
                <a:solidFill>
                  <a:srgbClr val="333333"/>
                </a:solidFill>
                <a:latin typeface="Calibri" pitchFamily="34" charset="0"/>
                <a:ea typeface="Calibri" pitchFamily="34" charset="-122"/>
                <a:cs typeface="Calibri" pitchFamily="34" charset="-120"/>
              </a:rPr>
              <a:t>takes the fewest iterations (99) but spends 325 calls.</a:t>
            </a:r>
            <a:endParaRPr lang="en-US" sz="1350" dirty="0"/>
          </a:p>
        </p:txBody>
      </p:sp>
      <p:sp>
        <p:nvSpPr>
          <p:cNvPr id="10" name="Shape 7"/>
          <p:cNvSpPr/>
          <p:nvPr/>
        </p:nvSpPr>
        <p:spPr>
          <a:xfrm>
            <a:off x="8001000" y="2670048"/>
            <a:ext cx="3657600" cy="987552"/>
          </a:xfrm>
          <a:prstGeom prst="roundRect">
            <a:avLst>
              <a:gd name="adj" fmla="val 7407"/>
            </a:avLst>
          </a:prstGeom>
          <a:solidFill>
            <a:srgbClr val="E6EFE6"/>
          </a:solidFill>
          <a:ln w="12700">
            <a:solidFill>
              <a:srgbClr val="E6EFE6"/>
            </a:solidFill>
            <a:prstDash val="solid"/>
          </a:ln>
        </p:spPr>
      </p:sp>
      <p:sp>
        <p:nvSpPr>
          <p:cNvPr id="11" name="Text 8"/>
          <p:cNvSpPr/>
          <p:nvPr/>
        </p:nvSpPr>
        <p:spPr>
          <a:xfrm>
            <a:off x="8138160" y="2670048"/>
            <a:ext cx="3429000" cy="987552"/>
          </a:xfrm>
          <a:prstGeom prst="rect">
            <a:avLst/>
          </a:prstGeom>
          <a:noFill/>
          <a:ln/>
        </p:spPr>
        <p:txBody>
          <a:bodyPr wrap="square" rtlCol="0" anchor="ctr"/>
          <a:lstStyle/>
          <a:p>
            <a:pPr indent="0" marL="0">
              <a:buNone/>
            </a:pPr>
            <a:r>
              <a:rPr lang="en-US" sz="1350" b="1" dirty="0">
                <a:solidFill>
                  <a:srgbClr val="1E4D2B"/>
                </a:solidFill>
                <a:latin typeface="Calibri" pitchFamily="34" charset="0"/>
                <a:ea typeface="Calibri" pitchFamily="34" charset="-122"/>
                <a:cs typeface="Calibri" pitchFamily="34" charset="-120"/>
              </a:rPr>
              <a:t>Static BF </a:t>
            </a:r>
            <a:pPr indent="0" marL="0">
              <a:buNone/>
            </a:pPr>
            <a:r>
              <a:rPr lang="en-US" sz="1350" dirty="0">
                <a:solidFill>
                  <a:srgbClr val="333333"/>
                </a:solidFill>
                <a:latin typeface="Calibri" pitchFamily="34" charset="0"/>
                <a:ea typeface="Calibri" pitchFamily="34" charset="-122"/>
                <a:cs typeface="Calibri" pitchFamily="34" charset="-120"/>
              </a:rPr>
              <a:t>is the cheapest in calls (273). No adaptive policy beats it in aggregate at 10⁻¹⁴.</a:t>
            </a:r>
            <a:endParaRPr lang="en-US" sz="1350" dirty="0"/>
          </a:p>
        </p:txBody>
      </p:sp>
      <p:sp>
        <p:nvSpPr>
          <p:cNvPr id="12" name="Shape 9"/>
          <p:cNvSpPr/>
          <p:nvPr/>
        </p:nvSpPr>
        <p:spPr>
          <a:xfrm>
            <a:off x="8001000" y="3785616"/>
            <a:ext cx="3657600" cy="987552"/>
          </a:xfrm>
          <a:prstGeom prst="roundRect">
            <a:avLst>
              <a:gd name="adj" fmla="val 7407"/>
            </a:avLst>
          </a:prstGeom>
          <a:solidFill>
            <a:srgbClr val="FBEDE2"/>
          </a:solidFill>
          <a:ln w="12700">
            <a:solidFill>
              <a:srgbClr val="E07B30"/>
            </a:solidFill>
            <a:prstDash val="solid"/>
          </a:ln>
        </p:spPr>
      </p:sp>
      <p:sp>
        <p:nvSpPr>
          <p:cNvPr id="13" name="Text 10"/>
          <p:cNvSpPr/>
          <p:nvPr/>
        </p:nvSpPr>
        <p:spPr>
          <a:xfrm>
            <a:off x="8138160" y="3785616"/>
            <a:ext cx="3429000" cy="987552"/>
          </a:xfrm>
          <a:prstGeom prst="rect">
            <a:avLst/>
          </a:prstGeom>
          <a:noFill/>
          <a:ln/>
        </p:spPr>
        <p:txBody>
          <a:bodyPr wrap="square" rtlCol="0" anchor="ctr"/>
          <a:lstStyle/>
          <a:p>
            <a:pPr indent="0" marL="0">
              <a:buNone/>
            </a:pPr>
            <a:r>
              <a:rPr lang="en-US" sz="1350" b="1" dirty="0">
                <a:solidFill>
                  <a:srgbClr val="E07B30"/>
                </a:solidFill>
                <a:latin typeface="Calibri" pitchFamily="34" charset="0"/>
                <a:ea typeface="Calibri" pitchFamily="34" charset="-122"/>
                <a:cs typeface="Calibri" pitchFamily="34" charset="-120"/>
              </a:rPr>
              <a:t>Stagnation-aware </a:t>
            </a:r>
            <a:pPr indent="0" marL="0">
              <a:buNone/>
            </a:pPr>
            <a:r>
              <a:rPr lang="en-US" sz="1350" dirty="0">
                <a:solidFill>
                  <a:srgbClr val="333333"/>
                </a:solidFill>
                <a:latin typeface="Calibri" pitchFamily="34" charset="0"/>
                <a:ea typeface="Calibri" pitchFamily="34" charset="-122"/>
                <a:cs typeface="Calibri" pitchFamily="34" charset="-120"/>
              </a:rPr>
              <a:t>is the best of the three policies: 300 calls, 7.7% fewer than Static TF.</a:t>
            </a:r>
            <a:endParaRPr lang="en-US" sz="1350" dirty="0"/>
          </a:p>
        </p:txBody>
      </p:sp>
      <p:sp>
        <p:nvSpPr>
          <p:cNvPr id="14" name="Shape 11"/>
          <p:cNvSpPr/>
          <p:nvPr/>
        </p:nvSpPr>
        <p:spPr>
          <a:xfrm>
            <a:off x="8001000" y="4901184"/>
            <a:ext cx="3657600" cy="987552"/>
          </a:xfrm>
          <a:prstGeom prst="roundRect">
            <a:avLst>
              <a:gd name="adj" fmla="val 7407"/>
            </a:avLst>
          </a:prstGeom>
          <a:solidFill>
            <a:srgbClr val="E6EFE6"/>
          </a:solidFill>
          <a:ln w="12700">
            <a:solidFill>
              <a:srgbClr val="E6EFE6"/>
            </a:solidFill>
            <a:prstDash val="solid"/>
          </a:ln>
        </p:spPr>
      </p:sp>
      <p:sp>
        <p:nvSpPr>
          <p:cNvPr id="15" name="Text 12"/>
          <p:cNvSpPr/>
          <p:nvPr/>
        </p:nvSpPr>
        <p:spPr>
          <a:xfrm>
            <a:off x="8138160" y="4901184"/>
            <a:ext cx="3429000" cy="987552"/>
          </a:xfrm>
          <a:prstGeom prst="rect">
            <a:avLst/>
          </a:prstGeom>
          <a:noFill/>
          <a:ln/>
        </p:spPr>
        <p:txBody>
          <a:bodyPr wrap="square" rtlCol="0" anchor="ctr"/>
          <a:lstStyle/>
          <a:p>
            <a:pPr indent="0" marL="0">
              <a:buNone/>
            </a:pPr>
            <a:r>
              <a:rPr lang="en-US" sz="1350" b="1" dirty="0">
                <a:solidFill>
                  <a:srgbClr val="1E4D2B"/>
                </a:solidFill>
                <a:latin typeface="Calibri" pitchFamily="34" charset="0"/>
                <a:ea typeface="Calibri" pitchFamily="34" charset="-122"/>
                <a:cs typeface="Calibri" pitchFamily="34" charset="-120"/>
              </a:rPr>
              <a:t>Adaptive threshold </a:t>
            </a:r>
            <a:pPr indent="0" marL="0">
              <a:buNone/>
            </a:pPr>
            <a:r>
              <a:rPr lang="en-US" sz="1350" dirty="0">
                <a:solidFill>
                  <a:srgbClr val="333333"/>
                </a:solidFill>
                <a:latin typeface="Calibri" pitchFamily="34" charset="0"/>
                <a:ea typeface="Calibri" pitchFamily="34" charset="-122"/>
                <a:cs typeface="Calibri" pitchFamily="34" charset="-120"/>
              </a:rPr>
              <a:t>is the worst: 458 calls, driven by P11 (98 calls alone).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Does Adaptivity Pay? Head-to-Head</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Function evaluations per equation: wins / ties / losses against each static hybrid</a:t>
            </a:r>
            <a:endParaRPr lang="en-US" sz="1500" dirty="0"/>
          </a:p>
        </p:txBody>
      </p:sp>
      <p:graphicFrame>
        <p:nvGraphicFramePr>
          <p:cNvPr id="7" name="Chart 0" descr=""/>
          <p:cNvGraphicFramePr/>
          <p:nvPr/>
        </p:nvGraphicFramePr>
        <p:xfrm>
          <a:off x="457200" y="141732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7726680" y="1600200"/>
            <a:ext cx="3931920" cy="365760"/>
          </a:xfrm>
          <a:prstGeom prst="rect">
            <a:avLst/>
          </a:prstGeom>
          <a:noFill/>
          <a:ln/>
        </p:spPr>
        <p:txBody>
          <a:bodyPr wrap="square" lIns="635" tIns="635" rIns="635" bIns="635" rtlCol="0" anchor="t"/>
          <a:lstStyle/>
          <a:p>
            <a:pPr indent="0" marL="0">
              <a:buNone/>
            </a:pPr>
            <a:r>
              <a:rPr lang="en-US" sz="1300" b="1" dirty="0">
                <a:solidFill>
                  <a:srgbClr val="1E4D2B"/>
                </a:solidFill>
                <a:latin typeface="Calibri" pitchFamily="34" charset="0"/>
                <a:ea typeface="Calibri" pitchFamily="34" charset="-122"/>
                <a:cs typeface="Calibri" pitchFamily="34" charset="-120"/>
              </a:rPr>
              <a:t>Median f-call ratio  (&lt; 1 favours the policy)</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26680" y="2057400"/>
          <a:ext cx="3931920" cy="914400"/>
        </p:xfrm>
        <a:graphic>
          <a:graphicData uri="http://schemas.openxmlformats.org/drawingml/2006/table">
            <a:tbl>
              <a:tblPr/>
              <a:tblGrid>
                <a:gridCol w="1554480"/>
                <a:gridCol w="1188720"/>
                <a:gridCol w="118872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Policy</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vs TF</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vs BF</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solidFill>
                      <a:srgbClr val="1E4D2B"/>
                    </a:solidFill>
                  </a:tcPr>
                </a:tc>
              </a:tr>
              <a:tr h="384048">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Threshold</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1.118</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1.250</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r>
              <a:tr h="384048">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Cost-aware</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c>
                  <a:txBody>
                    <a:bodyPr/>
                    <a:lstStyle/>
                    <a:p>
                      <a:pPr algn="ctr" indent="0" marL="0">
                        <a:buNone/>
                      </a:pPr>
                      <a:r>
                        <a:rPr lang="en-US" sz="1300" b="1" dirty="0">
                          <a:solidFill>
                            <a:srgbClr val="E07B30"/>
                          </a:solidFill>
                          <a:latin typeface="Calibri" pitchFamily="34" charset="0"/>
                          <a:ea typeface="Calibri" pitchFamily="34" charset="-122"/>
                          <a:cs typeface="Calibri" pitchFamily="34" charset="-120"/>
                        </a:rPr>
                        <a:t>0.824</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1.150</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r>
              <a:tr h="384048">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Stagnation</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c>
                  <a:txBody>
                    <a:bodyPr/>
                    <a:lstStyle/>
                    <a:p>
                      <a:pPr algn="ctr" indent="0" marL="0">
                        <a:buNone/>
                      </a:pPr>
                      <a:r>
                        <a:rPr lang="en-US" sz="1300" b="1" dirty="0">
                          <a:solidFill>
                            <a:srgbClr val="E07B30"/>
                          </a:solidFill>
                          <a:latin typeface="Calibri" pitchFamily="34" charset="0"/>
                          <a:ea typeface="Calibri" pitchFamily="34" charset="-122"/>
                          <a:cs typeface="Calibri" pitchFamily="34" charset="-120"/>
                        </a:rPr>
                        <a:t>0.885</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1.038</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r>
            </a:tbl>
          </a:graphicData>
        </a:graphic>
      </p:graphicFrame>
      <p:sp>
        <p:nvSpPr>
          <p:cNvPr id="10" name="Shape 6"/>
          <p:cNvSpPr/>
          <p:nvPr/>
        </p:nvSpPr>
        <p:spPr>
          <a:xfrm>
            <a:off x="7726680" y="3931920"/>
            <a:ext cx="3931920" cy="1920240"/>
          </a:xfrm>
          <a:prstGeom prst="roundRect">
            <a:avLst>
              <a:gd name="adj" fmla="val 3810"/>
            </a:avLst>
          </a:prstGeom>
          <a:solidFill>
            <a:srgbClr val="FBEDE2"/>
          </a:solidFill>
          <a:ln w="12700">
            <a:solidFill>
              <a:srgbClr val="FBEDE2"/>
            </a:solidFill>
            <a:prstDash val="solid"/>
          </a:ln>
        </p:spPr>
      </p:sp>
      <p:sp>
        <p:nvSpPr>
          <p:cNvPr id="11" name="Text 7"/>
          <p:cNvSpPr/>
          <p:nvPr/>
        </p:nvSpPr>
        <p:spPr>
          <a:xfrm>
            <a:off x="7909560" y="3931920"/>
            <a:ext cx="3611880" cy="1920240"/>
          </a:xfrm>
          <a:prstGeom prst="rect">
            <a:avLst/>
          </a:prstGeom>
          <a:noFill/>
          <a:ln/>
        </p:spPr>
        <p:txBody>
          <a:bodyPr wrap="square" rtlCol="0" anchor="ctr"/>
          <a:lstStyle/>
          <a:p>
            <a:pPr indent="0" marL="0">
              <a:buNone/>
            </a:pPr>
            <a:r>
              <a:rPr lang="en-US" sz="1400" b="1" dirty="0">
                <a:solidFill>
                  <a:srgbClr val="1E4D2B"/>
                </a:solidFill>
                <a:latin typeface="Calibri" pitchFamily="34" charset="0"/>
                <a:ea typeface="Calibri" pitchFamily="34" charset="-122"/>
                <a:cs typeface="Calibri" pitchFamily="34" charset="-120"/>
              </a:rPr>
              <a:t>Adaptivity beats Static TF</a:t>
            </a:r>
            <a:endParaRPr lang="en-US" sz="1400" dirty="0"/>
          </a:p>
          <a:p>
            <a:pPr indent="0" marL="0">
              <a:buNone/>
            </a:pPr>
            <a:r>
              <a:rPr lang="en-US" sz="1400" dirty="0">
                <a:solidFill>
                  <a:srgbClr val="333333"/>
                </a:solidFill>
                <a:latin typeface="Calibri" pitchFamily="34" charset="0"/>
                <a:ea typeface="Calibri" pitchFamily="34" charset="-122"/>
                <a:cs typeface="Calibri" pitchFamily="34" charset="-120"/>
              </a:rPr>
              <a:t>Stagnation-aware wins 11 of 15 and cost-aware wins 8 of 15.</a:t>
            </a:r>
            <a:endParaRPr lang="en-US" sz="1400" dirty="0"/>
          </a:p>
          <a:p>
            <a:pPr indent="0" marL="0">
              <a:buNone/>
            </a:pPr>
            <a:r>
              <a:rPr lang="en-US" sz="600" dirty="0">
                <a:solidFill>
                  <a:srgbClr val="333333"/>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E07B30"/>
                </a:solidFill>
                <a:latin typeface="Calibri" pitchFamily="34" charset="0"/>
                <a:ea typeface="Calibri" pitchFamily="34" charset="-122"/>
                <a:cs typeface="Calibri" pitchFamily="34" charset="-120"/>
              </a:rPr>
              <a:t>…but not Static BF</a:t>
            </a:r>
            <a:endParaRPr lang="en-US" sz="1400" dirty="0"/>
          </a:p>
          <a:p>
            <a:pPr indent="0" marL="0">
              <a:buNone/>
            </a:pPr>
            <a:r>
              <a:rPr lang="en-US" sz="1400" dirty="0">
                <a:solidFill>
                  <a:srgbClr val="333333"/>
                </a:solidFill>
                <a:latin typeface="Calibri" pitchFamily="34" charset="0"/>
                <a:ea typeface="Calibri" pitchFamily="34" charset="-122"/>
                <a:cs typeface="Calibri" pitchFamily="34" charset="-120"/>
              </a:rPr>
              <a:t>Every policy loses more often than it wins against BF.</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Where the Calls Go: Per-Equation Cost</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Function evaluations per equation; the cheapest hybrid in each row is highlighted</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589520" cy="914400"/>
        </p:xfrm>
        <a:graphic>
          <a:graphicData uri="http://schemas.openxmlformats.org/drawingml/2006/table">
            <a:tbl>
              <a:tblPr/>
              <a:tblGrid>
                <a:gridCol w="548640"/>
                <a:gridCol w="2011680"/>
                <a:gridCol w="1005840"/>
                <a:gridCol w="1005840"/>
                <a:gridCol w="1005840"/>
                <a:gridCol w="1005840"/>
                <a:gridCol w="1005840"/>
              </a:tblGrid>
              <a:tr h="27432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ID</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f(x)</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Static BF</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Static TF</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Threshold</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Cost-aware</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Stagnation</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x² − 3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x² − 5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43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x² − 10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x² − x − 2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37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x² + 2x − 7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x³ − 2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37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59</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x·eˣ − 7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 − cos x</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P9</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x·sin x − 1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P10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x·cos x + 1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61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P11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x¹⁰ − 1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26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29</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98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44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P12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x² + e^(x/2) − 5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P13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sin x · sinh x + 1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P14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eˣ − 3x − 2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P15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sin x − x²</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E6EFE6"/>
                    </a:solidFill>
                  </a:tcPr>
                </a:tc>
                <a:tc>
                  <a:txBody>
                    <a:bodyPr/>
                    <a:lstStyle/>
                    <a:p>
                      <a:pPr indent="0" marL="0">
                        <a:buNone/>
                      </a:pP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E6EFE6"/>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273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E6EFE6"/>
                    </a:solidFill>
                  </a:tcPr>
                </a:tc>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325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E6EFE6"/>
                    </a:solidFill>
                  </a:tcPr>
                </a:tc>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458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E6EFE6"/>
                    </a:solidFill>
                  </a:tcPr>
                </a:tc>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367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E6EFE6"/>
                    </a:solidFill>
                  </a:tcPr>
                </a:tc>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300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E6EFE6"/>
                    </a:solidFill>
                  </a:tcPr>
                </a:tc>
              </a:tr>
            </a:tbl>
          </a:graphicData>
        </a:graphic>
      </p:graphicFrame>
      <p:sp>
        <p:nvSpPr>
          <p:cNvPr id="8" name="Shape 5"/>
          <p:cNvSpPr/>
          <p:nvPr/>
        </p:nvSpPr>
        <p:spPr>
          <a:xfrm>
            <a:off x="8412480" y="1417320"/>
            <a:ext cx="3246120" cy="1051560"/>
          </a:xfrm>
          <a:prstGeom prst="roundRect">
            <a:avLst>
              <a:gd name="adj" fmla="val 6957"/>
            </a:avLst>
          </a:prstGeom>
          <a:solidFill>
            <a:srgbClr val="E6EFE6"/>
          </a:solidFill>
          <a:ln w="12700">
            <a:solidFill>
              <a:srgbClr val="E6EFE6"/>
            </a:solidFill>
            <a:prstDash val="solid"/>
          </a:ln>
        </p:spPr>
      </p:sp>
      <p:sp>
        <p:nvSpPr>
          <p:cNvPr id="9" name="Text 6"/>
          <p:cNvSpPr/>
          <p:nvPr/>
        </p:nvSpPr>
        <p:spPr>
          <a:xfrm>
            <a:off x="8549640" y="1417320"/>
            <a:ext cx="3017520" cy="1051560"/>
          </a:xfrm>
          <a:prstGeom prst="rect">
            <a:avLst/>
          </a:prstGeom>
          <a:noFill/>
          <a:ln/>
        </p:spPr>
        <p:txBody>
          <a:bodyPr wrap="square" rtlCol="0" anchor="ctr"/>
          <a:lstStyle/>
          <a:p>
            <a:pPr indent="0" marL="0">
              <a:buNone/>
            </a:pPr>
            <a:r>
              <a:rPr lang="en-US" sz="1250" b="1" dirty="0">
                <a:solidFill>
                  <a:srgbClr val="1E4D2B"/>
                </a:solidFill>
                <a:latin typeface="Calibri" pitchFamily="34" charset="0"/>
                <a:ea typeface="Calibri" pitchFamily="34" charset="-122"/>
                <a:cs typeface="Calibri" pitchFamily="34" charset="-120"/>
              </a:rPr>
              <a:t>No single winner. </a:t>
            </a:r>
            <a:pPr indent="0" marL="0">
              <a:buNone/>
            </a:pPr>
            <a:r>
              <a:rPr lang="en-US" sz="1250" dirty="0">
                <a:solidFill>
                  <a:srgbClr val="333333"/>
                </a:solidFill>
                <a:latin typeface="Calibri" pitchFamily="34" charset="0"/>
                <a:ea typeface="Calibri" pitchFamily="34" charset="-122"/>
                <a:cs typeface="Calibri" pitchFamily="34" charset="-120"/>
              </a:rPr>
              <a:t>Every hybrid is cheapest, or tied for cheapest, on at least one equation.</a:t>
            </a:r>
            <a:endParaRPr lang="en-US" sz="1250" dirty="0"/>
          </a:p>
        </p:txBody>
      </p:sp>
      <p:sp>
        <p:nvSpPr>
          <p:cNvPr id="10" name="Shape 7"/>
          <p:cNvSpPr/>
          <p:nvPr/>
        </p:nvSpPr>
        <p:spPr>
          <a:xfrm>
            <a:off x="8412480" y="2587752"/>
            <a:ext cx="3246120" cy="1051560"/>
          </a:xfrm>
          <a:prstGeom prst="roundRect">
            <a:avLst>
              <a:gd name="adj" fmla="val 6957"/>
            </a:avLst>
          </a:prstGeom>
          <a:solidFill>
            <a:srgbClr val="E6EFE6"/>
          </a:solidFill>
          <a:ln w="12700">
            <a:solidFill>
              <a:srgbClr val="E6EFE6"/>
            </a:solidFill>
            <a:prstDash val="solid"/>
          </a:ln>
        </p:spPr>
      </p:sp>
      <p:sp>
        <p:nvSpPr>
          <p:cNvPr id="11" name="Text 8"/>
          <p:cNvSpPr/>
          <p:nvPr/>
        </p:nvSpPr>
        <p:spPr>
          <a:xfrm>
            <a:off x="8549640" y="2587752"/>
            <a:ext cx="3017520" cy="1051560"/>
          </a:xfrm>
          <a:prstGeom prst="rect">
            <a:avLst/>
          </a:prstGeom>
          <a:noFill/>
          <a:ln/>
        </p:spPr>
        <p:txBody>
          <a:bodyPr wrap="square" rtlCol="0" anchor="ctr"/>
          <a:lstStyle/>
          <a:p>
            <a:pPr indent="0" marL="0">
              <a:buNone/>
            </a:pPr>
            <a:r>
              <a:rPr lang="en-US" sz="1250" b="1" dirty="0">
                <a:solidFill>
                  <a:srgbClr val="1E4D2B"/>
                </a:solidFill>
                <a:latin typeface="Calibri" pitchFamily="34" charset="0"/>
                <a:ea typeface="Calibri" pitchFamily="34" charset="-122"/>
                <a:cs typeface="Calibri" pitchFamily="34" charset="-120"/>
              </a:rPr>
              <a:t>Threshold outliers. </a:t>
            </a:r>
            <a:pPr indent="0" marL="0">
              <a:buNone/>
            </a:pPr>
            <a:r>
              <a:rPr lang="en-US" sz="1250" dirty="0">
                <a:solidFill>
                  <a:srgbClr val="333333"/>
                </a:solidFill>
                <a:latin typeface="Calibri" pitchFamily="34" charset="0"/>
                <a:ea typeface="Calibri" pitchFamily="34" charset="-122"/>
                <a:cs typeface="Calibri" pitchFamily="34" charset="-120"/>
              </a:rPr>
              <a:t>P2, P4, P6, P11, P13 and P14 each cost 37–98 calls (orange).</a:t>
            </a:r>
            <a:endParaRPr lang="en-US" sz="1250" dirty="0"/>
          </a:p>
        </p:txBody>
      </p:sp>
      <p:sp>
        <p:nvSpPr>
          <p:cNvPr id="12" name="Shape 9"/>
          <p:cNvSpPr/>
          <p:nvPr/>
        </p:nvSpPr>
        <p:spPr>
          <a:xfrm>
            <a:off x="8412480" y="3758184"/>
            <a:ext cx="3246120" cy="1051560"/>
          </a:xfrm>
          <a:prstGeom prst="roundRect">
            <a:avLst>
              <a:gd name="adj" fmla="val 6957"/>
            </a:avLst>
          </a:prstGeom>
          <a:solidFill>
            <a:srgbClr val="E6EFE6"/>
          </a:solidFill>
          <a:ln w="12700">
            <a:solidFill>
              <a:srgbClr val="E6EFE6"/>
            </a:solidFill>
            <a:prstDash val="solid"/>
          </a:ln>
        </p:spPr>
      </p:sp>
      <p:sp>
        <p:nvSpPr>
          <p:cNvPr id="13" name="Text 10"/>
          <p:cNvSpPr/>
          <p:nvPr/>
        </p:nvSpPr>
        <p:spPr>
          <a:xfrm>
            <a:off x="8549640" y="3758184"/>
            <a:ext cx="3017520" cy="1051560"/>
          </a:xfrm>
          <a:prstGeom prst="rect">
            <a:avLst/>
          </a:prstGeom>
          <a:noFill/>
          <a:ln/>
        </p:spPr>
        <p:txBody>
          <a:bodyPr wrap="square" rtlCol="0" anchor="ctr"/>
          <a:lstStyle/>
          <a:p>
            <a:pPr indent="0" marL="0">
              <a:buNone/>
            </a:pPr>
            <a:r>
              <a:rPr lang="en-US" sz="1250" b="1" dirty="0">
                <a:solidFill>
                  <a:srgbClr val="1E4D2B"/>
                </a:solidFill>
                <a:latin typeface="Calibri" pitchFamily="34" charset="0"/>
                <a:ea typeface="Calibri" pitchFamily="34" charset="-122"/>
                <a:cs typeface="Calibri" pitchFamily="34" charset="-120"/>
              </a:rPr>
              <a:t>Cost-aware outliers. </a:t>
            </a:r>
            <a:pPr indent="0" marL="0">
              <a:buNone/>
            </a:pPr>
            <a:r>
              <a:rPr lang="en-US" sz="1250" dirty="0">
                <a:solidFill>
                  <a:srgbClr val="333333"/>
                </a:solidFill>
                <a:latin typeface="Calibri" pitchFamily="34" charset="0"/>
                <a:ea typeface="Calibri" pitchFamily="34" charset="-122"/>
                <a:cs typeface="Calibri" pitchFamily="34" charset="-120"/>
              </a:rPr>
              <a:t>P6 (59), P10 (61): after one FP step it trisects 28–29 times. The stale FP estimate is never revisited.</a:t>
            </a:r>
            <a:endParaRPr lang="en-US" sz="1250" dirty="0"/>
          </a:p>
        </p:txBody>
      </p:sp>
      <p:sp>
        <p:nvSpPr>
          <p:cNvPr id="14" name="Shape 11"/>
          <p:cNvSpPr/>
          <p:nvPr/>
        </p:nvSpPr>
        <p:spPr>
          <a:xfrm>
            <a:off x="8412480" y="4928616"/>
            <a:ext cx="3246120" cy="1051560"/>
          </a:xfrm>
          <a:prstGeom prst="roundRect">
            <a:avLst>
              <a:gd name="adj" fmla="val 6957"/>
            </a:avLst>
          </a:prstGeom>
          <a:solidFill>
            <a:srgbClr val="FBEDE2"/>
          </a:solidFill>
          <a:ln w="12700">
            <a:solidFill>
              <a:srgbClr val="E07B30"/>
            </a:solidFill>
            <a:prstDash val="solid"/>
          </a:ln>
        </p:spPr>
      </p:sp>
      <p:sp>
        <p:nvSpPr>
          <p:cNvPr id="15" name="Text 12"/>
          <p:cNvSpPr/>
          <p:nvPr/>
        </p:nvSpPr>
        <p:spPr>
          <a:xfrm>
            <a:off x="8549640" y="4928616"/>
            <a:ext cx="3017520" cy="1051560"/>
          </a:xfrm>
          <a:prstGeom prst="rect">
            <a:avLst/>
          </a:prstGeom>
          <a:noFill/>
          <a:ln/>
        </p:spPr>
        <p:txBody>
          <a:bodyPr wrap="square" rtlCol="0" anchor="ctr"/>
          <a:lstStyle/>
          <a:p>
            <a:pPr indent="0" marL="0">
              <a:buNone/>
            </a:pPr>
            <a:r>
              <a:rPr lang="en-US" sz="1250" b="1" dirty="0">
                <a:solidFill>
                  <a:srgbClr val="E07B30"/>
                </a:solidFill>
                <a:latin typeface="Calibri" pitchFamily="34" charset="0"/>
                <a:ea typeface="Calibri" pitchFamily="34" charset="-122"/>
                <a:cs typeface="Calibri" pitchFamily="34" charset="-120"/>
              </a:rPr>
              <a:t>Stagnation-aware never blows up. </a:t>
            </a:r>
            <a:pPr indent="0" marL="0">
              <a:buNone/>
            </a:pPr>
            <a:r>
              <a:rPr lang="en-US" sz="1250" dirty="0">
                <a:solidFill>
                  <a:srgbClr val="333333"/>
                </a:solidFill>
                <a:latin typeface="Calibri" pitchFamily="34" charset="0"/>
                <a:ea typeface="Calibri" pitchFamily="34" charset="-122"/>
                <a:cs typeface="Calibri" pitchFamily="34" charset="-120"/>
              </a:rPr>
              <a:t>Its worst case is 27 calls (P11), where the proposal's target failure mode occurs.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Iterations per Problem, All 10 Methods</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ε = 10⁻¹⁴ · gaps mark failed solves (Newton on P6, P9, P11; secant on P11)</a:t>
            </a:r>
            <a:endParaRPr lang="en-US" sz="1500" dirty="0"/>
          </a:p>
        </p:txBody>
      </p:sp>
      <p:graphicFrame>
        <p:nvGraphicFramePr>
          <p:cNvPr id="7" name="Chart 0" descr=""/>
          <p:cNvGraphicFramePr/>
          <p:nvPr/>
        </p:nvGraphicFramePr>
        <p:xfrm>
          <a:off x="411480" y="1325880"/>
          <a:ext cx="11384280" cy="46177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777240" y="6035040"/>
            <a:ext cx="10332720" cy="457200"/>
          </a:xfrm>
          <a:prstGeom prst="rect">
            <a:avLst/>
          </a:prstGeom>
          <a:noFill/>
          <a:ln/>
        </p:spPr>
        <p:txBody>
          <a:bodyPr wrap="square" lIns="635" tIns="635" rIns="635" bIns="635" rtlCol="0" anchor="ctr"/>
          <a:lstStyle/>
          <a:p>
            <a:pPr indent="0" marL="0">
              <a:buNone/>
            </a:pPr>
            <a:r>
              <a:rPr lang="en-US" sz="1300" i="1" dirty="0">
                <a:solidFill>
                  <a:srgbClr val="1E4D2B"/>
                </a:solidFill>
                <a:latin typeface="Calibri" pitchFamily="34" charset="0"/>
                <a:ea typeface="Calibri" pitchFamily="34" charset="-122"/>
                <a:cs typeface="Calibri" pitchFamily="34" charset="-120"/>
              </a:rPr>
              <a:t>Bisection and trisection are flat because their step count depends only on the interval width. False position and adaptive threshold spike on P11.</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Function Evaluations per Problem, All 10 Methods</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ε = 10⁻¹⁴ · gaps mark failed solves (Newton on P6, P9, P11; secant on P11)</a:t>
            </a:r>
            <a:endParaRPr lang="en-US" sz="1500" dirty="0"/>
          </a:p>
        </p:txBody>
      </p:sp>
      <p:graphicFrame>
        <p:nvGraphicFramePr>
          <p:cNvPr id="7" name="Chart 0" descr=""/>
          <p:cNvGraphicFramePr/>
          <p:nvPr/>
        </p:nvGraphicFramePr>
        <p:xfrm>
          <a:off x="411480" y="1325880"/>
          <a:ext cx="11384280" cy="46177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777240" y="6035040"/>
            <a:ext cx="10332720" cy="457200"/>
          </a:xfrm>
          <a:prstGeom prst="rect">
            <a:avLst/>
          </a:prstGeom>
          <a:noFill/>
          <a:ln/>
        </p:spPr>
        <p:txBody>
          <a:bodyPr wrap="square" lIns="635" tIns="635" rIns="635" bIns="635" rtlCol="0" anchor="ctr"/>
          <a:lstStyle/>
          <a:p>
            <a:pPr indent="0" marL="0">
              <a:buNone/>
            </a:pPr>
            <a:r>
              <a:rPr lang="en-US" sz="1300" i="1" dirty="0">
                <a:solidFill>
                  <a:srgbClr val="1E4D2B"/>
                </a:solidFill>
                <a:latin typeface="Calibri" pitchFamily="34" charset="0"/>
                <a:ea typeface="Calibri" pitchFamily="34" charset="-122"/>
                <a:cs typeface="Calibri" pitchFamily="34" charset="-120"/>
              </a:rPr>
              <a:t>Stagnation-aware stays within 10–27 calls on every problem; false position ranges from 8 to 141.</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Case Study: P11, x¹⁰ − 1 on [0, 1.3]</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The one-sided stagnation that motivated the proposal</a:t>
            </a:r>
            <a:endParaRPr lang="en-US" sz="1500" dirty="0"/>
          </a:p>
        </p:txBody>
      </p:sp>
      <p:graphicFrame>
        <p:nvGraphicFramePr>
          <p:cNvPr id="7" name="Chart 0" descr=""/>
          <p:cNvGraphicFramePr/>
          <p:nvPr/>
        </p:nvGraphicFramePr>
        <p:xfrm>
          <a:off x="457200" y="1371600"/>
          <a:ext cx="7498080" cy="47548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183880" y="1417320"/>
            <a:ext cx="3474720" cy="1069848"/>
          </a:xfrm>
          <a:prstGeom prst="roundRect">
            <a:avLst>
              <a:gd name="adj" fmla="val 6838"/>
            </a:avLst>
          </a:prstGeom>
          <a:solidFill>
            <a:srgbClr val="FFFFFF"/>
          </a:solidFill>
          <a:ln w="12700">
            <a:solidFill>
              <a:srgbClr val="C9D6C9"/>
            </a:solidFill>
            <a:prstDash val="solid"/>
          </a:ln>
        </p:spPr>
      </p:sp>
      <p:sp>
        <p:nvSpPr>
          <p:cNvPr id="9" name="Text 6"/>
          <p:cNvSpPr/>
          <p:nvPr/>
        </p:nvSpPr>
        <p:spPr>
          <a:xfrm>
            <a:off x="8275320" y="1417320"/>
            <a:ext cx="868680" cy="1069848"/>
          </a:xfrm>
          <a:prstGeom prst="rect">
            <a:avLst/>
          </a:prstGeom>
          <a:noFill/>
          <a:ln/>
        </p:spPr>
        <p:txBody>
          <a:bodyPr wrap="square" rtlCol="0" anchor="ctr"/>
          <a:lstStyle/>
          <a:p>
            <a:pPr algn="ctr" indent="0" marL="0">
              <a:buNone/>
            </a:pPr>
            <a:r>
              <a:rPr lang="en-US" sz="2800" b="1" dirty="0">
                <a:solidFill>
                  <a:srgbClr val="1E4D2B"/>
                </a:solidFill>
                <a:latin typeface="Cambria" pitchFamily="34" charset="0"/>
                <a:ea typeface="Cambria" pitchFamily="34" charset="-122"/>
                <a:cs typeface="Cambria" pitchFamily="34" charset="-120"/>
              </a:rPr>
              <a:t>141</a:t>
            </a:r>
            <a:endParaRPr lang="en-US" sz="2800" dirty="0"/>
          </a:p>
        </p:txBody>
      </p:sp>
      <p:sp>
        <p:nvSpPr>
          <p:cNvPr id="10" name="Text 7"/>
          <p:cNvSpPr/>
          <p:nvPr/>
        </p:nvSpPr>
        <p:spPr>
          <a:xfrm>
            <a:off x="9144000" y="1463040"/>
            <a:ext cx="2468880" cy="978408"/>
          </a:xfrm>
          <a:prstGeom prst="rect">
            <a:avLst/>
          </a:prstGeom>
          <a:noFill/>
          <a:ln/>
        </p:spPr>
        <p:txBody>
          <a:bodyPr wrap="square" rtlCol="0" anchor="ctr"/>
          <a:lstStyle/>
          <a:p>
            <a:pPr indent="0" marL="0">
              <a:buNone/>
            </a:pPr>
            <a:r>
              <a:rPr lang="en-US" sz="1300" b="1" dirty="0">
                <a:solidFill>
                  <a:srgbClr val="1E4D2B"/>
                </a:solidFill>
                <a:latin typeface="Calibri" pitchFamily="34" charset="0"/>
                <a:ea typeface="Calibri" pitchFamily="34" charset="-122"/>
                <a:cs typeface="Calibri" pitchFamily="34" charset="-120"/>
              </a:rPr>
              <a:t>False position</a:t>
            </a:r>
            <a:endParaRPr lang="en-US" sz="1300" dirty="0"/>
          </a:p>
          <a:p>
            <a:pPr indent="0" marL="0">
              <a:buNone/>
            </a:pPr>
            <a:r>
              <a:rPr lang="en-US" sz="1150" dirty="0">
                <a:solidFill>
                  <a:srgbClr val="333333"/>
                </a:solidFill>
                <a:latin typeface="Calibri" pitchFamily="34" charset="0"/>
                <a:ea typeface="Calibri" pitchFamily="34" charset="-122"/>
                <a:cs typeface="Calibri" pitchFamily="34" charset="-120"/>
              </a:rPr>
              <a:t>keeps the same right endpoint and creeps in from one side</a:t>
            </a:r>
            <a:endParaRPr lang="en-US" sz="1300" dirty="0"/>
          </a:p>
        </p:txBody>
      </p:sp>
      <p:sp>
        <p:nvSpPr>
          <p:cNvPr id="11" name="Shape 8"/>
          <p:cNvSpPr/>
          <p:nvPr/>
        </p:nvSpPr>
        <p:spPr>
          <a:xfrm>
            <a:off x="8183880" y="2606040"/>
            <a:ext cx="3474720" cy="1069848"/>
          </a:xfrm>
          <a:prstGeom prst="roundRect">
            <a:avLst>
              <a:gd name="adj" fmla="val 6838"/>
            </a:avLst>
          </a:prstGeom>
          <a:solidFill>
            <a:srgbClr val="FFFFFF"/>
          </a:solidFill>
          <a:ln w="12700">
            <a:solidFill>
              <a:srgbClr val="C9D6C9"/>
            </a:solidFill>
            <a:prstDash val="solid"/>
          </a:ln>
        </p:spPr>
      </p:sp>
      <p:sp>
        <p:nvSpPr>
          <p:cNvPr id="12" name="Text 9"/>
          <p:cNvSpPr/>
          <p:nvPr/>
        </p:nvSpPr>
        <p:spPr>
          <a:xfrm>
            <a:off x="8275320" y="2606040"/>
            <a:ext cx="868680" cy="1069848"/>
          </a:xfrm>
          <a:prstGeom prst="rect">
            <a:avLst/>
          </a:prstGeom>
          <a:noFill/>
          <a:ln/>
        </p:spPr>
        <p:txBody>
          <a:bodyPr wrap="square" rtlCol="0" anchor="ctr"/>
          <a:lstStyle/>
          <a:p>
            <a:pPr algn="ctr" indent="0" marL="0">
              <a:buNone/>
            </a:pPr>
            <a:r>
              <a:rPr lang="en-US" sz="2800" b="1" dirty="0">
                <a:solidFill>
                  <a:srgbClr val="1E4D2B"/>
                </a:solidFill>
                <a:latin typeface="Cambria" pitchFamily="34" charset="0"/>
                <a:ea typeface="Cambria" pitchFamily="34" charset="-122"/>
                <a:cs typeface="Cambria" pitchFamily="34" charset="-120"/>
              </a:rPr>
              <a:t>98</a:t>
            </a:r>
            <a:endParaRPr lang="en-US" sz="2800" dirty="0"/>
          </a:p>
        </p:txBody>
      </p:sp>
      <p:sp>
        <p:nvSpPr>
          <p:cNvPr id="13" name="Text 10"/>
          <p:cNvSpPr/>
          <p:nvPr/>
        </p:nvSpPr>
        <p:spPr>
          <a:xfrm>
            <a:off x="9144000" y="2651760"/>
            <a:ext cx="2468880" cy="978408"/>
          </a:xfrm>
          <a:prstGeom prst="rect">
            <a:avLst/>
          </a:prstGeom>
          <a:noFill/>
          <a:ln/>
        </p:spPr>
        <p:txBody>
          <a:bodyPr wrap="square" rtlCol="0" anchor="ctr"/>
          <a:lstStyle/>
          <a:p>
            <a:pPr indent="0" marL="0">
              <a:buNone/>
            </a:pPr>
            <a:r>
              <a:rPr lang="en-US" sz="1300" b="1" dirty="0">
                <a:solidFill>
                  <a:srgbClr val="1E4D2B"/>
                </a:solidFill>
                <a:latin typeface="Calibri" pitchFamily="34" charset="0"/>
                <a:ea typeface="Calibri" pitchFamily="34" charset="-122"/>
                <a:cs typeface="Calibri" pitchFamily="34" charset="-120"/>
              </a:rPr>
              <a:t>Adaptive threshold</a:t>
            </a:r>
            <a:endParaRPr lang="en-US" sz="1300" dirty="0"/>
          </a:p>
          <a:p>
            <a:pPr indent="0" marL="0">
              <a:buNone/>
            </a:pPr>
            <a:r>
              <a:rPr lang="en-US" sz="1150" dirty="0">
                <a:solidFill>
                  <a:srgbClr val="333333"/>
                </a:solidFill>
                <a:latin typeface="Calibri" pitchFamily="34" charset="0"/>
                <a:ea typeface="Calibri" pitchFamily="34" charset="-122"/>
                <a:cs typeface="Calibri" pitchFamily="34" charset="-120"/>
              </a:rPr>
              <a:t>small but steady improvements keep passing τ, so it follows FP for 79 straight steps</a:t>
            </a:r>
            <a:endParaRPr lang="en-US" sz="1300" dirty="0"/>
          </a:p>
        </p:txBody>
      </p:sp>
      <p:sp>
        <p:nvSpPr>
          <p:cNvPr id="14" name="Shape 11"/>
          <p:cNvSpPr/>
          <p:nvPr/>
        </p:nvSpPr>
        <p:spPr>
          <a:xfrm>
            <a:off x="8183880" y="3794760"/>
            <a:ext cx="3474720" cy="1069848"/>
          </a:xfrm>
          <a:prstGeom prst="roundRect">
            <a:avLst>
              <a:gd name="adj" fmla="val 6838"/>
            </a:avLst>
          </a:prstGeom>
          <a:solidFill>
            <a:srgbClr val="FFFFFF"/>
          </a:solidFill>
          <a:ln w="12700">
            <a:solidFill>
              <a:srgbClr val="C9D6C9"/>
            </a:solidFill>
            <a:prstDash val="solid"/>
          </a:ln>
        </p:spPr>
      </p:sp>
      <p:sp>
        <p:nvSpPr>
          <p:cNvPr id="15" name="Text 12"/>
          <p:cNvSpPr/>
          <p:nvPr/>
        </p:nvSpPr>
        <p:spPr>
          <a:xfrm>
            <a:off x="8275320" y="3794760"/>
            <a:ext cx="868680" cy="1069848"/>
          </a:xfrm>
          <a:prstGeom prst="rect">
            <a:avLst/>
          </a:prstGeom>
          <a:noFill/>
          <a:ln/>
        </p:spPr>
        <p:txBody>
          <a:bodyPr wrap="square" rtlCol="0" anchor="ctr"/>
          <a:lstStyle/>
          <a:p>
            <a:pPr algn="ctr" indent="0" marL="0">
              <a:buNone/>
            </a:pPr>
            <a:r>
              <a:rPr lang="en-US" sz="2800" b="1" dirty="0">
                <a:solidFill>
                  <a:srgbClr val="1E4D2B"/>
                </a:solidFill>
                <a:latin typeface="Cambria" pitchFamily="34" charset="0"/>
                <a:ea typeface="Cambria" pitchFamily="34" charset="-122"/>
                <a:cs typeface="Cambria" pitchFamily="34" charset="-120"/>
              </a:rPr>
              <a:t>44</a:t>
            </a:r>
            <a:endParaRPr lang="en-US" sz="2800" dirty="0"/>
          </a:p>
        </p:txBody>
      </p:sp>
      <p:sp>
        <p:nvSpPr>
          <p:cNvPr id="16" name="Text 13"/>
          <p:cNvSpPr/>
          <p:nvPr/>
        </p:nvSpPr>
        <p:spPr>
          <a:xfrm>
            <a:off x="9144000" y="3840480"/>
            <a:ext cx="2468880" cy="978408"/>
          </a:xfrm>
          <a:prstGeom prst="rect">
            <a:avLst/>
          </a:prstGeom>
          <a:noFill/>
          <a:ln/>
        </p:spPr>
        <p:txBody>
          <a:bodyPr wrap="square" rtlCol="0" anchor="ctr"/>
          <a:lstStyle/>
          <a:p>
            <a:pPr indent="0" marL="0">
              <a:buNone/>
            </a:pPr>
            <a:r>
              <a:rPr lang="en-US" sz="1300" b="1" dirty="0">
                <a:solidFill>
                  <a:srgbClr val="1E4D2B"/>
                </a:solidFill>
                <a:latin typeface="Calibri" pitchFamily="34" charset="0"/>
                <a:ea typeface="Calibri" pitchFamily="34" charset="-122"/>
                <a:cs typeface="Calibri" pitchFamily="34" charset="-120"/>
              </a:rPr>
              <a:t>Cost-aware</a:t>
            </a:r>
            <a:endParaRPr lang="en-US" sz="1300" dirty="0"/>
          </a:p>
          <a:p>
            <a:pPr indent="0" marL="0">
              <a:buNone/>
            </a:pPr>
            <a:r>
              <a:rPr lang="en-US" sz="1150" dirty="0">
                <a:solidFill>
                  <a:srgbClr val="333333"/>
                </a:solidFill>
                <a:latin typeface="Calibri" pitchFamily="34" charset="0"/>
                <a:ea typeface="Calibri" pitchFamily="34" charset="-122"/>
                <a:cs typeface="Calibri" pitchFamily="34" charset="-120"/>
              </a:rPr>
              <a:t>recovers, but its warm-up and noisy estimates cost extra calls</a:t>
            </a:r>
            <a:endParaRPr lang="en-US" sz="1300" dirty="0"/>
          </a:p>
        </p:txBody>
      </p:sp>
      <p:sp>
        <p:nvSpPr>
          <p:cNvPr id="17" name="Shape 14"/>
          <p:cNvSpPr/>
          <p:nvPr/>
        </p:nvSpPr>
        <p:spPr>
          <a:xfrm>
            <a:off x="8183880" y="4983480"/>
            <a:ext cx="3474720" cy="1069848"/>
          </a:xfrm>
          <a:prstGeom prst="roundRect">
            <a:avLst>
              <a:gd name="adj" fmla="val 6838"/>
            </a:avLst>
          </a:prstGeom>
          <a:solidFill>
            <a:srgbClr val="FBEDE2"/>
          </a:solidFill>
          <a:ln w="12700">
            <a:solidFill>
              <a:srgbClr val="E07B30"/>
            </a:solidFill>
            <a:prstDash val="solid"/>
          </a:ln>
        </p:spPr>
      </p:sp>
      <p:sp>
        <p:nvSpPr>
          <p:cNvPr id="18" name="Text 15"/>
          <p:cNvSpPr/>
          <p:nvPr/>
        </p:nvSpPr>
        <p:spPr>
          <a:xfrm>
            <a:off x="8275320" y="4983480"/>
            <a:ext cx="868680" cy="1069848"/>
          </a:xfrm>
          <a:prstGeom prst="rect">
            <a:avLst/>
          </a:prstGeom>
          <a:noFill/>
          <a:ln/>
        </p:spPr>
        <p:txBody>
          <a:bodyPr wrap="square" rtlCol="0" anchor="ctr"/>
          <a:lstStyle/>
          <a:p>
            <a:pPr algn="ctr" indent="0" marL="0">
              <a:buNone/>
            </a:pPr>
            <a:r>
              <a:rPr lang="en-US" sz="2800" b="1" dirty="0">
                <a:solidFill>
                  <a:srgbClr val="E07B30"/>
                </a:solidFill>
                <a:latin typeface="Cambria" pitchFamily="34" charset="0"/>
                <a:ea typeface="Cambria" pitchFamily="34" charset="-122"/>
                <a:cs typeface="Cambria" pitchFamily="34" charset="-120"/>
              </a:rPr>
              <a:t>27</a:t>
            </a:r>
            <a:endParaRPr lang="en-US" sz="2800" dirty="0"/>
          </a:p>
        </p:txBody>
      </p:sp>
      <p:sp>
        <p:nvSpPr>
          <p:cNvPr id="19" name="Text 16"/>
          <p:cNvSpPr/>
          <p:nvPr/>
        </p:nvSpPr>
        <p:spPr>
          <a:xfrm>
            <a:off x="9144000" y="5029200"/>
            <a:ext cx="2468880" cy="978408"/>
          </a:xfrm>
          <a:prstGeom prst="rect">
            <a:avLst/>
          </a:prstGeom>
          <a:noFill/>
          <a:ln/>
        </p:spPr>
        <p:txBody>
          <a:bodyPr wrap="square" rtlCol="0" anchor="ctr"/>
          <a:lstStyle/>
          <a:p>
            <a:pPr indent="0" marL="0">
              <a:buNone/>
            </a:pPr>
            <a:r>
              <a:rPr lang="en-US" sz="1300" b="1" dirty="0">
                <a:solidFill>
                  <a:srgbClr val="1E4D2B"/>
                </a:solidFill>
                <a:latin typeface="Calibri" pitchFamily="34" charset="0"/>
                <a:ea typeface="Calibri" pitchFamily="34" charset="-122"/>
                <a:cs typeface="Calibri" pitchFamily="34" charset="-120"/>
              </a:rPr>
              <a:t>Stagnation-aware</a:t>
            </a:r>
            <a:endParaRPr lang="en-US" sz="1300" dirty="0"/>
          </a:p>
          <a:p>
            <a:pPr indent="0" marL="0">
              <a:buNone/>
            </a:pPr>
            <a:r>
              <a:rPr lang="en-US" sz="1150" dirty="0">
                <a:solidFill>
                  <a:srgbClr val="333333"/>
                </a:solidFill>
                <a:latin typeface="Calibri" pitchFamily="34" charset="0"/>
                <a:ea typeface="Calibri" pitchFamily="34" charset="-122"/>
                <a:cs typeface="Calibri" pitchFamily="34" charset="-120"/>
              </a:rPr>
              <a:t>the reuse counter fires after 3 steps and forces trisection. Cheapest of all methods here.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Sensitivity: Tolerance and Reuse Limit</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Does the answer change with how accurate we ask the root to be?</a:t>
            </a:r>
            <a:endParaRPr lang="en-US" sz="1500" dirty="0"/>
          </a:p>
        </p:txBody>
      </p:sp>
      <p:graphicFrame>
        <p:nvGraphicFramePr>
          <p:cNvPr id="7" name="Chart 0" descr=""/>
          <p:cNvGraphicFramePr/>
          <p:nvPr/>
        </p:nvGraphicFramePr>
        <p:xfrm>
          <a:off x="457200" y="137160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001000" y="1463040"/>
            <a:ext cx="3657600" cy="1417320"/>
          </a:xfrm>
          <a:prstGeom prst="roundRect">
            <a:avLst>
              <a:gd name="adj" fmla="val 5161"/>
            </a:avLst>
          </a:prstGeom>
          <a:solidFill>
            <a:srgbClr val="FBEDE2"/>
          </a:solidFill>
          <a:ln w="12700">
            <a:solidFill>
              <a:srgbClr val="E07B30"/>
            </a:solidFill>
            <a:prstDash val="solid"/>
          </a:ln>
        </p:spPr>
      </p:sp>
      <p:sp>
        <p:nvSpPr>
          <p:cNvPr id="9" name="Text 6"/>
          <p:cNvSpPr/>
          <p:nvPr/>
        </p:nvSpPr>
        <p:spPr>
          <a:xfrm>
            <a:off x="8183880" y="1463040"/>
            <a:ext cx="3337560" cy="1417320"/>
          </a:xfrm>
          <a:prstGeom prst="rect">
            <a:avLst/>
          </a:prstGeom>
          <a:noFill/>
          <a:ln/>
        </p:spPr>
        <p:txBody>
          <a:bodyPr wrap="square" rtlCol="0" anchor="ctr"/>
          <a:lstStyle/>
          <a:p>
            <a:pPr indent="0" marL="0">
              <a:buNone/>
            </a:pPr>
            <a:r>
              <a:rPr lang="en-US" sz="1350" b="1" dirty="0">
                <a:solidFill>
                  <a:srgbClr val="E07B30"/>
                </a:solidFill>
                <a:latin typeface="Calibri" pitchFamily="34" charset="0"/>
                <a:ea typeface="Calibri" pitchFamily="34" charset="-122"/>
                <a:cs typeface="Calibri" pitchFamily="34" charset="-120"/>
              </a:rPr>
              <a:t>Tolerance matters</a:t>
            </a:r>
            <a:endParaRPr lang="en-US" sz="1350" dirty="0"/>
          </a:p>
          <a:p>
            <a:pPr indent="0" marL="0">
              <a:buNone/>
            </a:pPr>
            <a:r>
              <a:rPr lang="en-US" sz="1350" dirty="0">
                <a:solidFill>
                  <a:srgbClr val="333333"/>
                </a:solidFill>
                <a:latin typeface="Calibri" pitchFamily="34" charset="0"/>
                <a:ea typeface="Calibri" pitchFamily="34" charset="-122"/>
                <a:cs typeface="Calibri" pitchFamily="34" charset="-120"/>
              </a:rPr>
              <a:t>At 10⁻⁶ stagnation-aware is the cheapest method overall (189 vs BF's 196). At 10⁻¹⁰ and 10⁻¹⁴ BF pulls ahead.</a:t>
            </a:r>
            <a:endParaRPr lang="en-US" sz="1350" dirty="0"/>
          </a:p>
        </p:txBody>
      </p:sp>
      <p:sp>
        <p:nvSpPr>
          <p:cNvPr id="10" name="Shape 7"/>
          <p:cNvSpPr/>
          <p:nvPr/>
        </p:nvSpPr>
        <p:spPr>
          <a:xfrm>
            <a:off x="8001000" y="3035808"/>
            <a:ext cx="3657600" cy="1417320"/>
          </a:xfrm>
          <a:prstGeom prst="roundRect">
            <a:avLst>
              <a:gd name="adj" fmla="val 5161"/>
            </a:avLst>
          </a:prstGeom>
          <a:solidFill>
            <a:srgbClr val="E6EFE6"/>
          </a:solidFill>
          <a:ln w="12700">
            <a:solidFill>
              <a:srgbClr val="E6EFE6"/>
            </a:solidFill>
            <a:prstDash val="solid"/>
          </a:ln>
        </p:spPr>
      </p:sp>
      <p:sp>
        <p:nvSpPr>
          <p:cNvPr id="11" name="Text 8"/>
          <p:cNvSpPr/>
          <p:nvPr/>
        </p:nvSpPr>
        <p:spPr>
          <a:xfrm>
            <a:off x="8183880" y="3035808"/>
            <a:ext cx="3337560" cy="1417320"/>
          </a:xfrm>
          <a:prstGeom prst="rect">
            <a:avLst/>
          </a:prstGeom>
          <a:noFill/>
          <a:ln/>
        </p:spPr>
        <p:txBody>
          <a:bodyPr wrap="square" rtlCol="0" anchor="ctr"/>
          <a:lstStyle/>
          <a:p>
            <a:pPr indent="0" marL="0">
              <a:buNone/>
            </a:pPr>
            <a:r>
              <a:rPr lang="en-US" sz="1350" b="1" dirty="0">
                <a:solidFill>
                  <a:srgbClr val="1E4D2B"/>
                </a:solidFill>
                <a:latin typeface="Calibri" pitchFamily="34" charset="0"/>
                <a:ea typeface="Calibri" pitchFamily="34" charset="-122"/>
                <a:cs typeface="Calibri" pitchFamily="34" charset="-120"/>
              </a:rPr>
              <a:t>Reuse limit 3 → 2</a:t>
            </a:r>
            <a:endParaRPr lang="en-US" sz="1350" dirty="0"/>
          </a:p>
          <a:p>
            <a:pPr indent="0" marL="0">
              <a:buNone/>
            </a:pPr>
            <a:r>
              <a:rPr lang="en-US" sz="1350" dirty="0">
                <a:solidFill>
                  <a:srgbClr val="333333"/>
                </a:solidFill>
                <a:latin typeface="Calibri" pitchFamily="34" charset="0"/>
                <a:ea typeface="Calibri" pitchFamily="34" charset="-122"/>
                <a:cs typeface="Calibri" pitchFamily="34" charset="-120"/>
              </a:rPr>
              <a:t>Stagnation-aware iterations fall from 222 to 208, but total calls stay at 300. Fewer iterations, same work.</a:t>
            </a:r>
            <a:endParaRPr lang="en-US" sz="1350" dirty="0"/>
          </a:p>
        </p:txBody>
      </p:sp>
      <p:sp>
        <p:nvSpPr>
          <p:cNvPr id="12" name="Shape 9"/>
          <p:cNvSpPr/>
          <p:nvPr/>
        </p:nvSpPr>
        <p:spPr>
          <a:xfrm>
            <a:off x="8001000" y="4608576"/>
            <a:ext cx="3657600" cy="1417320"/>
          </a:xfrm>
          <a:prstGeom prst="roundRect">
            <a:avLst>
              <a:gd name="adj" fmla="val 5161"/>
            </a:avLst>
          </a:prstGeom>
          <a:solidFill>
            <a:srgbClr val="E6EFE6"/>
          </a:solidFill>
          <a:ln w="12700">
            <a:solidFill>
              <a:srgbClr val="E6EFE6"/>
            </a:solidFill>
            <a:prstDash val="solid"/>
          </a:ln>
        </p:spPr>
      </p:sp>
      <p:sp>
        <p:nvSpPr>
          <p:cNvPr id="13" name="Text 10"/>
          <p:cNvSpPr/>
          <p:nvPr/>
        </p:nvSpPr>
        <p:spPr>
          <a:xfrm>
            <a:off x="8183880" y="4608576"/>
            <a:ext cx="3337560" cy="1417320"/>
          </a:xfrm>
          <a:prstGeom prst="rect">
            <a:avLst/>
          </a:prstGeom>
          <a:noFill/>
          <a:ln/>
        </p:spPr>
        <p:txBody>
          <a:bodyPr wrap="square" rtlCol="0" anchor="ctr"/>
          <a:lstStyle/>
          <a:p>
            <a:pPr indent="0" marL="0">
              <a:buNone/>
            </a:pPr>
            <a:r>
              <a:rPr lang="en-US" sz="1350" b="1" dirty="0">
                <a:solidFill>
                  <a:srgbClr val="1E4D2B"/>
                </a:solidFill>
                <a:latin typeface="Calibri" pitchFamily="34" charset="0"/>
                <a:ea typeface="Calibri" pitchFamily="34" charset="-122"/>
                <a:cs typeface="Calibri" pitchFamily="34" charset="-120"/>
              </a:rPr>
              <a:t>Robust at every ε</a:t>
            </a:r>
            <a:endParaRPr lang="en-US" sz="1350" dirty="0"/>
          </a:p>
          <a:p>
            <a:pPr indent="0" marL="0">
              <a:buNone/>
            </a:pPr>
            <a:r>
              <a:rPr lang="en-US" sz="1350" dirty="0">
                <a:solidFill>
                  <a:srgbClr val="333333"/>
                </a:solidFill>
                <a:latin typeface="Calibri" pitchFamily="34" charset="0"/>
                <a:ea typeface="Calibri" pitchFamily="34" charset="-122"/>
                <a:cs typeface="Calibri" pitchFamily="34" charset="-120"/>
              </a:rPr>
              <a:t>All three policies solve all 15 equations at each tested tolerance, with no per-equation tuning.</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14</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Classical Baselines and Failures</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All results at ε = 10⁻¹⁴; failures are reported, never hidden by a fallback</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2011680"/>
                <a:gridCol w="1005840"/>
                <a:gridCol w="1005840"/>
                <a:gridCol w="1005840"/>
                <a:gridCol w="100584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Solved</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Iterations</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 calls</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 calls</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Bisection</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706</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736</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Trisection</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416</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862</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False position</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492</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522</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Newton</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07B30"/>
                          </a:solidFill>
                          <a:latin typeface="Calibri" pitchFamily="34" charset="0"/>
                          <a:ea typeface="Calibri" pitchFamily="34" charset="-122"/>
                          <a:cs typeface="Calibri" pitchFamily="34" charset="-120"/>
                        </a:rPr>
                        <a:t>12/15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Secant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07B30"/>
                          </a:solidFill>
                          <a:latin typeface="Calibri" pitchFamily="34" charset="0"/>
                          <a:ea typeface="Calibri" pitchFamily="34" charset="-122"/>
                          <a:cs typeface="Calibri" pitchFamily="34" charset="-120"/>
                        </a:rPr>
                        <a:t>14/15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104</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133</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Static BF</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122</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273</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Static TF</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99</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325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Adaptive threshold</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382</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458</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Cost-aware</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245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367</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Stagnation-aware</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222</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300</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r>
            </a:tbl>
          </a:graphicData>
        </a:graphic>
      </p:graphicFrame>
      <p:sp>
        <p:nvSpPr>
          <p:cNvPr id="8" name="Shape 5"/>
          <p:cNvSpPr/>
          <p:nvPr/>
        </p:nvSpPr>
        <p:spPr>
          <a:xfrm>
            <a:off x="6858000" y="1417320"/>
            <a:ext cx="4800600" cy="1965960"/>
          </a:xfrm>
          <a:prstGeom prst="roundRect">
            <a:avLst>
              <a:gd name="adj" fmla="val 3721"/>
            </a:avLst>
          </a:prstGeom>
          <a:solidFill>
            <a:srgbClr val="FBEDE2"/>
          </a:solidFill>
          <a:ln w="12700">
            <a:solidFill>
              <a:srgbClr val="E07B30"/>
            </a:solidFill>
            <a:prstDash val="solid"/>
          </a:ln>
        </p:spPr>
      </p:sp>
      <p:sp>
        <p:nvSpPr>
          <p:cNvPr id="9" name="Text 6"/>
          <p:cNvSpPr/>
          <p:nvPr/>
        </p:nvSpPr>
        <p:spPr>
          <a:xfrm>
            <a:off x="7086600" y="1554480"/>
            <a:ext cx="4389120" cy="274320"/>
          </a:xfrm>
          <a:prstGeom prst="rect">
            <a:avLst/>
          </a:prstGeom>
          <a:noFill/>
          <a:ln/>
        </p:spPr>
        <p:txBody>
          <a:bodyPr wrap="square" lIns="635" tIns="635" rIns="635" bIns="635" rtlCol="0" anchor="t"/>
          <a:lstStyle/>
          <a:p>
            <a:pPr indent="0" marL="0">
              <a:buNone/>
            </a:pPr>
            <a:r>
              <a:rPr lang="en-US" sz="1150" b="1" spc="100" kern="0" dirty="0">
                <a:solidFill>
                  <a:srgbClr val="E07B30"/>
                </a:solidFill>
                <a:latin typeface="Calibri" pitchFamily="34" charset="0"/>
                <a:ea typeface="Calibri" pitchFamily="34" charset="-122"/>
                <a:cs typeface="Calibri" pitchFamily="34" charset="-120"/>
              </a:rPr>
              <a:t>OPEN-METHOD FAILURES</a:t>
            </a:r>
            <a:endParaRPr lang="en-US" sz="1150" dirty="0"/>
          </a:p>
        </p:txBody>
      </p:sp>
      <p:sp>
        <p:nvSpPr>
          <p:cNvPr id="10" name="Text 7"/>
          <p:cNvSpPr/>
          <p:nvPr/>
        </p:nvSpPr>
        <p:spPr>
          <a:xfrm>
            <a:off x="7086600" y="1828800"/>
            <a:ext cx="4434840" cy="1828800"/>
          </a:xfrm>
          <a:prstGeom prst="rect">
            <a:avLst/>
          </a:prstGeom>
          <a:noFill/>
          <a:ln/>
        </p:spPr>
        <p:txBody>
          <a:bodyPr wrap="square" rtlCol="0" anchor="t"/>
          <a:lstStyle/>
          <a:p>
            <a:pPr indent="0" marL="0">
              <a:spcAft>
                <a:spcPts val="400"/>
              </a:spcAft>
              <a:buNone/>
            </a:pPr>
            <a:r>
              <a:rPr lang="en-US" sz="1350" b="1" dirty="0">
                <a:solidFill>
                  <a:srgbClr val="333333"/>
                </a:solidFill>
                <a:latin typeface="Calibri" pitchFamily="34" charset="0"/>
                <a:ea typeface="Calibri" pitchFamily="34" charset="-122"/>
                <a:cs typeface="Calibri" pitchFamily="34" charset="-120"/>
              </a:rPr>
              <a:t>Newton: </a:t>
            </a:r>
            <a:pPr indent="0" marL="0">
              <a:spcAft>
                <a:spcPts val="400"/>
              </a:spcAft>
              <a:buNone/>
            </a:pPr>
            <a:r>
              <a:rPr lang="en-US" sz="1350" dirty="0">
                <a:solidFill>
                  <a:srgbClr val="333333"/>
                </a:solidFill>
                <a:latin typeface="Calibri" pitchFamily="34" charset="0"/>
                <a:ea typeface="Calibri" pitchFamily="34" charset="-122"/>
                <a:cs typeface="Calibri" pitchFamily="34" charset="-120"/>
              </a:rPr>
              <a:t>f′(a) = 0 at the left endpoint on P6, P9 and P11. On P10 it converges to a valid root outside [−2, 4].</a:t>
            </a:r>
            <a:endParaRPr lang="en-US" sz="1350" dirty="0"/>
          </a:p>
          <a:p>
            <a:pPr indent="0" marL="0">
              <a:spcAft>
                <a:spcPts val="400"/>
              </a:spcAft>
              <a:buNone/>
            </a:pPr>
            <a:r>
              <a:rPr lang="en-US" sz="1350" b="1" dirty="0">
                <a:solidFill>
                  <a:srgbClr val="333333"/>
                </a:solidFill>
                <a:latin typeface="Calibri" pitchFamily="34" charset="0"/>
                <a:ea typeface="Calibri" pitchFamily="34" charset="-122"/>
                <a:cs typeface="Calibri" pitchFamily="34" charset="-120"/>
              </a:rPr>
              <a:t>Secant: </a:t>
            </a:r>
            <a:pPr indent="0" marL="0">
              <a:spcAft>
                <a:spcPts val="400"/>
              </a:spcAft>
              <a:buNone/>
            </a:pPr>
            <a:r>
              <a:rPr lang="en-US" sz="1350" dirty="0">
                <a:solidFill>
                  <a:srgbClr val="333333"/>
                </a:solidFill>
                <a:latin typeface="Calibri" pitchFamily="34" charset="0"/>
                <a:ea typeface="Calibri" pitchFamily="34" charset="-122"/>
                <a:cs typeface="Calibri" pitchFamily="34" charset="-120"/>
              </a:rPr>
              <a:t>stalls on P11 (x¹⁰ − 1 is flat near 0).</a:t>
            </a:r>
            <a:endParaRPr lang="en-US" sz="1350" dirty="0"/>
          </a:p>
          <a:p>
            <a:pPr indent="0" marL="0">
              <a:spcAft>
                <a:spcPts val="400"/>
              </a:spcAft>
              <a:buNone/>
            </a:pPr>
            <a:r>
              <a:rPr lang="en-US" sz="1350" i="1" dirty="0">
                <a:solidFill>
                  <a:srgbClr val="6B6B6B"/>
                </a:solidFill>
                <a:latin typeface="Calibri" pitchFamily="34" charset="0"/>
                <a:ea typeface="Calibri" pitchFamily="34" charset="-122"/>
                <a:cs typeface="Calibri" pitchFamily="34" charset="-120"/>
              </a:rPr>
              <a:t>The open methods are the fastest when they work, but they carry no guarantee.</a:t>
            </a:r>
            <a:endParaRPr lang="en-US" sz="1350" dirty="0"/>
          </a:p>
        </p:txBody>
      </p:sp>
      <p:sp>
        <p:nvSpPr>
          <p:cNvPr id="11" name="Shape 8"/>
          <p:cNvSpPr/>
          <p:nvPr/>
        </p:nvSpPr>
        <p:spPr>
          <a:xfrm>
            <a:off x="6858000" y="3566160"/>
            <a:ext cx="4800600" cy="2496312"/>
          </a:xfrm>
          <a:prstGeom prst="roundRect">
            <a:avLst>
              <a:gd name="adj" fmla="val 2930"/>
            </a:avLst>
          </a:prstGeom>
          <a:solidFill>
            <a:srgbClr val="E6EFE6"/>
          </a:solidFill>
          <a:ln w="12700">
            <a:solidFill>
              <a:srgbClr val="E6EFE6"/>
            </a:solidFill>
            <a:prstDash val="solid"/>
          </a:ln>
        </p:spPr>
      </p:sp>
      <p:sp>
        <p:nvSpPr>
          <p:cNvPr id="12" name="Text 9"/>
          <p:cNvSpPr/>
          <p:nvPr/>
        </p:nvSpPr>
        <p:spPr>
          <a:xfrm>
            <a:off x="7086600" y="3703320"/>
            <a:ext cx="4389120" cy="274320"/>
          </a:xfrm>
          <a:prstGeom prst="rect">
            <a:avLst/>
          </a:prstGeom>
          <a:noFill/>
          <a:ln/>
        </p:spPr>
        <p:txBody>
          <a:bodyPr wrap="square" lIns="635" tIns="635" rIns="635" bIns="635" rtlCol="0" anchor="t"/>
          <a:lstStyle/>
          <a:p>
            <a:pPr indent="0" marL="0">
              <a:buNone/>
            </a:pPr>
            <a:r>
              <a:rPr lang="en-US" sz="1150" b="1" spc="100" kern="0" dirty="0">
                <a:solidFill>
                  <a:srgbClr val="2E7D4F"/>
                </a:solidFill>
                <a:latin typeface="Calibri" pitchFamily="34" charset="0"/>
                <a:ea typeface="Calibri" pitchFamily="34" charset="-122"/>
                <a:cs typeface="Calibri" pitchFamily="34" charset="-120"/>
              </a:rPr>
              <a:t>STRESS SUITE (5 EXTRA CASES, NOT FROM THE PAPER)</a:t>
            </a:r>
            <a:endParaRPr lang="en-US" sz="1150" dirty="0"/>
          </a:p>
        </p:txBody>
      </p:sp>
      <p:sp>
        <p:nvSpPr>
          <p:cNvPr id="13" name="Text 10"/>
          <p:cNvSpPr/>
          <p:nvPr/>
        </p:nvSpPr>
        <p:spPr>
          <a:xfrm>
            <a:off x="7086600" y="3977640"/>
            <a:ext cx="4434840" cy="2011680"/>
          </a:xfrm>
          <a:prstGeom prst="rect">
            <a:avLst/>
          </a:prstGeom>
          <a:noFill/>
          <a:ln/>
        </p:spPr>
        <p:txBody>
          <a:bodyPr wrap="square" rtlCol="0" anchor="t"/>
          <a:lstStyle/>
          <a:p>
            <a:pPr indent="0" marL="0">
              <a:spcAft>
                <a:spcPts val="400"/>
              </a:spcAft>
              <a:buNone/>
            </a:pPr>
            <a:r>
              <a:rPr lang="en-US" sz="1350" b="1" dirty="0">
                <a:solidFill>
                  <a:srgbClr val="333333"/>
                </a:solidFill>
                <a:latin typeface="Calibri" pitchFamily="34" charset="0"/>
                <a:ea typeface="Calibri" pitchFamily="34" charset="-122"/>
                <a:cs typeface="Calibri" pitchFamily="34" charset="-120"/>
              </a:rPr>
              <a:t>eˣ − 1000: </a:t>
            </a:r>
            <a:pPr indent="0" marL="0">
              <a:spcAft>
                <a:spcPts val="400"/>
              </a:spcAft>
              <a:buNone/>
            </a:pPr>
            <a:r>
              <a:rPr lang="en-US" sz="1350" dirty="0">
                <a:solidFill>
                  <a:srgbClr val="333333"/>
                </a:solidFill>
                <a:latin typeface="Calibri" pitchFamily="34" charset="0"/>
                <a:ea typeface="Calibri" pitchFamily="34" charset="-122"/>
                <a:cs typeface="Calibri" pitchFamily="34" charset="-120"/>
              </a:rPr>
              <a:t>the best binary64 residual is ≈ 2.3×10⁻¹³ &gt; ε, so every bracketed method correctly reports a precision limit.</a:t>
            </a:r>
            <a:endParaRPr lang="en-US" sz="1350" dirty="0"/>
          </a:p>
          <a:p>
            <a:pPr indent="0" marL="0">
              <a:spcAft>
                <a:spcPts val="400"/>
              </a:spcAft>
              <a:buNone/>
            </a:pPr>
            <a:r>
              <a:rPr lang="en-US" sz="1350" b="1" dirty="0">
                <a:solidFill>
                  <a:srgbClr val="333333"/>
                </a:solidFill>
                <a:latin typeface="Calibri" pitchFamily="34" charset="0"/>
                <a:ea typeface="Calibri" pitchFamily="34" charset="-122"/>
                <a:cs typeface="Calibri" pitchFamily="34" charset="-120"/>
              </a:rPr>
              <a:t>x²⁰ − 1, (x − 0.3)³: </a:t>
            </a:r>
            <a:pPr indent="0" marL="0">
              <a:spcAft>
                <a:spcPts val="400"/>
              </a:spcAft>
              <a:buNone/>
            </a:pPr>
            <a:r>
              <a:rPr lang="en-US" sz="1350" dirty="0">
                <a:solidFill>
                  <a:srgbClr val="333333"/>
                </a:solidFill>
                <a:latin typeface="Calibri" pitchFamily="34" charset="0"/>
                <a:ea typeface="Calibri" pitchFamily="34" charset="-122"/>
                <a:cs typeface="Calibri" pitchFamily="34" charset="-120"/>
              </a:rPr>
              <a:t>plain false position hits the 1,000-iteration cap. All hybrids succeed.</a:t>
            </a:r>
            <a:endParaRPr lang="en-US" sz="1350" dirty="0"/>
          </a:p>
          <a:p>
            <a:pPr indent="0" marL="0">
              <a:spcAft>
                <a:spcPts val="400"/>
              </a:spcAft>
              <a:buNone/>
            </a:pPr>
            <a:r>
              <a:rPr lang="en-US" sz="1350" b="1" dirty="0">
                <a:solidFill>
                  <a:srgbClr val="333333"/>
                </a:solidFill>
                <a:latin typeface="Calibri" pitchFamily="34" charset="0"/>
                <a:ea typeface="Calibri" pitchFamily="34" charset="-122"/>
                <a:cs typeface="Calibri" pitchFamily="34" charset="-120"/>
              </a:rPr>
              <a:t>Flat cubic, scaled quadratic: </a:t>
            </a:r>
            <a:pPr indent="0" marL="0">
              <a:spcAft>
                <a:spcPts val="400"/>
              </a:spcAft>
              <a:buNone/>
            </a:pPr>
            <a:r>
              <a:rPr lang="en-US" sz="1350" dirty="0">
                <a:solidFill>
                  <a:srgbClr val="333333"/>
                </a:solidFill>
                <a:latin typeface="Calibri" pitchFamily="34" charset="0"/>
                <a:ea typeface="Calibri" pitchFamily="34" charset="-122"/>
                <a:cs typeface="Calibri" pitchFamily="34" charset="-120"/>
              </a:rPr>
              <a:t>a tiny residual does not guarantee a tiny root error, so we also report 80-digit root errors.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15</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Wall-Clock Time</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Mean µs per solve over 15 equations, 10 timed runs each (Python, cheap test functions)</a:t>
            </a:r>
            <a:endParaRPr lang="en-US" sz="1500" dirty="0"/>
          </a:p>
        </p:txBody>
      </p:sp>
      <p:graphicFrame>
        <p:nvGraphicFramePr>
          <p:cNvPr id="7" name="Chart 0" descr=""/>
          <p:cNvGraphicFramePr/>
          <p:nvPr/>
        </p:nvGraphicFramePr>
        <p:xfrm>
          <a:off x="457200" y="137160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001000" y="1554480"/>
            <a:ext cx="3657600" cy="1298448"/>
          </a:xfrm>
          <a:prstGeom prst="roundRect">
            <a:avLst>
              <a:gd name="adj" fmla="val 5634"/>
            </a:avLst>
          </a:prstGeom>
          <a:solidFill>
            <a:srgbClr val="E6EFE6"/>
          </a:solidFill>
          <a:ln w="12700">
            <a:solidFill>
              <a:srgbClr val="E6EFE6"/>
            </a:solidFill>
            <a:prstDash val="solid"/>
          </a:ln>
        </p:spPr>
      </p:sp>
      <p:sp>
        <p:nvSpPr>
          <p:cNvPr id="9" name="Text 6"/>
          <p:cNvSpPr/>
          <p:nvPr/>
        </p:nvSpPr>
        <p:spPr>
          <a:xfrm>
            <a:off x="8138160" y="1554480"/>
            <a:ext cx="3429000" cy="1298448"/>
          </a:xfrm>
          <a:prstGeom prst="rect">
            <a:avLst/>
          </a:prstGeom>
          <a:noFill/>
          <a:ln/>
        </p:spPr>
        <p:txBody>
          <a:bodyPr wrap="square" rtlCol="0" anchor="ctr"/>
          <a:lstStyle/>
          <a:p>
            <a:pPr indent="0" marL="0">
              <a:buNone/>
            </a:pPr>
            <a:r>
              <a:rPr lang="en-US" sz="1400" b="1" dirty="0">
                <a:solidFill>
                  <a:srgbClr val="1E4D2B"/>
                </a:solidFill>
                <a:latin typeface="Calibri" pitchFamily="34" charset="0"/>
                <a:ea typeface="Calibri" pitchFamily="34" charset="-122"/>
                <a:cs typeface="Calibri" pitchFamily="34" charset="-120"/>
              </a:rPr>
              <a:t>The functions are cheap, </a:t>
            </a:r>
            <a:pPr indent="0" marL="0">
              <a:buNone/>
            </a:pPr>
            <a:r>
              <a:rPr lang="en-US" sz="1400" dirty="0">
                <a:solidFill>
                  <a:srgbClr val="333333"/>
                </a:solidFill>
                <a:latin typeface="Calibri" pitchFamily="34" charset="0"/>
                <a:ea typeface="Calibri" pitchFamily="34" charset="-122"/>
                <a:cs typeface="Calibri" pitchFamily="34" charset="-120"/>
              </a:rPr>
              <a:t>so time mostly measures Python selector overhead, not f(x) cost.</a:t>
            </a:r>
            <a:endParaRPr lang="en-US" sz="1400" dirty="0"/>
          </a:p>
        </p:txBody>
      </p:sp>
      <p:sp>
        <p:nvSpPr>
          <p:cNvPr id="10" name="Shape 7"/>
          <p:cNvSpPr/>
          <p:nvPr/>
        </p:nvSpPr>
        <p:spPr>
          <a:xfrm>
            <a:off x="8001000" y="3035808"/>
            <a:ext cx="3657600" cy="1298448"/>
          </a:xfrm>
          <a:prstGeom prst="roundRect">
            <a:avLst>
              <a:gd name="adj" fmla="val 5634"/>
            </a:avLst>
          </a:prstGeom>
          <a:solidFill>
            <a:srgbClr val="E6EFE6"/>
          </a:solidFill>
          <a:ln w="12700">
            <a:solidFill>
              <a:srgbClr val="E6EFE6"/>
            </a:solidFill>
            <a:prstDash val="solid"/>
          </a:ln>
        </p:spPr>
      </p:sp>
      <p:sp>
        <p:nvSpPr>
          <p:cNvPr id="11" name="Text 8"/>
          <p:cNvSpPr/>
          <p:nvPr/>
        </p:nvSpPr>
        <p:spPr>
          <a:xfrm>
            <a:off x="8138160" y="3035808"/>
            <a:ext cx="3429000" cy="1298448"/>
          </a:xfrm>
          <a:prstGeom prst="rect">
            <a:avLst/>
          </a:prstGeom>
          <a:noFill/>
          <a:ln/>
        </p:spPr>
        <p:txBody>
          <a:bodyPr wrap="square" rtlCol="0" anchor="ctr"/>
          <a:lstStyle/>
          <a:p>
            <a:pPr indent="0" marL="0">
              <a:buNone/>
            </a:pPr>
            <a:r>
              <a:rPr lang="en-US" sz="1400" b="1" dirty="0">
                <a:solidFill>
                  <a:srgbClr val="1E4D2B"/>
                </a:solidFill>
                <a:latin typeface="Calibri" pitchFamily="34" charset="0"/>
                <a:ea typeface="Calibri" pitchFamily="34" charset="-122"/>
                <a:cs typeface="Calibri" pitchFamily="34" charset="-120"/>
              </a:rPr>
              <a:t>Static hybrids are fastest </a:t>
            </a:r>
            <a:pPr indent="0" marL="0">
              <a:buNone/>
            </a:pPr>
            <a:r>
              <a:rPr lang="en-US" sz="1400" dirty="0">
                <a:solidFill>
                  <a:srgbClr val="333333"/>
                </a:solidFill>
                <a:latin typeface="Calibri" pitchFamily="34" charset="0"/>
                <a:ea typeface="Calibri" pitchFamily="34" charset="-122"/>
                <a:cs typeface="Calibri" pitchFamily="34" charset="-120"/>
              </a:rPr>
              <a:t>among guaranteed methods (56–59 µs). Stagnation-aware is next at 81 µs.</a:t>
            </a:r>
            <a:endParaRPr lang="en-US" sz="1400" dirty="0"/>
          </a:p>
        </p:txBody>
      </p:sp>
      <p:sp>
        <p:nvSpPr>
          <p:cNvPr id="12" name="Shape 9"/>
          <p:cNvSpPr/>
          <p:nvPr/>
        </p:nvSpPr>
        <p:spPr>
          <a:xfrm>
            <a:off x="8001000" y="4517136"/>
            <a:ext cx="3657600" cy="1298448"/>
          </a:xfrm>
          <a:prstGeom prst="roundRect">
            <a:avLst>
              <a:gd name="adj" fmla="val 5634"/>
            </a:avLst>
          </a:prstGeom>
          <a:solidFill>
            <a:srgbClr val="FBEDE2"/>
          </a:solidFill>
          <a:ln w="12700">
            <a:solidFill>
              <a:srgbClr val="E07B30"/>
            </a:solidFill>
            <a:prstDash val="solid"/>
          </a:ln>
        </p:spPr>
      </p:sp>
      <p:sp>
        <p:nvSpPr>
          <p:cNvPr id="13" name="Text 10"/>
          <p:cNvSpPr/>
          <p:nvPr/>
        </p:nvSpPr>
        <p:spPr>
          <a:xfrm>
            <a:off x="8138160" y="4517136"/>
            <a:ext cx="3429000" cy="1298448"/>
          </a:xfrm>
          <a:prstGeom prst="rect">
            <a:avLst/>
          </a:prstGeom>
          <a:noFill/>
          <a:ln/>
        </p:spPr>
        <p:txBody>
          <a:bodyPr wrap="square" rtlCol="0" anchor="ctr"/>
          <a:lstStyle/>
          <a:p>
            <a:pPr indent="0" marL="0">
              <a:buNone/>
            </a:pPr>
            <a:r>
              <a:rPr lang="en-US" sz="1400" b="1" dirty="0">
                <a:solidFill>
                  <a:srgbClr val="E07B30"/>
                </a:solidFill>
                <a:latin typeface="Calibri" pitchFamily="34" charset="0"/>
                <a:ea typeface="Calibri" pitchFamily="34" charset="-122"/>
                <a:cs typeface="Calibri" pitchFamily="34" charset="-120"/>
              </a:rPr>
              <a:t>Saving calls pays off only </a:t>
            </a:r>
            <a:pPr indent="0" marL="0">
              <a:buNone/>
            </a:pPr>
            <a:r>
              <a:rPr lang="en-US" sz="1400" dirty="0">
                <a:solidFill>
                  <a:srgbClr val="333333"/>
                </a:solidFill>
                <a:latin typeface="Calibri" pitchFamily="34" charset="0"/>
                <a:ea typeface="Calibri" pitchFamily="34" charset="-122"/>
                <a:cs typeface="Calibri" pitchFamily="34" charset="-120"/>
              </a:rPr>
              <a:t>when f(x) is expensive (simulations, integrals). We make no claim for such workloads.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16</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Conclusions</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Our answer to the research question</a:t>
            </a:r>
            <a:endParaRPr lang="en-US" sz="1500" dirty="0"/>
          </a:p>
        </p:txBody>
      </p:sp>
      <p:sp>
        <p:nvSpPr>
          <p:cNvPr id="7" name="Shape 5"/>
          <p:cNvSpPr/>
          <p:nvPr/>
        </p:nvSpPr>
        <p:spPr>
          <a:xfrm>
            <a:off x="548640" y="1417320"/>
            <a:ext cx="11109960" cy="1234440"/>
          </a:xfrm>
          <a:prstGeom prst="roundRect">
            <a:avLst>
              <a:gd name="adj" fmla="val 5926"/>
            </a:avLst>
          </a:prstGeom>
          <a:solidFill>
            <a:srgbClr val="1E4D2B"/>
          </a:solidFill>
          <a:ln w="12700">
            <a:solidFill>
              <a:srgbClr val="1E4D2B"/>
            </a:solidFill>
            <a:prstDash val="solid"/>
          </a:ln>
        </p:spPr>
      </p:sp>
      <p:sp>
        <p:nvSpPr>
          <p:cNvPr id="8" name="Text 6"/>
          <p:cNvSpPr/>
          <p:nvPr/>
        </p:nvSpPr>
        <p:spPr>
          <a:xfrm>
            <a:off x="822960" y="1417320"/>
            <a:ext cx="10607040" cy="123444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Endpoint stagnation is the right signal to adapt on. But adaptivity is not an unconditional win: at tight tolerances, Static BF is still cheaper.</a:t>
            </a:r>
            <a:endParaRPr lang="en-US" sz="2000" dirty="0"/>
          </a:p>
        </p:txBody>
      </p:sp>
      <p:sp>
        <p:nvSpPr>
          <p:cNvPr id="9" name="Shape 7"/>
          <p:cNvSpPr/>
          <p:nvPr/>
        </p:nvSpPr>
        <p:spPr>
          <a:xfrm>
            <a:off x="548640" y="2926080"/>
            <a:ext cx="5486400" cy="1298448"/>
          </a:xfrm>
          <a:prstGeom prst="roundRect">
            <a:avLst>
              <a:gd name="adj" fmla="val 5634"/>
            </a:avLst>
          </a:prstGeom>
          <a:solidFill>
            <a:srgbClr val="FBEDE2"/>
          </a:solidFill>
          <a:ln w="12700">
            <a:solidFill>
              <a:srgbClr val="E07B30"/>
            </a:solidFill>
            <a:prstDash val="solid"/>
          </a:ln>
        </p:spPr>
      </p:sp>
      <p:sp>
        <p:nvSpPr>
          <p:cNvPr id="10" name="Shape 8"/>
          <p:cNvSpPr/>
          <p:nvPr/>
        </p:nvSpPr>
        <p:spPr>
          <a:xfrm>
            <a:off x="731520" y="3108960"/>
            <a:ext cx="411480" cy="411480"/>
          </a:xfrm>
          <a:prstGeom prst="ellipse">
            <a:avLst/>
          </a:prstGeom>
          <a:solidFill>
            <a:srgbClr val="E07B30"/>
          </a:solidFill>
          <a:ln w="12700">
            <a:solidFill>
              <a:srgbClr val="E07B30"/>
            </a:solidFill>
            <a:prstDash val="solid"/>
          </a:ln>
        </p:spPr>
      </p:sp>
      <p:sp>
        <p:nvSpPr>
          <p:cNvPr id="11" name="Text 9"/>
          <p:cNvSpPr/>
          <p:nvPr/>
        </p:nvSpPr>
        <p:spPr>
          <a:xfrm>
            <a:off x="731520" y="310896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1280160" y="3063240"/>
            <a:ext cx="4617720" cy="45720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Stagnation-aware is the best policy</a:t>
            </a:r>
            <a:endParaRPr lang="en-US" sz="1500" dirty="0"/>
          </a:p>
        </p:txBody>
      </p:sp>
      <p:sp>
        <p:nvSpPr>
          <p:cNvPr id="13" name="Text 11"/>
          <p:cNvSpPr/>
          <p:nvPr/>
        </p:nvSpPr>
        <p:spPr>
          <a:xfrm>
            <a:off x="1280160" y="3520440"/>
            <a:ext cx="4617720" cy="77724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300 calls vs 325 for Static TF (−7.7%), winning 11 of 15 equations. Never catastrophic: worst case 27 calls.</a:t>
            </a:r>
            <a:endParaRPr lang="en-US" sz="1300" dirty="0"/>
          </a:p>
        </p:txBody>
      </p:sp>
      <p:sp>
        <p:nvSpPr>
          <p:cNvPr id="14" name="Shape 12"/>
          <p:cNvSpPr/>
          <p:nvPr/>
        </p:nvSpPr>
        <p:spPr>
          <a:xfrm>
            <a:off x="6172200" y="2926080"/>
            <a:ext cx="5486400" cy="1298448"/>
          </a:xfrm>
          <a:prstGeom prst="roundRect">
            <a:avLst>
              <a:gd name="adj" fmla="val 5634"/>
            </a:avLst>
          </a:prstGeom>
          <a:solidFill>
            <a:srgbClr val="FFFFFF"/>
          </a:solidFill>
          <a:ln w="12700">
            <a:solidFill>
              <a:srgbClr val="C9D6C9"/>
            </a:solidFill>
            <a:prstDash val="solid"/>
          </a:ln>
        </p:spPr>
      </p:sp>
      <p:sp>
        <p:nvSpPr>
          <p:cNvPr id="15" name="Shape 13"/>
          <p:cNvSpPr/>
          <p:nvPr/>
        </p:nvSpPr>
        <p:spPr>
          <a:xfrm>
            <a:off x="6355080" y="3108960"/>
            <a:ext cx="411480" cy="411480"/>
          </a:xfrm>
          <a:prstGeom prst="ellipse">
            <a:avLst/>
          </a:prstGeom>
          <a:solidFill>
            <a:srgbClr val="E07B30"/>
          </a:solidFill>
          <a:ln w="12700">
            <a:solidFill>
              <a:srgbClr val="E07B30"/>
            </a:solidFill>
            <a:prstDash val="solid"/>
          </a:ln>
        </p:spPr>
      </p:sp>
      <p:sp>
        <p:nvSpPr>
          <p:cNvPr id="16" name="Text 14"/>
          <p:cNvSpPr/>
          <p:nvPr/>
        </p:nvSpPr>
        <p:spPr>
          <a:xfrm>
            <a:off x="6355080" y="310896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6903720" y="3063240"/>
            <a:ext cx="4617720" cy="45720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Residual-ratio thresholds miss endpoint locking</a:t>
            </a:r>
            <a:endParaRPr lang="en-US" sz="1500" dirty="0"/>
          </a:p>
        </p:txBody>
      </p:sp>
      <p:sp>
        <p:nvSpPr>
          <p:cNvPr id="18" name="Text 16"/>
          <p:cNvSpPr/>
          <p:nvPr/>
        </p:nvSpPr>
        <p:spPr>
          <a:xfrm>
            <a:off x="6903720" y="3520440"/>
            <a:ext cx="4617720" cy="77724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Steady, small improvements keep passing τ. On P11 the threshold policy needs 98 calls.</a:t>
            </a:r>
            <a:endParaRPr lang="en-US" sz="1300" dirty="0"/>
          </a:p>
        </p:txBody>
      </p:sp>
      <p:sp>
        <p:nvSpPr>
          <p:cNvPr id="19" name="Shape 17"/>
          <p:cNvSpPr/>
          <p:nvPr/>
        </p:nvSpPr>
        <p:spPr>
          <a:xfrm>
            <a:off x="548640" y="4389120"/>
            <a:ext cx="5486400" cy="1298448"/>
          </a:xfrm>
          <a:prstGeom prst="roundRect">
            <a:avLst>
              <a:gd name="adj" fmla="val 5634"/>
            </a:avLst>
          </a:prstGeom>
          <a:solidFill>
            <a:srgbClr val="FFFFFF"/>
          </a:solidFill>
          <a:ln w="12700">
            <a:solidFill>
              <a:srgbClr val="C9D6C9"/>
            </a:solidFill>
            <a:prstDash val="solid"/>
          </a:ln>
        </p:spPr>
      </p:sp>
      <p:sp>
        <p:nvSpPr>
          <p:cNvPr id="20" name="Shape 18"/>
          <p:cNvSpPr/>
          <p:nvPr/>
        </p:nvSpPr>
        <p:spPr>
          <a:xfrm>
            <a:off x="731520" y="4572000"/>
            <a:ext cx="411480" cy="411480"/>
          </a:xfrm>
          <a:prstGeom prst="ellipse">
            <a:avLst/>
          </a:prstGeom>
          <a:solidFill>
            <a:srgbClr val="E07B30"/>
          </a:solidFill>
          <a:ln w="12700">
            <a:solidFill>
              <a:srgbClr val="E07B30"/>
            </a:solidFill>
            <a:prstDash val="solid"/>
          </a:ln>
        </p:spPr>
      </p:sp>
      <p:sp>
        <p:nvSpPr>
          <p:cNvPr id="21" name="Text 19"/>
          <p:cNvSpPr/>
          <p:nvPr/>
        </p:nvSpPr>
        <p:spPr>
          <a:xfrm>
            <a:off x="731520" y="457200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1280160" y="4526280"/>
            <a:ext cx="4617720" cy="45720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Cost-aware looks good per equation, worse in total</a:t>
            </a:r>
            <a:endParaRPr lang="en-US" sz="1500" dirty="0"/>
          </a:p>
        </p:txBody>
      </p:sp>
      <p:sp>
        <p:nvSpPr>
          <p:cNvPr id="23" name="Text 21"/>
          <p:cNvSpPr/>
          <p:nvPr/>
        </p:nvSpPr>
        <p:spPr>
          <a:xfrm>
            <a:off x="1280160" y="4983480"/>
            <a:ext cx="4617720" cy="77724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Median ratio 0.82 vs TF, but greedy estimates go stale on P6 and P10.</a:t>
            </a:r>
            <a:endParaRPr lang="en-US" sz="1300" dirty="0"/>
          </a:p>
        </p:txBody>
      </p:sp>
      <p:sp>
        <p:nvSpPr>
          <p:cNvPr id="24" name="Shape 22"/>
          <p:cNvSpPr/>
          <p:nvPr/>
        </p:nvSpPr>
        <p:spPr>
          <a:xfrm>
            <a:off x="6172200" y="4389120"/>
            <a:ext cx="5486400" cy="1298448"/>
          </a:xfrm>
          <a:prstGeom prst="roundRect">
            <a:avLst>
              <a:gd name="adj" fmla="val 5634"/>
            </a:avLst>
          </a:prstGeom>
          <a:solidFill>
            <a:srgbClr val="FFFFFF"/>
          </a:solidFill>
          <a:ln w="12700">
            <a:solidFill>
              <a:srgbClr val="C9D6C9"/>
            </a:solidFill>
            <a:prstDash val="solid"/>
          </a:ln>
        </p:spPr>
      </p:sp>
      <p:sp>
        <p:nvSpPr>
          <p:cNvPr id="25" name="Shape 23"/>
          <p:cNvSpPr/>
          <p:nvPr/>
        </p:nvSpPr>
        <p:spPr>
          <a:xfrm>
            <a:off x="6355080" y="4572000"/>
            <a:ext cx="411480" cy="411480"/>
          </a:xfrm>
          <a:prstGeom prst="ellipse">
            <a:avLst/>
          </a:prstGeom>
          <a:solidFill>
            <a:srgbClr val="E07B30"/>
          </a:solidFill>
          <a:ln w="12700">
            <a:solidFill>
              <a:srgbClr val="E07B30"/>
            </a:solidFill>
            <a:prstDash val="solid"/>
          </a:ln>
        </p:spPr>
      </p:sp>
      <p:sp>
        <p:nvSpPr>
          <p:cNvPr id="26" name="Text 24"/>
          <p:cNvSpPr/>
          <p:nvPr/>
        </p:nvSpPr>
        <p:spPr>
          <a:xfrm>
            <a:off x="6355080" y="457200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p:nvPr/>
        </p:nvSpPr>
        <p:spPr>
          <a:xfrm>
            <a:off x="6903720" y="4526280"/>
            <a:ext cx="4617720" cy="45720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Count work, not iterations</a:t>
            </a:r>
            <a:endParaRPr lang="en-US" sz="1500" dirty="0"/>
          </a:p>
        </p:txBody>
      </p:sp>
      <p:sp>
        <p:nvSpPr>
          <p:cNvPr id="28" name="Text 26"/>
          <p:cNvSpPr/>
          <p:nvPr/>
        </p:nvSpPr>
        <p:spPr>
          <a:xfrm>
            <a:off x="6903720" y="4983480"/>
            <a:ext cx="4617720" cy="77724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Static TF has the fewest iterations yet costs more than BF. Reuse limit 2 cuts iterations, not calls.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17</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Limitations and Future Work</a:t>
            </a:r>
            <a:endParaRPr lang="en-US" sz="3200" dirty="0"/>
          </a:p>
        </p:txBody>
      </p:sp>
      <p:sp>
        <p:nvSpPr>
          <p:cNvPr id="6" name="Shape 4"/>
          <p:cNvSpPr/>
          <p:nvPr/>
        </p:nvSpPr>
        <p:spPr>
          <a:xfrm>
            <a:off x="548640" y="1325880"/>
            <a:ext cx="5486400" cy="4480560"/>
          </a:xfrm>
          <a:prstGeom prst="roundRect">
            <a:avLst>
              <a:gd name="adj" fmla="val 1633"/>
            </a:avLst>
          </a:prstGeom>
          <a:solidFill>
            <a:srgbClr val="FFFFFF"/>
          </a:solidFill>
          <a:ln w="12700">
            <a:solidFill>
              <a:srgbClr val="C9D6C9"/>
            </a:solidFill>
            <a:prstDash val="solid"/>
          </a:ln>
        </p:spPr>
      </p:sp>
      <p:sp>
        <p:nvSpPr>
          <p:cNvPr id="7" name="Text 5"/>
          <p:cNvSpPr/>
          <p:nvPr/>
        </p:nvSpPr>
        <p:spPr>
          <a:xfrm>
            <a:off x="822960" y="1463040"/>
            <a:ext cx="4937760" cy="320040"/>
          </a:xfrm>
          <a:prstGeom prst="rect">
            <a:avLst/>
          </a:prstGeom>
          <a:noFill/>
          <a:ln/>
        </p:spPr>
        <p:txBody>
          <a:bodyPr wrap="square" lIns="635" tIns="635" rIns="635" bIns="635" rtlCol="0" anchor="t"/>
          <a:lstStyle/>
          <a:p>
            <a:pPr indent="0" marL="0">
              <a:buNone/>
            </a:pPr>
            <a:r>
              <a:rPr lang="en-US" sz="1300" b="1" spc="200" kern="0" dirty="0">
                <a:solidFill>
                  <a:srgbClr val="E07B30"/>
                </a:solidFill>
                <a:latin typeface="Calibri" pitchFamily="34" charset="0"/>
                <a:ea typeface="Calibri" pitchFamily="34" charset="-122"/>
                <a:cs typeface="Calibri" pitchFamily="34" charset="-120"/>
              </a:rPr>
              <a:t>LIMITATIONS</a:t>
            </a:r>
            <a:endParaRPr lang="en-US" sz="1300" dirty="0"/>
          </a:p>
        </p:txBody>
      </p:sp>
      <p:sp>
        <p:nvSpPr>
          <p:cNvPr id="8" name="Text 6"/>
          <p:cNvSpPr/>
          <p:nvPr/>
        </p:nvSpPr>
        <p:spPr>
          <a:xfrm>
            <a:off x="822960" y="1874520"/>
            <a:ext cx="5029200" cy="3749040"/>
          </a:xfrm>
          <a:prstGeom prst="rect">
            <a:avLst/>
          </a:prstGeom>
          <a:noFill/>
          <a:ln/>
        </p:spPr>
        <p:txBody>
          <a:bodyPr wrap="square" rtlCol="0" anchor="t"/>
          <a:lstStyle/>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15 hand-picked, cheap equations: no statistical-significance or universal-superiority claims.</a:t>
            </a:r>
            <a:endParaRPr lang="en-US" sz="1700" dirty="0"/>
          </a:p>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Policies follow the proposal literally. The window size, bootstrap and reuse semantics are our design choices.</a:t>
            </a:r>
            <a:endParaRPr lang="en-US" sz="1700" dirty="0"/>
          </a:p>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Cost-aware is a pure greedy rule with no exploration. Other estimators could behave differently.</a:t>
            </a:r>
            <a:endParaRPr lang="en-US" sz="1700" dirty="0"/>
          </a:p>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Timings are Python and microsecond-scale, so they are noisy and machine-dependent.</a:t>
            </a:r>
            <a:endParaRPr lang="en-US" sz="1700" dirty="0"/>
          </a:p>
        </p:txBody>
      </p:sp>
      <p:sp>
        <p:nvSpPr>
          <p:cNvPr id="9" name="Shape 7"/>
          <p:cNvSpPr/>
          <p:nvPr/>
        </p:nvSpPr>
        <p:spPr>
          <a:xfrm>
            <a:off x="6172200" y="1325880"/>
            <a:ext cx="5486400" cy="4480560"/>
          </a:xfrm>
          <a:prstGeom prst="roundRect">
            <a:avLst>
              <a:gd name="adj" fmla="val 1633"/>
            </a:avLst>
          </a:prstGeom>
          <a:solidFill>
            <a:srgbClr val="E6EFE6"/>
          </a:solidFill>
          <a:ln w="12700">
            <a:solidFill>
              <a:srgbClr val="E6EFE6"/>
            </a:solidFill>
            <a:prstDash val="solid"/>
          </a:ln>
        </p:spPr>
      </p:sp>
      <p:sp>
        <p:nvSpPr>
          <p:cNvPr id="10" name="Text 8"/>
          <p:cNvSpPr/>
          <p:nvPr/>
        </p:nvSpPr>
        <p:spPr>
          <a:xfrm>
            <a:off x="6446520" y="1463040"/>
            <a:ext cx="4937760" cy="320040"/>
          </a:xfrm>
          <a:prstGeom prst="rect">
            <a:avLst/>
          </a:prstGeom>
          <a:noFill/>
          <a:ln/>
        </p:spPr>
        <p:txBody>
          <a:bodyPr wrap="square" lIns="635" tIns="635" rIns="635" bIns="635" rtlCol="0" anchor="t"/>
          <a:lstStyle/>
          <a:p>
            <a:pPr indent="0" marL="0">
              <a:buNone/>
            </a:pPr>
            <a:r>
              <a:rPr lang="en-US" sz="1300" b="1" spc="200" kern="0" dirty="0">
                <a:solidFill>
                  <a:srgbClr val="2E7D4F"/>
                </a:solidFill>
                <a:latin typeface="Calibri" pitchFamily="34" charset="0"/>
                <a:ea typeface="Calibri" pitchFamily="34" charset="-122"/>
                <a:cs typeface="Calibri" pitchFamily="34" charset="-120"/>
              </a:rPr>
              <a:t>FUTURE WORK</a:t>
            </a:r>
            <a:endParaRPr lang="en-US" sz="1300" dirty="0"/>
          </a:p>
        </p:txBody>
      </p:sp>
      <p:sp>
        <p:nvSpPr>
          <p:cNvPr id="11" name="Text 9"/>
          <p:cNvSpPr/>
          <p:nvPr/>
        </p:nvSpPr>
        <p:spPr>
          <a:xfrm>
            <a:off x="6446520" y="1874520"/>
            <a:ext cx="5029200" cy="3749040"/>
          </a:xfrm>
          <a:prstGeom prst="rect">
            <a:avLst/>
          </a:prstGeom>
          <a:noFill/>
          <a:ln/>
        </p:spPr>
        <p:txBody>
          <a:bodyPr wrap="square" rtlCol="0" anchor="t"/>
          <a:lstStyle/>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Stagnation-aware BF: add the endpoint counter to the cheaper bisection–FP hybrid.</a:t>
            </a:r>
            <a:endParaRPr lang="en-US" sz="1700" dirty="0"/>
          </a:p>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Benchmark expensive functions (ODE shooting, quadrature) where call savings turn into time savings.</a:t>
            </a:r>
            <a:endParaRPr lang="en-US" sz="1700" dirty="0"/>
          </a:p>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Cost-aware with periodic exploration or decaying estimates to avoid stale commitments.</a:t>
            </a:r>
            <a:endParaRPr lang="en-US" sz="1700" dirty="0"/>
          </a:p>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A larger, randomly generated benchmark with confidence intervals.</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8FB08C"/>
        </a:solidFill>
      </p:bgPr>
    </p:bg>
    <p:spTree>
      <p:nvGrpSpPr>
        <p:cNvPr id="1" name=""/>
        <p:cNvGrpSpPr/>
        <p:nvPr/>
      </p:nvGrpSpPr>
      <p:grpSpPr>
        <a:xfrm>
          <a:off x="0" y="0"/>
          <a:ext cx="0" cy="0"/>
          <a:chOff x="0" y="0"/>
          <a:chExt cx="0" cy="0"/>
        </a:xfrm>
      </p:grpSpPr>
      <p:sp>
        <p:nvSpPr>
          <p:cNvPr id="2" name="Shape 0"/>
          <p:cNvSpPr/>
          <p:nvPr/>
        </p:nvSpPr>
        <p:spPr>
          <a:xfrm>
            <a:off x="502920" y="457200"/>
            <a:ext cx="11185855" cy="5943600"/>
          </a:xfrm>
          <a:prstGeom prst="roundRect">
            <a:avLst>
              <a:gd name="adj" fmla="val 1231"/>
            </a:avLst>
          </a:prstGeom>
          <a:solidFill>
            <a:srgbClr val="FFFFFF"/>
          </a:solidFill>
          <a:ln w="12700">
            <a:solidFill>
              <a:srgbClr val="FFFFFF"/>
            </a:solidFill>
            <a:prstDash val="solid"/>
          </a:ln>
        </p:spPr>
      </p:sp>
      <p:sp>
        <p:nvSpPr>
          <p:cNvPr id="3" name="Text 1"/>
          <p:cNvSpPr/>
          <p:nvPr/>
        </p:nvSpPr>
        <p:spPr>
          <a:xfrm>
            <a:off x="914400" y="1828800"/>
            <a:ext cx="10362895" cy="1188720"/>
          </a:xfrm>
          <a:prstGeom prst="rect">
            <a:avLst/>
          </a:prstGeom>
          <a:noFill/>
          <a:ln/>
        </p:spPr>
        <p:txBody>
          <a:bodyPr wrap="square" rtlCol="0" anchor="ctr"/>
          <a:lstStyle/>
          <a:p>
            <a:pPr algn="ctr" indent="0" marL="0">
              <a:buNone/>
            </a:pPr>
            <a:r>
              <a:rPr lang="en-US" sz="5400" b="1" dirty="0">
                <a:solidFill>
                  <a:srgbClr val="1E4D2B"/>
                </a:solidFill>
                <a:latin typeface="Cambria" pitchFamily="34" charset="0"/>
                <a:ea typeface="Cambria" pitchFamily="34" charset="-122"/>
                <a:cs typeface="Cambria" pitchFamily="34" charset="-120"/>
              </a:rPr>
              <a:t>Thank You</a:t>
            </a:r>
            <a:endParaRPr lang="en-US" sz="5400" dirty="0"/>
          </a:p>
        </p:txBody>
      </p:sp>
      <p:sp>
        <p:nvSpPr>
          <p:cNvPr id="4" name="Text 2"/>
          <p:cNvSpPr/>
          <p:nvPr/>
        </p:nvSpPr>
        <p:spPr>
          <a:xfrm>
            <a:off x="914400" y="3017520"/>
            <a:ext cx="10362895" cy="548640"/>
          </a:xfrm>
          <a:prstGeom prst="rect">
            <a:avLst/>
          </a:prstGeom>
          <a:noFill/>
          <a:ln/>
        </p:spPr>
        <p:txBody>
          <a:bodyPr wrap="square" lIns="635" tIns="635" rIns="635" bIns="635" rtlCol="0" anchor="t"/>
          <a:lstStyle/>
          <a:p>
            <a:pPr algn="ctr" indent="0" marL="0">
              <a:buNone/>
            </a:pPr>
            <a:r>
              <a:rPr lang="en-US" sz="2400" i="1" dirty="0">
                <a:solidFill>
                  <a:srgbClr val="E07B30"/>
                </a:solidFill>
                <a:latin typeface="Calibri" pitchFamily="34" charset="0"/>
                <a:ea typeface="Calibri" pitchFamily="34" charset="-122"/>
                <a:cs typeface="Calibri" pitchFamily="34" charset="-120"/>
              </a:rPr>
              <a:t>Questions?</a:t>
            </a:r>
            <a:endParaRPr lang="en-US" sz="2400" dirty="0"/>
          </a:p>
        </p:txBody>
      </p:sp>
      <p:sp>
        <p:nvSpPr>
          <p:cNvPr id="5" name="Text 3"/>
          <p:cNvSpPr/>
          <p:nvPr/>
        </p:nvSpPr>
        <p:spPr>
          <a:xfrm>
            <a:off x="914400" y="4206240"/>
            <a:ext cx="10362895" cy="411480"/>
          </a:xfrm>
          <a:prstGeom prst="rect">
            <a:avLst/>
          </a:prstGeom>
          <a:noFill/>
          <a:ln/>
        </p:spPr>
        <p:txBody>
          <a:bodyPr wrap="square" lIns="635" tIns="635" rIns="635" bIns="635" rtlCol="0" anchor="t"/>
          <a:lstStyle/>
          <a:p>
            <a:pPr algn="ctr" indent="0" marL="0">
              <a:buNone/>
            </a:pPr>
            <a:r>
              <a:rPr lang="en-US" sz="1500" dirty="0">
                <a:solidFill>
                  <a:srgbClr val="6B6B6B"/>
                </a:solidFill>
                <a:latin typeface="Calibri" pitchFamily="34" charset="0"/>
                <a:ea typeface="Calibri" pitchFamily="34" charset="-122"/>
                <a:cs typeface="Calibri" pitchFamily="34" charset="-120"/>
              </a:rPr>
              <a:t>Code, raw results and methodology:  CSE_402_Project/  (main.py · results/ · docs/)</a:t>
            </a:r>
            <a:endParaRPr lang="en-US" sz="1500" dirty="0"/>
          </a:p>
        </p:txBody>
      </p:sp>
      <p:sp>
        <p:nvSpPr>
          <p:cNvPr id="6" name="Text 4"/>
          <p:cNvSpPr/>
          <p:nvPr/>
        </p:nvSpPr>
        <p:spPr>
          <a:xfrm>
            <a:off x="914400" y="4663440"/>
            <a:ext cx="10362895" cy="411480"/>
          </a:xfrm>
          <a:prstGeom prst="rect">
            <a:avLst/>
          </a:prstGeom>
          <a:noFill/>
          <a:ln/>
        </p:spPr>
        <p:txBody>
          <a:bodyPr wrap="square" lIns="635" tIns="635" rIns="635" bIns="635" rtlCol="0" anchor="t"/>
          <a:lstStyle/>
          <a:p>
            <a:pPr algn="ctr" indent="0" marL="0">
              <a:buNone/>
            </a:pPr>
            <a:r>
              <a:rPr lang="en-US" sz="1500" dirty="0">
                <a:solidFill>
                  <a:srgbClr val="2E7D4F"/>
                </a:solidFill>
                <a:latin typeface="Calibri" pitchFamily="34" charset="0"/>
                <a:ea typeface="Calibri" pitchFamily="34" charset="-122"/>
                <a:cs typeface="Calibri" pitchFamily="34" charset="-120"/>
              </a:rPr>
              <a:t>Group 1B1 · CSE402 Section B1</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Switching Strategies for the Trisection–False Position Hybrid</dc:title>
  <dc:subject>PptxGenJS Presentation</dc:subject>
  <dc:creator>Group 1B1</dc:creator>
  <cp:lastModifiedBy>Group 1B1</cp:lastModifiedBy>
  <cp:revision>1</cp:revision>
  <dcterms:created xsi:type="dcterms:W3CDTF">2026-09-27T08:00:30Z</dcterms:created>
  <dcterms:modified xsi:type="dcterms:W3CDTF">2026-09-27T08:00:30Z</dcterms:modified>
</cp:coreProperties>
</file>