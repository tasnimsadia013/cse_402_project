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Iterations</c:v>
                </c:pt>
              </c:strCache>
            </c:strRef>
          </c:tx>
          <c:spPr>
            <a:solidFill>
              <a:srgbClr val="8FB08C"/>
            </a:solidFill>
            <a:effectLst/>
          </c:spPr>
          <c:invertIfNegative val="0"/>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Static BF</c:v>
                  </c:pt>
                  <c:pt idx="1">
                    <c:v>Static TF</c:v>
                  </c:pt>
                  <c:pt idx="2">
                    <c:v>Adaptive threshold</c:v>
                  </c:pt>
                  <c:pt idx="3">
                    <c:v>Cost-aware</c:v>
                  </c:pt>
                  <c:pt idx="4">
                    <c:v>Stagnation-aware</c:v>
                  </c:pt>
                </c:lvl>
              </c:multiLvlStrCache>
            </c:multiLvlStrRef>
          </c:cat>
          <c:val>
            <c:numRef>
              <c:f>Sheet1!$B$2:$B$6</c:f>
              <c:numCache>
                <c:formatCode>General</c:formatCode>
                <c:ptCount val="5"/>
                <c:pt idx="0">
                  <c:v>122</c:v>
                </c:pt>
                <c:pt idx="1">
                  <c:v>99</c:v>
                </c:pt>
                <c:pt idx="2">
                  <c:v>382</c:v>
                </c:pt>
                <c:pt idx="3">
                  <c:v>245</c:v>
                </c:pt>
                <c:pt idx="4">
                  <c:v>222</c:v>
                </c:pt>
              </c:numCache>
            </c:numRef>
          </c:val>
        </c:ser>
        <c:ser>
          <c:idx val="1"/>
          <c:order val="1"/>
          <c:tx>
            <c:strRef>
              <c:f>Sheet1!$C$1</c:f>
              <c:strCache>
                <c:ptCount val="1"/>
                <c:pt idx="0">
                  <c:v>Function evaluations</c:v>
                </c:pt>
              </c:strCache>
            </c:strRef>
          </c:tx>
          <c:spPr>
            <a:solidFill>
              <a:srgbClr val="1E4D2B"/>
            </a:solidFill>
            <a:effectLst/>
          </c:spPr>
          <c:invertIfNegative val="0"/>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Static BF</c:v>
                  </c:pt>
                  <c:pt idx="1">
                    <c:v>Static TF</c:v>
                  </c:pt>
                  <c:pt idx="2">
                    <c:v>Adaptive threshold</c:v>
                  </c:pt>
                  <c:pt idx="3">
                    <c:v>Cost-aware</c:v>
                  </c:pt>
                  <c:pt idx="4">
                    <c:v>Stagnation-aware</c:v>
                  </c:pt>
                </c:lvl>
              </c:multiLvlStrCache>
            </c:multiLvlStrRef>
          </c:cat>
          <c:val>
            <c:numRef>
              <c:f>Sheet1!$C$2:$C$6</c:f>
              <c:numCache>
                <c:formatCode>General</c:formatCode>
                <c:ptCount val="5"/>
                <c:pt idx="0">
                  <c:v>273</c:v>
                </c:pt>
                <c:pt idx="1">
                  <c:v>325</c:v>
                </c:pt>
                <c:pt idx="2">
                  <c:v>458</c:v>
                </c:pt>
                <c:pt idx="3">
                  <c:v>367</c:v>
                </c:pt>
                <c:pt idx="4">
                  <c:v>300</c:v>
                </c:pt>
              </c:numCache>
            </c:numRef>
          </c:val>
        </c:ser>
        <c:dLbls>
          <c:numFmt formatCode="#,##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500"/>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100"/>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Wins</c:v>
                </c:pt>
              </c:strCache>
            </c:strRef>
          </c:tx>
          <c:spPr>
            <a:solidFill>
              <a:srgbClr val="1E4D2B"/>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Sheet1!$B$2:$B$7</c:f>
              <c:numCache>
                <c:formatCode>General</c:formatCode>
                <c:ptCount val="6"/>
                <c:pt idx="0">
                  <c:v>6</c:v>
                </c:pt>
                <c:pt idx="1">
                  <c:v>8</c:v>
                </c:pt>
                <c:pt idx="2">
                  <c:v>11</c:v>
                </c:pt>
                <c:pt idx="3">
                  <c:v>5</c:v>
                </c:pt>
                <c:pt idx="4">
                  <c:v>7</c:v>
                </c:pt>
                <c:pt idx="5">
                  <c:v>4</c:v>
                </c:pt>
              </c:numCache>
            </c:numRef>
          </c:val>
        </c:ser>
        <c:ser>
          <c:idx val="1"/>
          <c:order val="1"/>
          <c:tx>
            <c:strRef>
              <c:f>Sheet1!$C$1</c:f>
              <c:strCache>
                <c:ptCount val="1"/>
                <c:pt idx="0">
                  <c:v>Ties</c:v>
                </c:pt>
              </c:strCache>
            </c:strRef>
          </c:tx>
          <c:spPr>
            <a:solidFill>
              <a:srgbClr val="C5CEC6"/>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Sheet1!$C$2:$C$7</c:f>
              <c:numCache>
                <c:formatCode>General</c:formatCode>
                <c:ptCount val="6"/>
                <c:pt idx="0">
                  <c:v>0</c:v>
                </c:pt>
                <c:pt idx="1">
                  <c:v>2</c:v>
                </c:pt>
                <c:pt idx="2">
                  <c:v>0</c:v>
                </c:pt>
                <c:pt idx="3">
                  <c:v>1</c:v>
                </c:pt>
                <c:pt idx="4">
                  <c:v>0</c:v>
                </c:pt>
                <c:pt idx="5">
                  <c:v>3</c:v>
                </c:pt>
              </c:numCache>
            </c:numRef>
          </c:val>
        </c:ser>
        <c:ser>
          <c:idx val="2"/>
          <c:order val="2"/>
          <c:tx>
            <c:strRef>
              <c:f>Sheet1!$D$1</c:f>
              <c:strCache>
                <c:ptCount val="1"/>
                <c:pt idx="0">
                  <c:v>Losses</c:v>
                </c:pt>
              </c:strCache>
            </c:strRef>
          </c:tx>
          <c:spPr>
            <a:solidFill>
              <a:srgbClr val="EDB27F"/>
            </a:solidFill>
            <a:effectLst/>
          </c:spPr>
          <c:invertIfNegative val="0"/>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Threshold vs TF</c:v>
                  </c:pt>
                  <c:pt idx="1">
                    <c:v>Cost-aware vs TF</c:v>
                  </c:pt>
                  <c:pt idx="2">
                    <c:v>Stagnation vs TF</c:v>
                  </c:pt>
                  <c:pt idx="3">
                    <c:v>Threshold vs BF</c:v>
                  </c:pt>
                  <c:pt idx="4">
                    <c:v>Cost-aware vs BF</c:v>
                  </c:pt>
                  <c:pt idx="5">
                    <c:v>Stagnation vs BF</c:v>
                  </c:pt>
                </c:lvl>
              </c:multiLvlStrCache>
            </c:multiLvlStrRef>
          </c:cat>
          <c:val>
            <c:numRef>
              <c:f>Sheet1!$D$2:$D$7</c:f>
              <c:numCache>
                <c:formatCode>General</c:formatCode>
                <c:ptCount val="6"/>
                <c:pt idx="0">
                  <c:v>9</c:v>
                </c:pt>
                <c:pt idx="1">
                  <c:v>5</c:v>
                </c:pt>
                <c:pt idx="2">
                  <c:v>4</c:v>
                </c:pt>
                <c:pt idx="3">
                  <c:v>9</c:v>
                </c:pt>
                <c:pt idx="4">
                  <c:v>8</c:v>
                </c:pt>
                <c:pt idx="5">
                  <c:v>8</c:v>
                </c:pt>
              </c:numCache>
            </c:numRef>
          </c:val>
        </c:ser>
        <c:dLbls>
          <c:numFmt formatCode="0;;;" sourceLinked="0"/>
          <c:txPr>
            <a:bodyPr/>
            <a:lstStyle/>
            <a:p>
              <a:pPr>
                <a:defRPr b="1" i="0" strike="noStrike" sz="1100" u="none">
                  <a:solidFill>
                    <a:srgbClr val="FFFFFF"/>
                  </a:solidFill>
                  <a:latin typeface="Calibri"/>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3"/>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False position</c:v>
                </c:pt>
              </c:strCache>
            </c:strRef>
          </c:tx>
          <c:spPr>
            <a:solidFill>
              <a:srgbClr val="9AA39C"/>
            </a:solidFill>
            <a:ln w="28575" cap="flat">
              <a:solidFill>
                <a:srgbClr val="9AA39C"/>
              </a:solidFill>
              <a:prstDash val="solid"/>
              <a:round/>
            </a:ln>
            <a:effectLst/>
          </c:spPr>
          <c:marker>
            <c:symbol val="none"/>
            <c:size val="6"/>
            <c:spPr>
              <a:solidFill>
                <a:srgbClr val="9AA39C"/>
              </a:solidFill>
              <a:ln w="9525" cap="flat">
                <a:solidFill>
                  <a:srgbClr val="9AA39C"/>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Sheet1!$B$2:$B$140</c:f>
              <c:numCache>
                <c:formatCode>General</c:formatCode>
                <c:ptCount val="139"/>
                <c:pt idx="0">
                  <c:v>0.999999999944397</c:v>
                </c:pt>
                <c:pt idx="1">
                  <c:v>0.9999999606489614</c:v>
                </c:pt>
                <c:pt idx="2">
                  <c:v>0.9999984242890871</c:v>
                </c:pt>
                <c:pt idx="3">
                  <c:v>0.9999804783168278</c:v>
                </c:pt>
                <c:pt idx="4">
                  <c:v>0.9998725611267628</c:v>
                </c:pt>
                <c:pt idx="5">
                  <c:v>0.9994443742553902</c:v>
                </c:pt>
                <c:pt idx="6">
                  <c:v>0.9981643946878376</c:v>
                </c:pt>
                <c:pt idx="7">
                  <c:v>0.9950473126645737</c:v>
                </c:pt>
                <c:pt idx="8">
                  <c:v>0.9885526729636763</c:v>
                </c:pt>
                <c:pt idx="9">
                  <c:v>0.9766004191471247</c:v>
                </c:pt>
                <c:pt idx="10">
                  <c:v>0.9567601928628637</c:v>
                </c:pt>
                <c:pt idx="11">
                  <c:v>0.9266391839731297</c:v>
                </c:pt>
                <c:pt idx="12">
                  <c:v>0.8844281611989574</c:v>
                </c:pt>
                <c:pt idx="13">
                  <c:v>0.8294755812174888</c:v>
                </c:pt>
                <c:pt idx="14">
                  <c:v>0.7626892065261137</c:v>
                </c:pt>
                <c:pt idx="15">
                  <c:v>0.6865769768806154</c:v>
                </c:pt>
                <c:pt idx="16">
                  <c:v>0.6048624190575769</c:v>
                </c:pt>
                <c:pt idx="17">
                  <c:v>0.5217907713760506</c:v>
                </c:pt>
                <c:pt idx="18">
                  <c:v>0.4413694527586435</c:v>
                </c:pt>
                <c:pt idx="19">
                  <c:v>0.36678348780213643</c:v>
                </c:pt>
                <c:pt idx="20">
                  <c:v>0.30011259685187863</c:v>
                </c:pt>
                <c:pt idx="21">
                  <c:v>0.2423384998655852</c:v>
                </c:pt>
                <c:pt idx="22">
                  <c:v>0.19354379619863749</c:v>
                </c:pt>
                <c:pt idx="23">
                  <c:v>0.15318685702739976</c:v>
                </c:pt>
                <c:pt idx="24">
                  <c:v>0.12036631163188338</c:v>
                </c:pt>
                <c:pt idx="25">
                  <c:v>0.09403052581830862</c:v>
                </c:pt>
                <c:pt idx="26">
                  <c:v>0.07312090020934237</c:v>
                </c:pt>
                <c:pt idx="27">
                  <c:v>0.05665676904413952</c:v>
                </c:pt>
                <c:pt idx="28">
                  <c:v>0.04377670750476059</c:v>
                </c:pt>
                <c:pt idx="29">
                  <c:v>0.033751066539275065</c:v>
                </c:pt>
                <c:pt idx="30">
                  <c:v>0.025977591945575362</c:v>
                </c:pt>
                <c:pt idx="31">
                  <c:v>0.019968448332891908</c:v>
                </c:pt>
                <c:pt idx="32">
                  <c:v>0.015333936372914136</c:v>
                </c:pt>
                <c:pt idx="33">
                  <c:v>0.01176596356876669</c:v>
                </c:pt>
                <c:pt idx="34">
                  <c:v>0.009022846040969257</c:v>
                </c:pt>
                <c:pt idx="35">
                  <c:v>0.006916106747527295</c:v>
                </c:pt>
                <c:pt idx="36">
                  <c:v>0.005299415909278626</c:v>
                </c:pt>
                <c:pt idx="37">
                  <c:v>0.004059550188526884</c:v>
                </c:pt>
                <c:pt idx="38">
                  <c:v>0.0031091280496271523</c:v>
                </c:pt>
                <c:pt idx="39">
                  <c:v>0.002380844046641406</c:v>
                </c:pt>
                <c:pt idx="40">
                  <c:v>0.001822933938669058</c:v>
                </c:pt>
                <c:pt idx="41">
                  <c:v>0.0013956316672085745</c:v>
                </c:pt>
                <c:pt idx="42">
                  <c:v>0.0010684150480534393</c:v>
                </c:pt>
                <c:pt idx="43">
                  <c:v>0.0008178726197951569</c:v>
                </c:pt>
                <c:pt idx="44">
                  <c:v>0.0006260562356555921</c:v>
                </c:pt>
                <c:pt idx="45">
                  <c:v>0.0004792115142581155</c:v>
                </c:pt>
                <c:pt idx="46">
                  <c:v>0.0003668010727694293</c:v>
                </c:pt>
                <c:pt idx="47">
                  <c:v>0.0002807539512025281</c:v>
                </c:pt>
                <c:pt idx="48">
                  <c:v>0.00021488939229896697</c:v>
                </c:pt>
                <c:pt idx="49">
                  <c:v>0.0001644747930740209</c:v>
                </c:pt>
                <c:pt idx="50">
                  <c:v>0.00012588677259350867</c:v>
                </c:pt>
                <c:pt idx="51">
                  <c:v>0.00009635141111519196</c:v>
                </c:pt>
                <c:pt idx="52">
                  <c:v>0.00007374523072178896</c:v>
                </c:pt>
                <c:pt idx="53">
                  <c:v>0.000056442751225294074</c:v>
                </c:pt>
                <c:pt idx="54">
                  <c:v>0.00004319974351185696</c:v>
                </c:pt>
                <c:pt idx="55">
                  <c:v>0.000033063833936974873</c:v>
                </c:pt>
                <c:pt idx="56">
                  <c:v>0.0000253060595675203</c:v>
                </c:pt>
                <c:pt idx="57">
                  <c:v>0.00001936846860217667</c:v>
                </c:pt>
                <c:pt idx="58">
                  <c:v>0.000014824007140368245</c:v>
                </c:pt>
                <c:pt idx="59">
                  <c:v>0.000011345812986118808</c:v>
                </c:pt>
                <c:pt idx="60">
                  <c:v>0.000008683711298473895</c:v>
                </c:pt>
                <c:pt idx="61">
                  <c:v>0.000006646223485784475</c:v>
                </c:pt>
                <c:pt idx="62">
                  <c:v>0.000005086796442954622</c:v>
                </c:pt>
                <c:pt idx="63">
                  <c:v>0.000003893262307319567</c:v>
                </c:pt>
                <c:pt idx="64">
                  <c:v>0.0000029797709756307356</c:v>
                </c:pt>
                <c:pt idx="65">
                  <c:v>0.0000022806153363585935</c:v>
                </c:pt>
                <c:pt idx="66">
                  <c:v>0.0000017455051938286559</c:v>
                </c:pt>
                <c:pt idx="67">
                  <c:v>0.0000013359500223852905</c:v>
                </c:pt>
                <c:pt idx="68">
                  <c:v>0.0000010224904214428676</c:v>
                </c:pt>
                <c:pt idx="69">
                  <c:v>7.825791301652174e-7</c:v>
                </c:pt>
                <c:pt idx="70">
                  <c:v>5.989592262167776e-7</c:v>
                </c:pt>
                <c:pt idx="71">
                  <c:v>4.584228350257291e-7</c:v>
                </c:pt>
                <c:pt idx="72">
                  <c:v>3.5086109695381396e-7</c:v>
                </c:pt>
                <c:pt idx="73">
                  <c:v>2.6853703016804786e-7</c:v>
                </c:pt>
                <c:pt idx="74">
                  <c:v>2.0552901480730412e-7</c:v>
                </c:pt>
                <c:pt idx="75">
                  <c:v>1.573048435954405e-7</c:v>
                </c:pt>
                <c:pt idx="76">
                  <c:v>1.203957190609728e-7</c:v>
                </c:pt>
                <c:pt idx="77">
                  <c:v>9.21467442349666e-8</c:v>
                </c:pt>
                <c:pt idx="78">
                  <c:v>7.05259495248356e-8</c:v>
                </c:pt>
                <c:pt idx="79">
                  <c:v>5.397813729324241e-8</c:v>
                </c:pt>
                <c:pt idx="80">
                  <c:v>4.1313010012977713e-8</c:v>
                </c:pt>
                <c:pt idx="81">
                  <c:v>3.1619556528639237e-8</c:v>
                </c:pt>
                <c:pt idx="82">
                  <c:v>2.4200520254424873e-8</c:v>
                </c:pt>
                <c:pt idx="83">
                  <c:v>1.852224584819595e-8</c:v>
                </c:pt>
                <c:pt idx="84">
                  <c:v>1.4176290030754046e-8</c:v>
                </c:pt>
                <c:pt idx="85">
                  <c:v>1.085004530665401e-8</c:v>
                </c:pt>
                <c:pt idx="86">
                  <c:v>8.304251730706369e-9</c:v>
                </c:pt>
                <c:pt idx="87">
                  <c:v>6.355788118028727e-9</c:v>
                </c:pt>
                <c:pt idx="88">
                  <c:v>4.8645010242154285e-9</c:v>
                </c:pt>
                <c:pt idx="89">
                  <c:v>3.723121810850216e-9</c:v>
                </c:pt>
                <c:pt idx="90">
                  <c:v>2.8495494852620595e-9</c:v>
                </c:pt>
                <c:pt idx="91">
                  <c:v>2.1809465344801993e-9</c:v>
                </c:pt>
                <c:pt idx="92">
                  <c:v>1.6692214277469475e-9</c:v>
                </c:pt>
                <c:pt idx="93">
                  <c:v>1.2775647206808571e-9</c:v>
                </c:pt>
                <c:pt idx="94">
                  <c:v>9.778033938090402e-10</c:v>
                </c:pt>
                <c:pt idx="95">
                  <c:v>7.483769159932763e-10</c:v>
                </c:pt>
                <c:pt idx="96">
                  <c:v>5.727818219725123e-10</c:v>
                </c:pt>
                <c:pt idx="97">
                  <c:v>4.383871043955878e-10</c:v>
                </c:pt>
                <c:pt idx="98">
                  <c:v>3.355260513870917e-10</c:v>
                </c:pt>
                <c:pt idx="99">
                  <c:v>2.5680013671092183e-10</c:v>
                </c:pt>
                <c:pt idx="100">
                  <c:v>1.9654611271846534e-10</c:v>
                </c:pt>
                <c:pt idx="101">
                  <c:v>1.5042966872158559e-10</c:v>
                </c:pt>
                <c:pt idx="102">
                  <c:v>1.1513456854572723e-10</c:v>
                </c:pt>
                <c:pt idx="103">
                  <c:v>8.81195116875233e-11</c:v>
                </c:pt>
                <c:pt idx="104">
                  <c:v>6.744382829992901e-11</c:v>
                </c:pt>
                <c:pt idx="105">
                  <c:v>5.1619819529946653e-11</c:v>
                </c:pt>
                <c:pt idx="106">
                  <c:v>3.9507286331286195e-11</c:v>
                </c:pt>
                <c:pt idx="107">
                  <c:v>3.0238034298690764e-11</c:v>
                </c:pt>
                <c:pt idx="108">
                  <c:v>2.3143709171336013e-11</c:v>
                </c:pt>
                <c:pt idx="109">
                  <c:v>1.7713608357894373e-11</c:v>
                </c:pt>
                <c:pt idx="110">
                  <c:v>1.3558043576722412e-11</c:v>
                </c:pt>
                <c:pt idx="111">
                  <c:v>1.0376144388146713e-11</c:v>
                </c:pt>
                <c:pt idx="112">
                  <c:v>7.941425295143745e-12</c:v>
                </c:pt>
                <c:pt idx="113">
                  <c:v>6.077360836798107e-12</c:v>
                </c:pt>
                <c:pt idx="114">
                  <c:v>4.650724250154781e-12</c:v>
                </c:pt>
                <c:pt idx="115">
                  <c:v>3.559375016948252e-12</c:v>
                </c:pt>
                <c:pt idx="116">
                  <c:v>2.723377079405509e-12</c:v>
                </c:pt>
                <c:pt idx="117">
                  <c:v>2.084998840246044e-12</c:v>
                </c:pt>
                <c:pt idx="118">
                  <c:v>1.5965007094109751e-12</c:v>
                </c:pt>
                <c:pt idx="119">
                  <c:v>1.2223555501122974e-12</c:v>
                </c:pt>
                <c:pt idx="120">
                  <c:v>9.35918009759007e-13</c:v>
                </c:pt>
                <c:pt idx="121">
                  <c:v>7.16093850883226e-13</c:v>
                </c:pt>
                <c:pt idx="122">
                  <c:v>5.473399511402022e-13</c:v>
                </c:pt>
                <c:pt idx="123">
                  <c:v>4.1966430330830917e-13</c:v>
                </c:pt>
                <c:pt idx="124">
                  <c:v>3.219646771412954e-13</c:v>
                </c:pt>
                <c:pt idx="125">
                  <c:v>2.4646951146678475e-13</c:v>
                </c:pt>
                <c:pt idx="126">
                  <c:v>1.887379141862766e-13</c:v>
                </c:pt>
                <c:pt idx="127">
                  <c:v>1.4432899320127035e-13</c:v>
                </c:pt>
                <c:pt idx="128">
                  <c:v>1.1102230246251565e-13</c:v>
                </c:pt>
                <c:pt idx="129">
                  <c:v>8.43769498715119e-14</c:v>
                </c:pt>
                <c:pt idx="130">
                  <c:v>6.439293542825908e-14</c:v>
                </c:pt>
                <c:pt idx="131">
                  <c:v>4.884981308350689e-14</c:v>
                </c:pt>
                <c:pt idx="132">
                  <c:v>3.6637359812630166e-14</c:v>
                </c:pt>
                <c:pt idx="133">
                  <c:v>2.7755575615628914e-14</c:v>
                </c:pt>
                <c:pt idx="134">
                  <c:v>2.220446049250313e-14</c:v>
                </c:pt>
                <c:pt idx="135">
                  <c:v>1.7763568394002505e-14</c:v>
                </c:pt>
                <c:pt idx="136">
                  <c:v>1.4432899320127035e-14</c:v>
                </c:pt>
                <c:pt idx="137">
                  <c:v>1.1102230246251565e-14</c:v>
                </c:pt>
                <c:pt idx="138">
                  <c:v>8.881784197001252e-15</c:v>
                </c:pt>
              </c:numCache>
            </c:numRef>
          </c:yVal>
          <c:smooth val="0"/>
        </c:ser>
        <c:ser>
          <c:idx val="1"/>
          <c:order val="1"/>
          <c:tx>
            <c:strRef>
              <c:f>Sheet1!$C$1</c:f>
              <c:strCache>
                <c:ptCount val="1"/>
                <c:pt idx="0">
                  <c:v>Static TF</c:v>
                </c:pt>
              </c:strCache>
            </c:strRef>
          </c:tx>
          <c:spPr>
            <a:solidFill>
              <a:srgbClr val="1E4D2B"/>
            </a:solidFill>
            <a:ln w="28575" cap="flat">
              <a:solidFill>
                <a:srgbClr val="1E4D2B"/>
              </a:solidFill>
              <a:prstDash val="solid"/>
              <a:round/>
            </a:ln>
            <a:effectLst/>
          </c:spPr>
          <c:marker>
            <c:symbol val="none"/>
            <c:size val="6"/>
            <c:spPr>
              <a:solidFill>
                <a:srgbClr val="1E4D2B"/>
              </a:solidFill>
              <a:ln w="9525" cap="flat">
                <a:solidFill>
                  <a:srgbClr val="1E4D2B"/>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Sheet1!$C$2:$C$140</c:f>
              <c:numCache>
                <c:formatCode>General</c:formatCode>
                <c:ptCount val="139"/>
                <c:pt idx="0">
                  <c:v/>
                </c:pt>
                <c:pt idx="1">
                  <c:v/>
                </c:pt>
                <c:pt idx="2">
                  <c:v>0.7609322839449</c:v>
                </c:pt>
                <c:pt idx="3">
                  <c:v/>
                </c:pt>
                <c:pt idx="4">
                  <c:v/>
                </c:pt>
                <c:pt idx="5">
                  <c:v>0.11683451952585266</c:v>
                </c:pt>
                <c:pt idx="6">
                  <c:v/>
                </c:pt>
                <c:pt idx="7">
                  <c:v/>
                </c:pt>
                <c:pt idx="8">
                  <c:v>0.06216008942079043</c:v>
                </c:pt>
                <c:pt idx="9">
                  <c:v/>
                </c:pt>
                <c:pt idx="10">
                  <c:v/>
                </c:pt>
                <c:pt idx="11">
                  <c:v>0.0031647927695368505</c:v>
                </c:pt>
                <c:pt idx="12">
                  <c:v/>
                </c:pt>
                <c:pt idx="13">
                  <c:v/>
                </c:pt>
                <c:pt idx="14">
                  <c:v>0.00007454673378815002</c:v>
                </c:pt>
                <c:pt idx="15">
                  <c:v/>
                </c:pt>
                <c:pt idx="16">
                  <c:v/>
                </c:pt>
                <c:pt idx="17">
                  <c:v>5.175323085637729e-7</c:v>
                </c:pt>
                <c:pt idx="18">
                  <c:v/>
                </c:pt>
                <c:pt idx="19">
                  <c:v/>
                </c:pt>
                <c:pt idx="20">
                  <c:v>1.1882972383858714e-9</c:v>
                </c:pt>
                <c:pt idx="21">
                  <c:v/>
                </c:pt>
                <c:pt idx="22">
                  <c:v/>
                </c:pt>
                <c:pt idx="23">
                  <c:v>9.092726571680032e-13</c:v>
                </c:pt>
                <c:pt idx="24">
                  <c:v/>
                </c:pt>
                <c:pt idx="25">
                  <c:v/>
                </c:pt>
                <c:pt idx="26">
                  <c:v>1e-18</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2"/>
          <c:order val="2"/>
          <c:tx>
            <c:strRef>
              <c:f>Sheet1!$D$1</c:f>
              <c:strCache>
                <c:ptCount val="1"/>
                <c:pt idx="0">
                  <c:v>Adaptive threshold</c:v>
                </c:pt>
              </c:strCache>
            </c:strRef>
          </c:tx>
          <c:spPr>
            <a:solidFill>
              <a:srgbClr val="7FAF78"/>
            </a:solidFill>
            <a:ln w="28575" cap="flat">
              <a:solidFill>
                <a:srgbClr val="7FAF78"/>
              </a:solidFill>
              <a:prstDash val="solid"/>
              <a:round/>
            </a:ln>
            <a:effectLst/>
          </c:spPr>
          <c:marker>
            <c:symbol val="none"/>
            <c:size val="6"/>
            <c:spPr>
              <a:solidFill>
                <a:srgbClr val="7FAF78"/>
              </a:solidFill>
              <a:ln w="9525" cap="flat">
                <a:solidFill>
                  <a:srgbClr val="7FAF78"/>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Sheet1!$D$2:$D$140</c:f>
              <c:numCache>
                <c:formatCode>General</c:formatCode>
                <c:ptCount val="139"/>
                <c:pt idx="0">
                  <c:v>0.999999999944397</c:v>
                </c:pt>
                <c:pt idx="1">
                  <c:v>0.9999999606489614</c:v>
                </c:pt>
                <c:pt idx="2">
                  <c:v>0.9999984242890871</c:v>
                </c:pt>
                <c:pt idx="3">
                  <c:v>0.9999804783168278</c:v>
                </c:pt>
                <c:pt idx="4">
                  <c:v>0.9998725611267628</c:v>
                </c:pt>
                <c:pt idx="5">
                  <c:v>0.9994443742553902</c:v>
                </c:pt>
                <c:pt idx="6">
                  <c:v>0.9981643946878376</c:v>
                </c:pt>
                <c:pt idx="7">
                  <c:v>0.9950473126645737</c:v>
                </c:pt>
                <c:pt idx="8">
                  <c:v>0.9885526729636763</c:v>
                </c:pt>
                <c:pt idx="9">
                  <c:v>0.9766004191471247</c:v>
                </c:pt>
                <c:pt idx="10">
                  <c:v>0.9567601928628637</c:v>
                </c:pt>
                <c:pt idx="11">
                  <c:v>0.9266391839731297</c:v>
                </c:pt>
                <c:pt idx="12">
                  <c:v>0.8844281611989574</c:v>
                </c:pt>
                <c:pt idx="13">
                  <c:v>0.8294755812174888</c:v>
                </c:pt>
                <c:pt idx="14">
                  <c:v>0.7626892065261137</c:v>
                </c:pt>
                <c:pt idx="15">
                  <c:v>0.6865769768806154</c:v>
                </c:pt>
                <c:pt idx="16">
                  <c:v>0.6048624190575769</c:v>
                </c:pt>
                <c:pt idx="17">
                  <c:v>0.5217907713760506</c:v>
                </c:pt>
                <c:pt idx="18">
                  <c:v>0.4413694527586435</c:v>
                </c:pt>
                <c:pt idx="19">
                  <c:v>0.36678348780213643</c:v>
                </c:pt>
                <c:pt idx="20">
                  <c:v>0.30011259685187863</c:v>
                </c:pt>
                <c:pt idx="21">
                  <c:v>0.2423384998655852</c:v>
                </c:pt>
                <c:pt idx="22">
                  <c:v>0.19354379619863749</c:v>
                </c:pt>
                <c:pt idx="23">
                  <c:v>0.15318685702739976</c:v>
                </c:pt>
                <c:pt idx="24">
                  <c:v>0.12036631163188338</c:v>
                </c:pt>
                <c:pt idx="25">
                  <c:v>0.09403052581830862</c:v>
                </c:pt>
                <c:pt idx="26">
                  <c:v>0.07312090020934237</c:v>
                </c:pt>
                <c:pt idx="27">
                  <c:v>0.05665676904413952</c:v>
                </c:pt>
                <c:pt idx="28">
                  <c:v>0.04377670750476059</c:v>
                </c:pt>
                <c:pt idx="29">
                  <c:v>0.033751066539275065</c:v>
                </c:pt>
                <c:pt idx="30">
                  <c:v>0.025977591945575362</c:v>
                </c:pt>
                <c:pt idx="31">
                  <c:v>0.019968448332891908</c:v>
                </c:pt>
                <c:pt idx="32">
                  <c:v>0.015333936372914136</c:v>
                </c:pt>
                <c:pt idx="33">
                  <c:v>0.01176596356876669</c:v>
                </c:pt>
                <c:pt idx="34">
                  <c:v>0.009022846040969257</c:v>
                </c:pt>
                <c:pt idx="35">
                  <c:v>0.006916106747527295</c:v>
                </c:pt>
                <c:pt idx="36">
                  <c:v>0.005299415909278626</c:v>
                </c:pt>
                <c:pt idx="37">
                  <c:v>0.004059550188526884</c:v>
                </c:pt>
                <c:pt idx="38">
                  <c:v>0.0031091280496271523</c:v>
                </c:pt>
                <c:pt idx="39">
                  <c:v>0.002380844046641406</c:v>
                </c:pt>
                <c:pt idx="40">
                  <c:v>0.001822933938669058</c:v>
                </c:pt>
                <c:pt idx="41">
                  <c:v>0.0013956316672085745</c:v>
                </c:pt>
                <c:pt idx="42">
                  <c:v>0.0010684150480534393</c:v>
                </c:pt>
                <c:pt idx="43">
                  <c:v>0.0008178726197951569</c:v>
                </c:pt>
                <c:pt idx="44">
                  <c:v>0.0006260562356555921</c:v>
                </c:pt>
                <c:pt idx="45">
                  <c:v>0.0004792115142581155</c:v>
                </c:pt>
                <c:pt idx="46">
                  <c:v>0.0003668010727694293</c:v>
                </c:pt>
                <c:pt idx="47">
                  <c:v>0.0002807539512025281</c:v>
                </c:pt>
                <c:pt idx="48">
                  <c:v>0.00021488939229896697</c:v>
                </c:pt>
                <c:pt idx="49">
                  <c:v>0.0001644747930740209</c:v>
                </c:pt>
                <c:pt idx="50">
                  <c:v>0.00012588677259350867</c:v>
                </c:pt>
                <c:pt idx="51">
                  <c:v>0.00009635141111519196</c:v>
                </c:pt>
                <c:pt idx="52">
                  <c:v>0.00007374523072178896</c:v>
                </c:pt>
                <c:pt idx="53">
                  <c:v>0.000056442751225294074</c:v>
                </c:pt>
                <c:pt idx="54">
                  <c:v>0.00004319974351185696</c:v>
                </c:pt>
                <c:pt idx="55">
                  <c:v>0.000033063833936974873</c:v>
                </c:pt>
                <c:pt idx="56">
                  <c:v>0.0000253060595675203</c:v>
                </c:pt>
                <c:pt idx="57">
                  <c:v>0.00001936846860217667</c:v>
                </c:pt>
                <c:pt idx="58">
                  <c:v>0.000014824007140368245</c:v>
                </c:pt>
                <c:pt idx="59">
                  <c:v>0.000011345812986118808</c:v>
                </c:pt>
                <c:pt idx="60">
                  <c:v>0.000008683711298473895</c:v>
                </c:pt>
                <c:pt idx="61">
                  <c:v>0.000006646223485784475</c:v>
                </c:pt>
                <c:pt idx="62">
                  <c:v>0.000005086796442954622</c:v>
                </c:pt>
                <c:pt idx="63">
                  <c:v>0.000003893262307319567</c:v>
                </c:pt>
                <c:pt idx="64">
                  <c:v>0.0000029797709756307356</c:v>
                </c:pt>
                <c:pt idx="65">
                  <c:v>0.0000022806153363585935</c:v>
                </c:pt>
                <c:pt idx="66">
                  <c:v>0.0000017455051938286559</c:v>
                </c:pt>
                <c:pt idx="67">
                  <c:v>0.0000013359500223852905</c:v>
                </c:pt>
                <c:pt idx="68">
                  <c:v>0.0000010224904214428676</c:v>
                </c:pt>
                <c:pt idx="69">
                  <c:v>7.825791301652174e-7</c:v>
                </c:pt>
                <c:pt idx="70">
                  <c:v>5.989592262167776e-7</c:v>
                </c:pt>
                <c:pt idx="71">
                  <c:v>4.584228350257291e-7</c:v>
                </c:pt>
                <c:pt idx="72">
                  <c:v>3.5086109695381396e-7</c:v>
                </c:pt>
                <c:pt idx="73">
                  <c:v>2.6853703016804786e-7</c:v>
                </c:pt>
                <c:pt idx="74">
                  <c:v>2.0552901480730412e-7</c:v>
                </c:pt>
                <c:pt idx="75">
                  <c:v>1.573048435954405e-7</c:v>
                </c:pt>
                <c:pt idx="76">
                  <c:v>1.203957190609728e-7</c:v>
                </c:pt>
                <c:pt idx="77">
                  <c:v>9.21467442349666e-8</c:v>
                </c:pt>
                <c:pt idx="78">
                  <c:v>7.05259495248356e-8</c:v>
                </c:pt>
                <c:pt idx="79">
                  <c:v/>
                </c:pt>
                <c:pt idx="80">
                  <c:v/>
                </c:pt>
                <c:pt idx="81">
                  <c:v>1.5937423492356677</c:v>
                </c:pt>
                <c:pt idx="82">
                  <c:v>2.0109341747343024e-8</c:v>
                </c:pt>
                <c:pt idx="83">
                  <c:v>7.491655074076675e-9</c:v>
                </c:pt>
                <c:pt idx="84">
                  <c:v>2.790986330936107e-9</c:v>
                </c:pt>
                <c:pt idx="85">
                  <c:v/>
                </c:pt>
                <c:pt idx="86">
                  <c:v/>
                </c:pt>
                <c:pt idx="87">
                  <c:v>0.38804767747760893</c:v>
                </c:pt>
                <c:pt idx="88">
                  <c:v>1.4660717084780117e-10</c:v>
                </c:pt>
                <c:pt idx="89">
                  <c:v>2.067124249549579e-11</c:v>
                </c:pt>
                <c:pt idx="90">
                  <c:v>2.914335439641036e-12</c:v>
                </c:pt>
                <c:pt idx="91">
                  <c:v/>
                </c:pt>
                <c:pt idx="92">
                  <c:v/>
                </c:pt>
                <c:pt idx="93">
                  <c:v>0.11683451306824777</c:v>
                </c:pt>
                <c:pt idx="94">
                  <c:v>1.9984014443252818e-14</c:v>
                </c:pt>
                <c:pt idx="95">
                  <c:v>1.1102230246251565e-15</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3"/>
          <c:order val="3"/>
          <c:tx>
            <c:strRef>
              <c:f>Sheet1!$E$1</c:f>
              <c:strCache>
                <c:ptCount val="1"/>
                <c:pt idx="0">
                  <c:v>Cost-aware</c:v>
                </c:pt>
              </c:strCache>
            </c:strRef>
          </c:tx>
          <c:spPr>
            <a:solidFill>
              <a:srgbClr val="E9A15F"/>
            </a:solidFill>
            <a:ln w="28575" cap="flat">
              <a:solidFill>
                <a:srgbClr val="E9A15F"/>
              </a:solidFill>
              <a:prstDash val="solid"/>
              <a:round/>
            </a:ln>
            <a:effectLst/>
          </c:spPr>
          <c:marker>
            <c:symbol val="none"/>
            <c:size val="6"/>
            <c:spPr>
              <a:solidFill>
                <a:srgbClr val="E9A15F"/>
              </a:solidFill>
              <a:ln w="9525" cap="flat">
                <a:solidFill>
                  <a:srgbClr val="E9A15F"/>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Sheet1!$E$2:$E$140</c:f>
              <c:numCache>
                <c:formatCode>General</c:formatCode>
                <c:ptCount val="139"/>
                <c:pt idx="0">
                  <c:v>0.999999999944397</c:v>
                </c:pt>
                <c:pt idx="1">
                  <c:v/>
                </c:pt>
                <c:pt idx="2">
                  <c:v>0.6586135247103253</c:v>
                </c:pt>
                <c:pt idx="3">
                  <c:v/>
                </c:pt>
                <c:pt idx="4">
                  <c:v>0.3711252777581211</c:v>
                </c:pt>
                <c:pt idx="5">
                  <c:v/>
                </c:pt>
                <c:pt idx="6">
                  <c:v>0.11899243446285035</c:v>
                </c:pt>
                <c:pt idx="7">
                  <c:v/>
                </c:pt>
                <c:pt idx="8">
                  <c:v>0.02320068584806667</c:v>
                </c:pt>
                <c:pt idx="9">
                  <c:v/>
                </c:pt>
                <c:pt idx="10">
                  <c:v>0.02633787066956339</c:v>
                </c:pt>
                <c:pt idx="11">
                  <c:v/>
                </c:pt>
                <c:pt idx="12">
                  <c:v>0.006441459443071951</c:v>
                </c:pt>
                <c:pt idx="13">
                  <c:v/>
                </c:pt>
                <c:pt idx="14">
                  <c:v>0.0009102028778271709</c:v>
                </c:pt>
                <c:pt idx="15">
                  <c:v/>
                </c:pt>
                <c:pt idx="16">
                  <c:v>0.0009274602090308948</c:v>
                </c:pt>
                <c:pt idx="17">
                  <c:v/>
                </c:pt>
                <c:pt idx="18">
                  <c:v>0.0002973107844086442</c:v>
                </c:pt>
                <c:pt idx="19">
                  <c:v/>
                </c:pt>
                <c:pt idx="20">
                  <c:v>0.00009308849173117473</c:v>
                </c:pt>
                <c:pt idx="21">
                  <c:v/>
                </c:pt>
                <c:pt idx="22">
                  <c:v>0.000025022733514568074</c:v>
                </c:pt>
                <c:pt idx="23">
                  <c:v/>
                </c:pt>
                <c:pt idx="24">
                  <c:v>0.0000023350739630778605</c:v>
                </c:pt>
                <c:pt idx="25">
                  <c:v/>
                </c:pt>
                <c:pt idx="26">
                  <c:v>0.0000052273762766175125</c:v>
                </c:pt>
                <c:pt idx="27">
                  <c:v/>
                </c:pt>
                <c:pt idx="28">
                  <c:v>1.8574850324526437e-7</c:v>
                </c:pt>
                <c:pt idx="29">
                  <c:v/>
                </c:pt>
                <c:pt idx="30">
                  <c:v>6.545250181844153e-7</c:v>
                </c:pt>
                <c:pt idx="31">
                  <c:v/>
                </c:pt>
                <c:pt idx="32">
                  <c:v>9.43425999544445e-8</c:v>
                </c:pt>
                <c:pt idx="33">
                  <c:v/>
                </c:pt>
                <c:pt idx="34">
                  <c:v>9.788903021501483e-10</c:v>
                </c:pt>
                <c:pt idx="35">
                  <c:v/>
                </c:pt>
                <c:pt idx="36">
                  <c:v>3.014234373210911e-8</c:v>
                </c:pt>
                <c:pt idx="37">
                  <c:v/>
                </c:pt>
                <c:pt idx="38">
                  <c:v>9.394853783817325e-9</c:v>
                </c:pt>
                <c:pt idx="39">
                  <c:v/>
                </c:pt>
                <c:pt idx="40">
                  <c:v>2.4790236530236598e-9</c:v>
                </c:pt>
                <c:pt idx="41">
                  <c:v>1e-18</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ser>
          <c:idx val="4"/>
          <c:order val="4"/>
          <c:tx>
            <c:strRef>
              <c:f>Sheet1!$F$1</c:f>
              <c:strCache>
                <c:ptCount val="1"/>
                <c:pt idx="0">
                  <c:v>Stagnation-aware</c:v>
                </c:pt>
              </c:strCache>
            </c:strRef>
          </c:tx>
          <c:spPr>
            <a:solidFill>
              <a:srgbClr val="E07B30"/>
            </a:solidFill>
            <a:ln w="28575" cap="flat">
              <a:solidFill>
                <a:srgbClr val="E07B30"/>
              </a:solidFill>
              <a:prstDash val="solid"/>
              <a:round/>
            </a:ln>
            <a:effectLst/>
          </c:spPr>
          <c:marker>
            <c:symbol val="none"/>
            <c:size val="6"/>
            <c:spPr>
              <a:solidFill>
                <a:srgbClr val="E07B30"/>
              </a:solidFill>
              <a:ln w="9525" cap="flat">
                <a:solidFill>
                  <a:srgbClr val="E07B30"/>
                </a:solidFill>
                <a:prstDash val="solid"/>
                <a:round/>
              </a:ln>
              <a:effectLst/>
            </c:spPr>
          </c:marker>
          <c:xVal>
            <c:numRef>
              <c:f>Sheet1!$A$2:$A$140</c:f>
              <c:numCache>
                <c:formatCode>General</c:formatCode>
                <c:ptCount val="139"/>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numCache>
            </c:numRef>
          </c:xVal>
          <c:yVal>
            <c:numRef>
              <c:f>Sheet1!$F$2:$F$140</c:f>
              <c:numCache>
                <c:formatCode>General</c:formatCode>
                <c:ptCount val="139"/>
                <c:pt idx="0">
                  <c:v>0.999999999944397</c:v>
                </c:pt>
                <c:pt idx="1">
                  <c:v>0.9999999606489614</c:v>
                </c:pt>
                <c:pt idx="2">
                  <c:v>0.9999984242890871</c:v>
                </c:pt>
                <c:pt idx="3">
                  <c:v/>
                </c:pt>
                <c:pt idx="4">
                  <c:v>0.3736604791112086</c:v>
                </c:pt>
                <c:pt idx="5">
                  <c:v/>
                </c:pt>
                <c:pt idx="6">
                  <c:v>0.9584829472735121</c:v>
                </c:pt>
                <c:pt idx="7">
                  <c:v>0.12607255459915967</c:v>
                </c:pt>
                <c:pt idx="8">
                  <c:v>0.03684742544155917</c:v>
                </c:pt>
                <c:pt idx="9">
                  <c:v>0.010298444094906545</c:v>
                </c:pt>
                <c:pt idx="10">
                  <c:v/>
                </c:pt>
                <c:pt idx="11">
                  <c:v>0.24903346203496768</c:v>
                </c:pt>
                <c:pt idx="12">
                  <c:v>0.0010056050559017482</c:v>
                </c:pt>
                <c:pt idx="13">
                  <c:v>0.00009766634806762653</c:v>
                </c:pt>
                <c:pt idx="14">
                  <c:v>0.000009480579810872136</c:v>
                </c:pt>
                <c:pt idx="15">
                  <c:v/>
                </c:pt>
                <c:pt idx="16">
                  <c:v>0.07752618475029127</c:v>
                </c:pt>
                <c:pt idx="17">
                  <c:v>3.1536997868730765e-7</c:v>
                </c:pt>
                <c:pt idx="18">
                  <c:v>1.0490672774920995e-8</c:v>
                </c:pt>
                <c:pt idx="19">
                  <c:v>3.489686317692531e-10</c:v>
                </c:pt>
                <c:pt idx="20">
                  <c:v/>
                </c:pt>
                <c:pt idx="21">
                  <c:v>0.025265168453328934</c:v>
                </c:pt>
                <c:pt idx="22">
                  <c:v>3.9046543776066756e-12</c:v>
                </c:pt>
                <c:pt idx="23">
                  <c:v>4.3298697960381105e-14</c:v>
                </c:pt>
                <c:pt idx="24">
                  <c:v>1e-18</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numCache>
            </c:numRef>
          </c:yVal>
          <c:smooth val="0"/>
        </c:ser>
        <c:dLbls>
          <c:numFmt formatCode="General"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ax val="150"/>
          <c:min val="0"/>
        </c:scaling>
        <c:delete val="0"/>
        <c:axPos val="b"/>
        <c:title>
          <c:tx>
            <c:rich>
              <a:bodyPr/>
              <a:lstStyle/>
              <a:p>
                <a:pPr>
                  <a:defRPr sz="1200" b="0" i="0" u="none" strike="noStrike">
                    <a:solidFill>
                      <a:srgbClr val="6B6B6B"/>
                    </a:solidFill>
                    <a:latin typeface="Arial"/>
                  </a:defRPr>
                </a:pPr>
                <a:r>
                  <a:rPr sz="1200" b="0" i="0" u="none" strike="noStrike">
                    <a:solidFill>
                      <a:srgbClr val="6B6B6B"/>
                    </a:solidFill>
                    <a:latin typeface="Arial"/>
                  </a:rPr>
                  <a:t>Cumulative function evaluations</a:t>
                </a:r>
              </a:p>
            </c:rich>
          </c:tx>
          <c:layout/>
          <c:overlay val="0"/>
        </c:title>
        <c:numFmt formatCode="0E+0" sourceLinked="1"/>
        <c:majorTickMark val="none"/>
        <c:minorTickMark val="none"/>
        <c:tickLblPos val="nextTo"/>
        <c:spPr>
          <a:ln w="12700" cap="flat">
            <a:solidFill>
              <a:srgbClr val="9AA39C"/>
            </a:solidFill>
            <a:prstDash val="solid"/>
            <a:round/>
          </a:ln>
        </c:spPr>
        <c:txPr>
          <a:bodyPr/>
          <a:lstStyle/>
          <a:p>
            <a:pPr>
              <a:defRPr sz="1100" b="0" i="0" u="none" strike="noStrike">
                <a:solidFill>
                  <a:srgbClr val="333333"/>
                </a:solidFill>
                <a:latin typeface="Calibri"/>
              </a:defRPr>
            </a:pPr>
            <a:endParaRPr lang="en-US"/>
          </a:p>
        </c:txPr>
        <c:crossAx val="2094734552"/>
        <c:crossesAt val="1e-18"/>
        <c:auto val="1"/>
        <c:lblAlgn val="ctr"/>
        <c:noMultiLvlLbl val="1"/>
        <c:majorUnit val="25"/>
      </c:valAx>
      <c:valAx>
        <c:axId val="2094734552"/>
        <c:scaling>
          <c:logBase val="10"/>
          <c:orientation val="minMax"/>
          <c:max val="10"/>
          <c:min val="1e-18"/>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Selected residual |f(x)|  (0 shown as 1e-18)</a:t>
                </a:r>
              </a:p>
            </c:rich>
          </c:tx>
          <c:layout/>
          <c:overlay val="0"/>
        </c:title>
        <c:numFmt formatCode="0E+0" sourceLinked="0"/>
        <c:majorTickMark val="none"/>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midCat"/>
      </c:valAx>
      <c:spPr>
        <a:noFill/>
        <a:ln>
          <a:noFill/>
        </a:ln>
        <a:effectLst/>
      </c:spPr>
    </c:plotArea>
    <c:legend>
      <c:legendPos val="t"/>
      <c:overlay val="0"/>
      <c:txPr>
        <a:bodyPr/>
        <a:lstStyle/>
        <a:p>
          <a:pPr>
            <a:defRPr sz="1100">
              <a:solidFill>
                <a:srgbClr val="3333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Static BF</c:v>
                </c:pt>
              </c:strCache>
            </c:strRef>
          </c:tx>
          <c:spPr>
            <a:solidFill>
              <a:srgbClr val="8C9A90"/>
            </a:solidFill>
            <a:ln w="31750" cap="flat">
              <a:solidFill>
                <a:srgbClr val="8C9A9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8C9A90"/>
              </a:solidFill>
              <a:ln w="9525" cap="flat">
                <a:solidFill>
                  <a:srgbClr val="8C9A90"/>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Sheet1!$B$2:$B$4</c:f>
              <c:numCache>
                <c:formatCode>General</c:formatCode>
                <c:ptCount val="3"/>
                <c:pt idx="0">
                  <c:v>196</c:v>
                </c:pt>
                <c:pt idx="1">
                  <c:v>238</c:v>
                </c:pt>
                <c:pt idx="2">
                  <c:v>273</c:v>
                </c:pt>
              </c:numCache>
            </c:numRef>
          </c:val>
          <c:smooth val="0"/>
        </c:ser>
        <c:ser>
          <c:idx val="1"/>
          <c:order val="1"/>
          <c:tx>
            <c:strRef>
              <c:f>Sheet1!$C$1</c:f>
              <c:strCache>
                <c:ptCount val="1"/>
                <c:pt idx="0">
                  <c:v>Static TF</c:v>
                </c:pt>
              </c:strCache>
            </c:strRef>
          </c:tx>
          <c:spPr>
            <a:solidFill>
              <a:srgbClr val="1E4D2B"/>
            </a:solidFill>
            <a:ln w="31750" cap="flat">
              <a:solidFill>
                <a:srgbClr val="1E4D2B"/>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1E4D2B"/>
              </a:solidFill>
              <a:ln w="9525" cap="flat">
                <a:solidFill>
                  <a:srgbClr val="1E4D2B"/>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Sheet1!$C$2:$C$4</c:f>
              <c:numCache>
                <c:formatCode>General</c:formatCode>
                <c:ptCount val="3"/>
                <c:pt idx="0">
                  <c:v>229</c:v>
                </c:pt>
                <c:pt idx="1">
                  <c:v>280</c:v>
                </c:pt>
                <c:pt idx="2">
                  <c:v>325</c:v>
                </c:pt>
              </c:numCache>
            </c:numRef>
          </c:val>
          <c:smooth val="0"/>
        </c:ser>
        <c:ser>
          <c:idx val="2"/>
          <c:order val="2"/>
          <c:tx>
            <c:strRef>
              <c:f>Sheet1!$D$1</c:f>
              <c:strCache>
                <c:ptCount val="1"/>
                <c:pt idx="0">
                  <c:v>Adaptive threshold</c:v>
                </c:pt>
              </c:strCache>
            </c:strRef>
          </c:tx>
          <c:spPr>
            <a:solidFill>
              <a:srgbClr val="7FAF78"/>
            </a:solidFill>
            <a:ln w="31750" cap="flat">
              <a:solidFill>
                <a:srgbClr val="7FAF78"/>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7FAF78"/>
              </a:solidFill>
              <a:ln w="9525" cap="flat">
                <a:solidFill>
                  <a:srgbClr val="7FAF78"/>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Sheet1!$D$2:$D$4</c:f>
              <c:numCache>
                <c:formatCode>General</c:formatCode>
                <c:ptCount val="3"/>
                <c:pt idx="0">
                  <c:v>265</c:v>
                </c:pt>
                <c:pt idx="1">
                  <c:v>383</c:v>
                </c:pt>
                <c:pt idx="2">
                  <c:v>458</c:v>
                </c:pt>
              </c:numCache>
            </c:numRef>
          </c:val>
          <c:smooth val="0"/>
        </c:ser>
        <c:ser>
          <c:idx val="3"/>
          <c:order val="3"/>
          <c:tx>
            <c:strRef>
              <c:f>Sheet1!$E$1</c:f>
              <c:strCache>
                <c:ptCount val="1"/>
                <c:pt idx="0">
                  <c:v>Cost-aware</c:v>
                </c:pt>
              </c:strCache>
            </c:strRef>
          </c:tx>
          <c:spPr>
            <a:solidFill>
              <a:srgbClr val="E9A15F"/>
            </a:solidFill>
            <a:ln w="31750" cap="flat">
              <a:solidFill>
                <a:srgbClr val="E9A15F"/>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E9A15F"/>
              </a:solidFill>
              <a:ln w="9525" cap="flat">
                <a:solidFill>
                  <a:srgbClr val="E9A15F"/>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Sheet1!$E$2:$E$4</c:f>
              <c:numCache>
                <c:formatCode>General</c:formatCode>
                <c:ptCount val="3"/>
                <c:pt idx="0">
                  <c:v>219</c:v>
                </c:pt>
                <c:pt idx="1">
                  <c:v>303</c:v>
                </c:pt>
                <c:pt idx="2">
                  <c:v>367</c:v>
                </c:pt>
              </c:numCache>
            </c:numRef>
          </c:val>
          <c:smooth val="0"/>
        </c:ser>
        <c:ser>
          <c:idx val="4"/>
          <c:order val="4"/>
          <c:tx>
            <c:strRef>
              <c:f>Sheet1!$F$1</c:f>
              <c:strCache>
                <c:ptCount val="1"/>
                <c:pt idx="0">
                  <c:v>Stagnation-aware</c:v>
                </c:pt>
              </c:strCache>
            </c:strRef>
          </c:tx>
          <c:spPr>
            <a:solidFill>
              <a:srgbClr val="E07B30"/>
            </a:solidFill>
            <a:ln w="31750" cap="flat">
              <a:solidFill>
                <a:srgbClr val="E07B30"/>
              </a:solidFill>
              <a:prstDash val="solid"/>
              <a:round/>
            </a:ln>
            <a:effectLst/>
          </c:spPr>
          <c:invertIfNegative val="0"/>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c:symbol val="circle"/>
            <c:size val="8"/>
            <c:spPr>
              <a:solidFill>
                <a:srgbClr val="E07B30"/>
              </a:solidFill>
              <a:ln w="9525" cap="flat">
                <a:solidFill>
                  <a:srgbClr val="E07B30"/>
                </a:solidFill>
                <a:prstDash val="solid"/>
                <a:round/>
              </a:ln>
              <a:effectLst/>
            </c:spPr>
          </c:marker>
          <c:cat>
            <c:multiLvlStrRef>
              <c:f>Sheet1!$A$2:$A$4</c:f>
              <c:multiLvlStrCache>
                <c:ptCount val="3"/>
                <c:lvl>
                  <c:pt idx="0">
                    <c:v>ε = 10⁻⁶</c:v>
                  </c:pt>
                  <c:pt idx="1">
                    <c:v>ε = 10⁻¹⁰</c:v>
                  </c:pt>
                  <c:pt idx="2">
                    <c:v>ε = 10⁻¹⁴</c:v>
                  </c:pt>
                </c:lvl>
              </c:multiLvlStrCache>
            </c:multiLvlStrRef>
          </c:cat>
          <c:val>
            <c:numRef>
              <c:f>Sheet1!$F$2:$F$4</c:f>
              <c:numCache>
                <c:formatCode>General</c:formatCode>
                <c:ptCount val="3"/>
                <c:pt idx="0">
                  <c:v>189</c:v>
                </c:pt>
                <c:pt idx="1">
                  <c:v>253</c:v>
                </c:pt>
                <c:pt idx="2">
                  <c:v>300</c:v>
                </c:pt>
              </c:numCache>
            </c:numRef>
          </c:val>
          <c:smooth val="0"/>
        </c:ser>
        <c:dLbls>
          <c:numFmt formatCode="#,##0" sourceLinked="0"/>
          <c:txPr>
            <a:bodyPr/>
            <a:lstStyle/>
            <a:p>
              <a:pPr>
                <a:defRPr b="0" i="0" strike="noStrike" sz="1100" u="none">
                  <a:solidFill>
                    <a:srgbClr val="333333"/>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500"/>
          <c:min val="150"/>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Total function evaluations (15 equations)</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wall time (µs)</c:v>
                </c:pt>
              </c:strCache>
            </c:strRef>
          </c:tx>
          <c:spPr>
            <a:solidFill>
              <a:srgbClr val="D9DED9"/>
            </a:solidFill>
            <a:effectLst/>
          </c:spPr>
          <c:invertIfNegative val="0"/>
          <c:dLbls>
            <c:numFmt formatCode="0.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dPt>
            <c:idx val="0"/>
            <c:invertIfNegative val="0"/>
            <c:bubble3D val="0"/>
            <c:spPr>
              <a:solidFill>
                <a:srgbClr val="D9DED9"/>
              </a:solidFill>
              <a:effectLst/>
            </c:spPr>
          </c:dPt>
          <c:dPt>
            <c:idx val="1"/>
            <c:invertIfNegative val="0"/>
            <c:bubble3D val="0"/>
            <c:spPr>
              <a:solidFill>
                <a:srgbClr val="D9DED9"/>
              </a:solidFill>
              <a:effectLst/>
            </c:spPr>
          </c:dPt>
          <c:dPt>
            <c:idx val="2"/>
            <c:invertIfNegative val="0"/>
            <c:bubble3D val="0"/>
            <c:spPr>
              <a:solidFill>
                <a:srgbClr val="1E4D2B"/>
              </a:solidFill>
              <a:effectLst/>
            </c:spPr>
          </c:dPt>
          <c:dPt>
            <c:idx val="3"/>
            <c:invertIfNegative val="0"/>
            <c:bubble3D val="0"/>
            <c:spPr>
              <a:solidFill>
                <a:srgbClr val="8C9A90"/>
              </a:solidFill>
              <a:effectLst/>
            </c:spPr>
          </c:dPt>
          <c:dPt>
            <c:idx val="4"/>
            <c:invertIfNegative val="0"/>
            <c:bubble3D val="0"/>
            <c:spPr>
              <a:solidFill>
                <a:srgbClr val="E07B30"/>
              </a:solidFill>
              <a:effectLst/>
            </c:spPr>
          </c:dPt>
          <c:dPt>
            <c:idx val="5"/>
            <c:invertIfNegative val="0"/>
            <c:bubble3D val="0"/>
            <c:spPr>
              <a:solidFill>
                <a:srgbClr val="E9A15F"/>
              </a:solidFill>
              <a:effectLst/>
            </c:spPr>
          </c:dPt>
          <c:dPt>
            <c:idx val="6"/>
            <c:invertIfNegative val="0"/>
            <c:bubble3D val="0"/>
            <c:spPr>
              <a:solidFill>
                <a:srgbClr val="7FAF78"/>
              </a:solidFill>
              <a:effectLst/>
            </c:spPr>
          </c:dPt>
          <c:dPt>
            <c:idx val="7"/>
            <c:invertIfNegative val="0"/>
            <c:bubble3D val="0"/>
            <c:spPr>
              <a:solidFill>
                <a:srgbClr val="9AA39C"/>
              </a:solidFill>
              <a:effectLst/>
            </c:spPr>
          </c:dPt>
          <c:dPt>
            <c:idx val="8"/>
            <c:invertIfNegative val="0"/>
            <c:bubble3D val="0"/>
            <c:spPr>
              <a:solidFill>
                <a:srgbClr val="9AA39C"/>
              </a:solidFill>
              <a:effectLst/>
            </c:spPr>
          </c:dPt>
          <c:dPt>
            <c:idx val="9"/>
            <c:invertIfNegative val="0"/>
            <c:bubble3D val="0"/>
            <c:spPr>
              <a:solidFill>
                <a:srgbClr val="9AA39C"/>
              </a:solidFill>
              <a:effectLst/>
            </c:spPr>
          </c:dPt>
          <c:cat>
            <c:multiLvlStrRef>
              <c:f>Sheet1!$A$2:$A$11</c:f>
              <c:multiLvlStrCache>
                <c:ptCount val="10"/>
                <c:lvl>
                  <c:pt idx="0">
                    <c:v>Newton</c:v>
                  </c:pt>
                  <c:pt idx="1">
                    <c:v>Secant</c:v>
                  </c:pt>
                  <c:pt idx="2">
                    <c:v>Static TF</c:v>
                  </c:pt>
                  <c:pt idx="3">
                    <c:v>Static BF</c:v>
                  </c:pt>
                  <c:pt idx="4">
                    <c:v>Stagnation-aware</c:v>
                  </c:pt>
                  <c:pt idx="5">
                    <c:v>Cost-aware</c:v>
                  </c:pt>
                  <c:pt idx="6">
                    <c:v>Adaptive threshold</c:v>
                  </c:pt>
                  <c:pt idx="7">
                    <c:v>Trisection</c:v>
                  </c:pt>
                  <c:pt idx="8">
                    <c:v>False position</c:v>
                  </c:pt>
                  <c:pt idx="9">
                    <c:v>Bisection</c:v>
                  </c:pt>
                </c:lvl>
              </c:multiLvlStrCache>
            </c:multiLvlStrRef>
          </c:cat>
          <c:val>
            <c:numRef>
              <c:f>Sheet1!$B$2:$B$11</c:f>
              <c:numCache>
                <c:formatCode>General</c:formatCode>
                <c:ptCount val="10"/>
                <c:pt idx="0">
                  <c:v>9.98</c:v>
                </c:pt>
                <c:pt idx="1">
                  <c:v>10.42</c:v>
                </c:pt>
                <c:pt idx="2">
                  <c:v>56.33</c:v>
                </c:pt>
                <c:pt idx="3">
                  <c:v>59.49</c:v>
                </c:pt>
                <c:pt idx="4">
                  <c:v>81.28</c:v>
                </c:pt>
                <c:pt idx="5">
                  <c:v>110.77</c:v>
                </c:pt>
                <c:pt idx="6">
                  <c:v>136.58</c:v>
                </c:pt>
                <c:pt idx="7">
                  <c:v>155.52</c:v>
                </c:pt>
                <c:pt idx="8">
                  <c:v>159.62</c:v>
                </c:pt>
                <c:pt idx="9">
                  <c:v>219.57</c:v>
                </c:pt>
              </c:numCache>
            </c:numRef>
          </c:val>
        </c:ser>
        <c:dLbls>
          <c:numFmt formatCode="0.0" sourceLinked="0"/>
          <c:txPr>
            <a:bodyPr/>
            <a:lstStyle/>
            <a:p>
              <a:pPr>
                <a:defRPr b="0" i="0" strike="noStrike" sz="1100" u="none">
                  <a:solidFill>
                    <a:srgbClr val="333333"/>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9AA39C"/>
            </a:solidFill>
            <a:prstDash val="solid"/>
            <a:round/>
          </a:ln>
        </c:spPr>
        <c:txPr>
          <a:bodyPr/>
          <a:lstStyle/>
          <a:p>
            <a:pPr>
              <a:defRPr sz="1200" b="0" i="0" u="none" strike="noStrike">
                <a:solidFill>
                  <a:srgbClr val="333333"/>
                </a:solidFill>
                <a:latin typeface="Calibri"/>
              </a:defRPr>
            </a:pPr>
            <a:endParaRPr lang="en-US"/>
          </a:p>
        </c:txPr>
        <c:crossAx val="2094734552"/>
        <c:crosses val="autoZero"/>
        <c:auto val="1"/>
        <c:lblAlgn val="ctr"/>
        <c:noMultiLvlLbl val="1"/>
      </c:catAx>
      <c:valAx>
        <c:axId val="2094734552"/>
        <c:scaling>
          <c:orientation val="minMax"/>
          <c:max val="25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we took the static trisection–false position hybrid from Badr et al. (2021) and tested whether replacing its fixed selection rule with an adaptive one saves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 audience of the proposal. The base paper counts iterations, but a TF iteration costs up to three function evaluations. Our question is whether an adaptive rule saves real work, and which of three signals works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eight bracketed methods run through the same engine; they differ only in the selector that decides which candidates to evaluate. Function values are cached, every distinct evaluation is counted, and the only stopping rule is |f(x)| ≤ 1e-14. Newton and secant stay classical so the baselines are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policy: what it measures, how it decides, and what one step costs. For cost-aware, the proposal did not define an estimator for 'expected efficiency', so we used a rolling mean of the last three observed efficiencies for each method. None of the parameters were tuned per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problem–method pairs. Function evaluations are our main cost measure because they don't depend on the machine; timing is reported too but mostly reflects Python overhead. Reference roots come from an independent 80-digit bisection, so accuracy is checked separately from the residual stopping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BF and TF totals are 122 and 99 against the paper's 121 and 98. 28 of the 30 per-problem counts match exactly; only P3 is off by one for both methods. That gives us confidence the shared engine reproduces the published algorithms, so the adaptive policies are compared on a faithful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chart. Iterations and function evaluations tell different stories. Static TF wins on iterations, which is what the base paper reported, but Static BF does the least work. Among our three policies, stagnation-aware is the most economical, beating Static TF's total by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Per-equation comparisons. Against Static TF, the proposal's own baseline, stagnation-aware wins 11 of 15 and cost-aware has a median ratio of 0.82. Against Static BF no policy comes out ahead. Note that cost-aware has a good median but a worse total: a few expensive cases (P6, P10) outweigh many small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shows where aggregate totals come from. Adaptive threshold and cost-aware are often cheapest on individual equations, but have large outliers. Stagnation-aware is never catastrophic: its worst case is 27 calls. That robustness is why its total is the best of the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P11 is the textbook failure case for false position. Plain FP needs 141 evaluations because one endpoint never moves. The threshold policy does not detect this: the residual improves by a small, steady ratio, so false position keeps beating the running average. The endpoint counter detects the stall directly and fixes it in 27 calls, slightly fewer than Static TF's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policies solve all 15 equations at every tolerance. The ranking depends on the stopping accuracy: at a loose tolerance the stagnation-aware policy beats both static hybrids, and at tight tolerances Static BF's midpoint steps win. Changing the reuse limit to 2 reduces iterations but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completeness: every bracketed method solves all 15 equations. Newton fails three times because the documented left-endpoint start has a zero derivative, which matches the failures the paper reports, and it once converges outside the interval. The stress cases show limits the paper's equations don't expose, such as a residual floor above 1e-14.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agrees with the call counts in ranking the static hybrids first, but the gap is larger because adaptive policies have bookkeeping overhead in Python. On these microsecond-scale functions, call savings can't show up as time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proposal asked whether adaptivity pays and which signal is right. The signal question has a clear answer: endpoint reuse. Whether adaptivity pays depends on the baseline and the tolerance. It beats the base paper's TF hybrid, but not BF at 1e-14.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The most promising next step follows directly from our results: combine the stagnation signal with the cheaper BF hybrid, and test on functions where each evaluation is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FB08C"/>
        </a:solidFill>
      </p:bgPr>
    </p:bg>
    <p:spTree>
      <p:nvGrpSpPr>
        <p:cNvPr id="1" name=""/>
        <p:cNvGrpSpPr/>
        <p:nvPr/>
      </p:nvGrpSpPr>
      <p:grpSpPr>
        <a:xfrm>
          <a:off x="0" y="0"/>
          <a:ext cx="0" cy="0"/>
          <a:chOff x="0" y="0"/>
          <a:chExt cx="0" cy="0"/>
        </a:xfrm>
      </p:grpSpPr>
      <p:sp>
        <p:nvSpPr>
          <p:cNvPr id="2" name="Shape 0"/>
          <p:cNvSpPr/>
          <p:nvPr/>
        </p:nvSpPr>
        <p:spPr>
          <a:xfrm>
            <a:off x="502920" y="457200"/>
            <a:ext cx="11185855" cy="5943600"/>
          </a:xfrm>
          <a:prstGeom prst="roundRect">
            <a:avLst>
              <a:gd name="adj" fmla="val 1231"/>
            </a:avLst>
          </a:prstGeom>
          <a:solidFill>
            <a:srgbClr val="FFFFFF"/>
          </a:solidFill>
          <a:ln w="12700">
            <a:solidFill>
              <a:srgbClr val="FFFFFF"/>
            </a:solidFill>
            <a:prstDash val="solid"/>
          </a:ln>
        </p:spPr>
      </p:sp>
      <p:sp>
        <p:nvSpPr>
          <p:cNvPr id="3" name="Text 1"/>
          <p:cNvSpPr/>
          <p:nvPr/>
        </p:nvSpPr>
        <p:spPr>
          <a:xfrm>
            <a:off x="914400" y="960120"/>
            <a:ext cx="10362895" cy="365760"/>
          </a:xfrm>
          <a:prstGeom prst="rect">
            <a:avLst/>
          </a:prstGeom>
          <a:noFill/>
          <a:ln/>
        </p:spPr>
        <p:txBody>
          <a:bodyPr wrap="square" lIns="635" tIns="635" rIns="635" bIns="635" rtlCol="0" anchor="t"/>
          <a:lstStyle/>
          <a:p>
            <a:pPr algn="ctr" indent="0" marL="0">
              <a:buNone/>
            </a:pPr>
            <a:r>
              <a:rPr lang="en-US" sz="1500" dirty="0">
                <a:solidFill>
                  <a:srgbClr val="2E7D4F"/>
                </a:solidFill>
                <a:latin typeface="Calibri" pitchFamily="34" charset="0"/>
                <a:ea typeface="Calibri" pitchFamily="34" charset="-122"/>
                <a:cs typeface="Calibri" pitchFamily="34" charset="-120"/>
              </a:rPr>
              <a:t>CSE402 · Numerical Analysis, Simulation and Modeling Sessional · Section B1</a:t>
            </a:r>
            <a:endParaRPr lang="en-US" sz="1500" dirty="0"/>
          </a:p>
        </p:txBody>
      </p:sp>
      <p:sp>
        <p:nvSpPr>
          <p:cNvPr id="4" name="Text 2"/>
          <p:cNvSpPr/>
          <p:nvPr/>
        </p:nvSpPr>
        <p:spPr>
          <a:xfrm>
            <a:off x="914400" y="1463040"/>
            <a:ext cx="10362895" cy="1463040"/>
          </a:xfrm>
          <a:prstGeom prst="rect">
            <a:avLst/>
          </a:prstGeom>
          <a:noFill/>
          <a:ln/>
        </p:spPr>
        <p:txBody>
          <a:bodyPr wrap="square" rtlCol="0" anchor="ctr"/>
          <a:lstStyle/>
          <a:p>
            <a:pPr algn="ctr" indent="0" marL="0">
              <a:buNone/>
            </a:pPr>
            <a:r>
              <a:rPr lang="en-US" sz="4000" b="1" dirty="0">
                <a:solidFill>
                  <a:srgbClr val="1E4D2B"/>
                </a:solidFill>
                <a:latin typeface="Cambria" pitchFamily="34" charset="0"/>
                <a:ea typeface="Cambria" pitchFamily="34" charset="-122"/>
                <a:cs typeface="Cambria" pitchFamily="34" charset="-120"/>
              </a:rPr>
              <a:t>Adaptive Switching Strategies for the</a:t>
            </a:r>
            <a:endParaRPr lang="en-US" sz="4000" dirty="0"/>
          </a:p>
          <a:p>
            <a:pPr algn="ctr" indent="0" marL="0">
              <a:buNone/>
            </a:pPr>
            <a:r>
              <a:rPr lang="en-US" sz="4000" b="1" dirty="0">
                <a:solidFill>
                  <a:srgbClr val="1E4D2B"/>
                </a:solidFill>
                <a:latin typeface="Cambria" pitchFamily="34" charset="0"/>
                <a:ea typeface="Cambria" pitchFamily="34" charset="-122"/>
                <a:cs typeface="Cambria" pitchFamily="34" charset="-120"/>
              </a:rPr>
              <a:t>Trisection–False Position Hybrid</a:t>
            </a:r>
            <a:endParaRPr lang="en-US" sz="4000" dirty="0"/>
          </a:p>
        </p:txBody>
      </p:sp>
      <p:sp>
        <p:nvSpPr>
          <p:cNvPr id="5" name="Text 3"/>
          <p:cNvSpPr/>
          <p:nvPr/>
        </p:nvSpPr>
        <p:spPr>
          <a:xfrm>
            <a:off x="914400" y="3017520"/>
            <a:ext cx="10362895" cy="411480"/>
          </a:xfrm>
          <a:prstGeom prst="rect">
            <a:avLst/>
          </a:prstGeom>
          <a:noFill/>
          <a:ln/>
        </p:spPr>
        <p:txBody>
          <a:bodyPr wrap="square" lIns="635" tIns="635" rIns="635" bIns="635" rtlCol="0" anchor="t"/>
          <a:lstStyle/>
          <a:p>
            <a:pPr algn="ctr" indent="0" marL="0">
              <a:buNone/>
            </a:pPr>
            <a:r>
              <a:rPr lang="en-US" sz="1800" i="1" dirty="0">
                <a:solidFill>
                  <a:srgbClr val="E07B30"/>
                </a:solidFill>
                <a:latin typeface="Calibri" pitchFamily="34" charset="0"/>
                <a:ea typeface="Calibri" pitchFamily="34" charset="-122"/>
                <a:cs typeface="Calibri" pitchFamily="34" charset="-120"/>
              </a:rPr>
              <a:t>Final presentation — implementation, results and what they mean</a:t>
            </a:r>
            <a:endParaRPr lang="en-US" sz="1800" dirty="0"/>
          </a:p>
        </p:txBody>
      </p:sp>
      <p:sp>
        <p:nvSpPr>
          <p:cNvPr id="6" name="Text 4"/>
          <p:cNvSpPr/>
          <p:nvPr/>
        </p:nvSpPr>
        <p:spPr>
          <a:xfrm>
            <a:off x="3200400" y="3794760"/>
            <a:ext cx="5790895" cy="2011680"/>
          </a:xfrm>
          <a:prstGeom prst="rect">
            <a:avLst/>
          </a:prstGeom>
          <a:noFill/>
          <a:ln/>
        </p:spPr>
        <p:txBody>
          <a:bodyPr wrap="square" rtlCol="0" anchor="ctr"/>
          <a:lstStyle/>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2105069 — Sheikh Iftikharun Nisa</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2105071 — Tanzim Tousif</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2105077 — Sadia Tasnim</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2105078 — Mahbuba Sayed Sinthia</a:t>
            </a:r>
            <a:endParaRPr lang="en-US" sz="1600" dirty="0"/>
          </a:p>
          <a:p>
            <a:pPr algn="ctr" indent="0" marL="0">
              <a:spcAft>
                <a:spcPts val="400"/>
              </a:spcAft>
              <a:buNone/>
            </a:pPr>
            <a:r>
              <a:rPr lang="en-US" sz="1600" dirty="0">
                <a:solidFill>
                  <a:srgbClr val="333333"/>
                </a:solidFill>
                <a:latin typeface="Calibri" pitchFamily="34" charset="0"/>
                <a:ea typeface="Calibri" pitchFamily="34" charset="-122"/>
                <a:cs typeface="Calibri" pitchFamily="34" charset="-120"/>
              </a:rPr>
              <a:t>2105084 — Dibya Jyoti Sarker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Recap: Where We Started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proposal in one slide</a:t>
            </a:r>
            <a:endParaRPr lang="en-US" sz="1500" dirty="0"/>
          </a:p>
        </p:txBody>
      </p:sp>
      <p:sp>
        <p:nvSpPr>
          <p:cNvPr id="7" name="Shape 5"/>
          <p:cNvSpPr/>
          <p:nvPr/>
        </p:nvSpPr>
        <p:spPr>
          <a:xfrm>
            <a:off x="548640" y="1463040"/>
            <a:ext cx="5486400" cy="4480560"/>
          </a:xfrm>
          <a:prstGeom prst="roundRect">
            <a:avLst>
              <a:gd name="adj" fmla="val 1633"/>
            </a:avLst>
          </a:prstGeom>
          <a:solidFill>
            <a:srgbClr val="FBEDE2"/>
          </a:solidFill>
          <a:ln w="12700">
            <a:solidFill>
              <a:srgbClr val="E07B30"/>
            </a:solidFill>
            <a:prstDash val="solid"/>
          </a:ln>
        </p:spPr>
      </p:sp>
      <p:sp>
        <p:nvSpPr>
          <p:cNvPr id="8" name="Text 6"/>
          <p:cNvSpPr/>
          <p:nvPr/>
        </p:nvSpPr>
        <p:spPr>
          <a:xfrm>
            <a:off x="822960" y="1645920"/>
            <a:ext cx="4937760" cy="320040"/>
          </a:xfrm>
          <a:prstGeom prst="rect">
            <a:avLst/>
          </a:prstGeom>
          <a:noFill/>
          <a:ln/>
        </p:spPr>
        <p:txBody>
          <a:bodyPr wrap="square" lIns="635" tIns="635" rIns="635" bIns="635" rtlCol="0" anchor="t"/>
          <a:lstStyle/>
          <a:p>
            <a:pPr indent="0" marL="0">
              <a:buNone/>
            </a:pPr>
            <a:r>
              <a:rPr lang="en-US" sz="1200" b="1" spc="200" kern="0" dirty="0">
                <a:solidFill>
                  <a:srgbClr val="E07B30"/>
                </a:solidFill>
                <a:latin typeface="Calibri" pitchFamily="34" charset="0"/>
                <a:ea typeface="Calibri" pitchFamily="34" charset="-122"/>
                <a:cs typeface="Calibri" pitchFamily="34" charset="-120"/>
              </a:rPr>
              <a:t>THE BASE PAPER</a:t>
            </a:r>
            <a:endParaRPr lang="en-US" sz="1200" dirty="0"/>
          </a:p>
        </p:txBody>
      </p:sp>
      <p:sp>
        <p:nvSpPr>
          <p:cNvPr id="9" name="Text 7"/>
          <p:cNvSpPr/>
          <p:nvPr/>
        </p:nvSpPr>
        <p:spPr>
          <a:xfrm>
            <a:off x="822960" y="1938528"/>
            <a:ext cx="4937760" cy="320040"/>
          </a:xfrm>
          <a:prstGeom prst="rect">
            <a:avLst/>
          </a:prstGeom>
          <a:noFill/>
          <a:ln/>
        </p:spPr>
        <p:txBody>
          <a:bodyPr wrap="square" lIns="635" tIns="635" rIns="635" bIns="635" rtlCol="0" anchor="t"/>
          <a:lstStyle/>
          <a:p>
            <a:pPr indent="0" marL="0">
              <a:buNone/>
            </a:pPr>
            <a:r>
              <a:rPr lang="en-US" sz="1300" i="1" dirty="0">
                <a:solidFill>
                  <a:srgbClr val="6B6B6B"/>
                </a:solidFill>
                <a:latin typeface="Calibri" pitchFamily="34" charset="0"/>
                <a:ea typeface="Calibri" pitchFamily="34" charset="-122"/>
                <a:cs typeface="Calibri" pitchFamily="34" charset="-120"/>
              </a:rPr>
              <a:t>Badr, Almotairi &amp; El Ghamry, Mathematics 9 (2021) 1306</a:t>
            </a:r>
            <a:endParaRPr lang="en-US" sz="1300" dirty="0"/>
          </a:p>
        </p:txBody>
      </p:sp>
      <p:sp>
        <p:nvSpPr>
          <p:cNvPr id="10" name="Text 8"/>
          <p:cNvSpPr/>
          <p:nvPr/>
        </p:nvSpPr>
        <p:spPr>
          <a:xfrm>
            <a:off x="822960" y="2377440"/>
            <a:ext cx="4937760" cy="3383280"/>
          </a:xfrm>
          <a:prstGeom prst="rect">
            <a:avLst/>
          </a:prstGeom>
          <a:noFill/>
          <a:ln/>
        </p:spPr>
        <p:txBody>
          <a:bodyPr wrap="square" rtlCol="0" anchor="t"/>
          <a:lstStyle/>
          <a:p>
            <a:pPr indent="0" marL="0">
              <a:buNone/>
            </a:pPr>
            <a:r>
              <a:rPr lang="en-US" sz="1500" b="1" dirty="0">
                <a:solidFill>
                  <a:srgbClr val="333333"/>
                </a:solidFill>
                <a:latin typeface="Calibri" pitchFamily="34" charset="0"/>
                <a:ea typeface="Calibri" pitchFamily="34" charset="-122"/>
                <a:cs typeface="Calibri" pitchFamily="34" charset="-120"/>
              </a:rPr>
              <a:t>Static trisection + false position (TF). </a:t>
            </a:r>
            <a:pPr indent="0" marL="0">
              <a:buNone/>
            </a:pPr>
            <a:r>
              <a:rPr lang="en-US" sz="1500" dirty="0">
                <a:solidFill>
                  <a:srgbClr val="333333"/>
                </a:solidFill>
                <a:latin typeface="Calibri" pitchFamily="34" charset="0"/>
                <a:ea typeface="Calibri" pitchFamily="34" charset="-122"/>
                <a:cs typeface="Calibri" pitchFamily="34" charset="-120"/>
              </a:rPr>
              <a:t>Every step evaluates both trisection points x₁, x₂ and the false-position point x_F, keeps the smallest |f(x)| and narrows the bracket.</a:t>
            </a:r>
            <a:endParaRPr lang="en-US" sz="15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333333"/>
                </a:solidFill>
                <a:latin typeface="Calibri" pitchFamily="34" charset="0"/>
                <a:ea typeface="Calibri" pitchFamily="34" charset="-122"/>
                <a:cs typeface="Calibri" pitchFamily="34" charset="-120"/>
              </a:rPr>
              <a:t>Reported: </a:t>
            </a:r>
            <a:pPr indent="0" marL="0">
              <a:buNone/>
            </a:pPr>
            <a:r>
              <a:rPr lang="en-US" sz="1500" dirty="0">
                <a:solidFill>
                  <a:srgbClr val="333333"/>
                </a:solidFill>
                <a:latin typeface="Calibri" pitchFamily="34" charset="0"/>
                <a:ea typeface="Calibri" pitchFamily="34" charset="-122"/>
                <a:cs typeface="Calibri" pitchFamily="34" charset="-120"/>
              </a:rPr>
              <a:t>98 total iterations vs 121 for the bisection–false position hybrid (BF) on 15 equations.</a:t>
            </a:r>
            <a:endParaRPr lang="en-US" sz="1500" dirty="0"/>
          </a:p>
          <a:p>
            <a:pPr indent="0" marL="0">
              <a:buNone/>
            </a:pPr>
            <a:r>
              <a:rPr lang="en-US" sz="800" dirty="0">
                <a:solidFill>
                  <a:srgbClr val="3333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E07B30"/>
                </a:solidFill>
                <a:latin typeface="Calibri" pitchFamily="34" charset="0"/>
                <a:ea typeface="Calibri" pitchFamily="34" charset="-122"/>
                <a:cs typeface="Calibri" pitchFamily="34" charset="-120"/>
              </a:rPr>
              <a:t>The gap: </a:t>
            </a:r>
            <a:pPr indent="0" marL="0">
              <a:buNone/>
            </a:pPr>
            <a:r>
              <a:rPr lang="en-US" sz="1500" dirty="0">
                <a:solidFill>
                  <a:srgbClr val="333333"/>
                </a:solidFill>
                <a:latin typeface="Calibri" pitchFamily="34" charset="0"/>
                <a:ea typeface="Calibri" pitchFamily="34" charset="-122"/>
                <a:cs typeface="Calibri" pitchFamily="34" charset="-120"/>
              </a:rPr>
              <a:t>iterations were compared, but TF pays up to 3 new function calls per iteration, whatever the function is doing.</a:t>
            </a:r>
            <a:endParaRPr lang="en-US" sz="1500" dirty="0"/>
          </a:p>
        </p:txBody>
      </p:sp>
      <p:sp>
        <p:nvSpPr>
          <p:cNvPr id="11" name="Text 9"/>
          <p:cNvSpPr/>
          <p:nvPr/>
        </p:nvSpPr>
        <p:spPr>
          <a:xfrm>
            <a:off x="822960" y="4846320"/>
            <a:ext cx="493776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WHAT WE MEASURE FOR EVERY METHOD</a:t>
            </a:r>
            <a:endParaRPr lang="en-US" sz="1150" dirty="0"/>
          </a:p>
        </p:txBody>
      </p:sp>
      <p:sp>
        <p:nvSpPr>
          <p:cNvPr id="12" name="Shape 10"/>
          <p:cNvSpPr/>
          <p:nvPr/>
        </p:nvSpPr>
        <p:spPr>
          <a:xfrm>
            <a:off x="822960" y="5212080"/>
            <a:ext cx="1143000" cy="457200"/>
          </a:xfrm>
          <a:prstGeom prst="roundRect">
            <a:avLst>
              <a:gd name="adj" fmla="val 20000"/>
            </a:avLst>
          </a:prstGeom>
          <a:solidFill>
            <a:srgbClr val="FFFFFF"/>
          </a:solidFill>
          <a:ln w="12700">
            <a:solidFill>
              <a:srgbClr val="E07B30"/>
            </a:solidFill>
            <a:prstDash val="solid"/>
          </a:ln>
        </p:spPr>
      </p:sp>
      <p:sp>
        <p:nvSpPr>
          <p:cNvPr id="13" name="Text 11"/>
          <p:cNvSpPr/>
          <p:nvPr/>
        </p:nvSpPr>
        <p:spPr>
          <a:xfrm>
            <a:off x="822960"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Iterations</a:t>
            </a:r>
            <a:endParaRPr lang="en-US" sz="1300" dirty="0"/>
          </a:p>
        </p:txBody>
      </p:sp>
      <p:sp>
        <p:nvSpPr>
          <p:cNvPr id="14" name="Shape 12"/>
          <p:cNvSpPr/>
          <p:nvPr/>
        </p:nvSpPr>
        <p:spPr>
          <a:xfrm>
            <a:off x="2075688" y="5212080"/>
            <a:ext cx="1143000" cy="457200"/>
          </a:xfrm>
          <a:prstGeom prst="roundRect">
            <a:avLst>
              <a:gd name="adj" fmla="val 20000"/>
            </a:avLst>
          </a:prstGeom>
          <a:solidFill>
            <a:srgbClr val="FFFFFF"/>
          </a:solidFill>
          <a:ln w="12700">
            <a:solidFill>
              <a:srgbClr val="E07B30"/>
            </a:solidFill>
            <a:prstDash val="solid"/>
          </a:ln>
        </p:spPr>
      </p:sp>
      <p:sp>
        <p:nvSpPr>
          <p:cNvPr id="15" name="Text 13"/>
          <p:cNvSpPr/>
          <p:nvPr/>
        </p:nvSpPr>
        <p:spPr>
          <a:xfrm>
            <a:off x="2075688"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f calls</a:t>
            </a:r>
            <a:endParaRPr lang="en-US" sz="1300" dirty="0"/>
          </a:p>
        </p:txBody>
      </p:sp>
      <p:sp>
        <p:nvSpPr>
          <p:cNvPr id="16" name="Shape 14"/>
          <p:cNvSpPr/>
          <p:nvPr/>
        </p:nvSpPr>
        <p:spPr>
          <a:xfrm>
            <a:off x="3328416" y="5212080"/>
            <a:ext cx="1143000" cy="457200"/>
          </a:xfrm>
          <a:prstGeom prst="roundRect">
            <a:avLst>
              <a:gd name="adj" fmla="val 20000"/>
            </a:avLst>
          </a:prstGeom>
          <a:solidFill>
            <a:srgbClr val="FFFFFF"/>
          </a:solidFill>
          <a:ln w="12700">
            <a:solidFill>
              <a:srgbClr val="E07B30"/>
            </a:solidFill>
            <a:prstDash val="solid"/>
          </a:ln>
        </p:spPr>
      </p:sp>
      <p:sp>
        <p:nvSpPr>
          <p:cNvPr id="17" name="Text 15"/>
          <p:cNvSpPr/>
          <p:nvPr/>
        </p:nvSpPr>
        <p:spPr>
          <a:xfrm>
            <a:off x="3328416"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Time</a:t>
            </a:r>
            <a:endParaRPr lang="en-US" sz="1300" dirty="0"/>
          </a:p>
        </p:txBody>
      </p:sp>
      <p:sp>
        <p:nvSpPr>
          <p:cNvPr id="18" name="Shape 16"/>
          <p:cNvSpPr/>
          <p:nvPr/>
        </p:nvSpPr>
        <p:spPr>
          <a:xfrm>
            <a:off x="4581144" y="5212080"/>
            <a:ext cx="1143000" cy="457200"/>
          </a:xfrm>
          <a:prstGeom prst="roundRect">
            <a:avLst>
              <a:gd name="adj" fmla="val 20000"/>
            </a:avLst>
          </a:prstGeom>
          <a:solidFill>
            <a:srgbClr val="FFFFFF"/>
          </a:solidFill>
          <a:ln w="12700">
            <a:solidFill>
              <a:srgbClr val="E07B30"/>
            </a:solidFill>
            <a:prstDash val="solid"/>
          </a:ln>
        </p:spPr>
      </p:sp>
      <p:sp>
        <p:nvSpPr>
          <p:cNvPr id="19" name="Text 17"/>
          <p:cNvSpPr/>
          <p:nvPr/>
        </p:nvSpPr>
        <p:spPr>
          <a:xfrm>
            <a:off x="4581144" y="5212080"/>
            <a:ext cx="1143000" cy="457200"/>
          </a:xfrm>
          <a:prstGeom prst="rect">
            <a:avLst/>
          </a:prstGeom>
          <a:noFill/>
          <a:ln/>
        </p:spPr>
        <p:txBody>
          <a:bodyPr wrap="square" rtlCol="0" anchor="ctr"/>
          <a:lstStyle/>
          <a:p>
            <a:pPr algn="ctr" indent="0" marL="0">
              <a:buNone/>
            </a:pPr>
            <a:r>
              <a:rPr lang="en-US" sz="1300" b="1" dirty="0">
                <a:solidFill>
                  <a:srgbClr val="1E4D2B"/>
                </a:solidFill>
                <a:latin typeface="Calibri" pitchFamily="34" charset="0"/>
                <a:ea typeface="Calibri" pitchFamily="34" charset="-122"/>
                <a:cs typeface="Calibri" pitchFamily="34" charset="-120"/>
              </a:rPr>
              <a:t>Success</a:t>
            </a:r>
            <a:endParaRPr lang="en-US" sz="1300" dirty="0"/>
          </a:p>
        </p:txBody>
      </p:sp>
      <p:sp>
        <p:nvSpPr>
          <p:cNvPr id="20" name="Shape 18"/>
          <p:cNvSpPr/>
          <p:nvPr/>
        </p:nvSpPr>
        <p:spPr>
          <a:xfrm>
            <a:off x="6400800" y="1463040"/>
            <a:ext cx="5212080" cy="2148840"/>
          </a:xfrm>
          <a:prstGeom prst="roundRect">
            <a:avLst>
              <a:gd name="adj" fmla="val 3404"/>
            </a:avLst>
          </a:prstGeom>
          <a:solidFill>
            <a:srgbClr val="E6EFE6"/>
          </a:solidFill>
          <a:ln w="12700">
            <a:solidFill>
              <a:srgbClr val="E6EFE6"/>
            </a:solidFill>
            <a:prstDash val="solid"/>
          </a:ln>
        </p:spPr>
      </p:sp>
      <p:sp>
        <p:nvSpPr>
          <p:cNvPr id="21" name="Text 19"/>
          <p:cNvSpPr/>
          <p:nvPr/>
        </p:nvSpPr>
        <p:spPr>
          <a:xfrm>
            <a:off x="6675120" y="1645920"/>
            <a:ext cx="4754880" cy="320040"/>
          </a:xfrm>
          <a:prstGeom prst="rect">
            <a:avLst/>
          </a:prstGeom>
          <a:noFill/>
          <a:ln/>
        </p:spPr>
        <p:txBody>
          <a:bodyPr wrap="square" lIns="635" tIns="635" rIns="635" bIns="635" rtlCol="0" anchor="t"/>
          <a:lstStyle/>
          <a:p>
            <a:pPr indent="0" marL="0">
              <a:buNone/>
            </a:pPr>
            <a:r>
              <a:rPr lang="en-US" sz="1200" b="1" spc="200" kern="0" dirty="0">
                <a:solidFill>
                  <a:srgbClr val="2E7D4F"/>
                </a:solidFill>
                <a:latin typeface="Calibri" pitchFamily="34" charset="0"/>
                <a:ea typeface="Calibri" pitchFamily="34" charset="-122"/>
                <a:cs typeface="Calibri" pitchFamily="34" charset="-120"/>
              </a:rPr>
              <a:t>RESEARCH QUESTION</a:t>
            </a:r>
            <a:endParaRPr lang="en-US" sz="1200" dirty="0"/>
          </a:p>
        </p:txBody>
      </p:sp>
      <p:sp>
        <p:nvSpPr>
          <p:cNvPr id="22" name="Text 20"/>
          <p:cNvSpPr/>
          <p:nvPr/>
        </p:nvSpPr>
        <p:spPr>
          <a:xfrm>
            <a:off x="6675120" y="2011680"/>
            <a:ext cx="4754880" cy="1371600"/>
          </a:xfrm>
          <a:prstGeom prst="rect">
            <a:avLst/>
          </a:prstGeom>
          <a:noFill/>
          <a:ln/>
        </p:spPr>
        <p:txBody>
          <a:bodyPr wrap="square" rtlCol="0" anchor="t"/>
          <a:lstStyle/>
          <a:p>
            <a:pPr indent="0" marL="0">
              <a:buNone/>
            </a:pPr>
            <a:r>
              <a:rPr lang="en-US" sz="2100" b="1" dirty="0">
                <a:solidFill>
                  <a:srgbClr val="1E4D2B"/>
                </a:solidFill>
                <a:latin typeface="Cambria" pitchFamily="34" charset="0"/>
                <a:ea typeface="Cambria" pitchFamily="34" charset="-122"/>
                <a:cs typeface="Cambria" pitchFamily="34" charset="-120"/>
              </a:rPr>
              <a:t>Does adaptivity actually pay, and which signal is the right one to adapt on?</a:t>
            </a:r>
            <a:endParaRPr lang="en-US" sz="2100" dirty="0"/>
          </a:p>
        </p:txBody>
      </p:sp>
      <p:sp>
        <p:nvSpPr>
          <p:cNvPr id="23" name="Text 21"/>
          <p:cNvSpPr/>
          <p:nvPr/>
        </p:nvSpPr>
        <p:spPr>
          <a:xfrm>
            <a:off x="6400800" y="3840480"/>
            <a:ext cx="5212080" cy="365760"/>
          </a:xfrm>
          <a:prstGeom prst="rect">
            <a:avLst/>
          </a:prstGeom>
          <a:noFill/>
          <a:ln/>
        </p:spPr>
        <p:txBody>
          <a:bodyPr wrap="square" lIns="635" tIns="635" rIns="635" bIns="635" rtlCol="0" anchor="t"/>
          <a:lstStyle/>
          <a:p>
            <a:pPr indent="0" marL="0">
              <a:buNone/>
            </a:pPr>
            <a:r>
              <a:rPr lang="en-US" sz="1400" b="1" dirty="0">
                <a:solidFill>
                  <a:srgbClr val="1E4D2B"/>
                </a:solidFill>
                <a:latin typeface="Calibri" pitchFamily="34" charset="0"/>
                <a:ea typeface="Calibri" pitchFamily="34" charset="-122"/>
                <a:cs typeface="Calibri" pitchFamily="34" charset="-120"/>
              </a:rPr>
              <a:t>Three adaptive policies replace only the selection rule</a:t>
            </a:r>
            <a:endParaRPr lang="en-US" sz="1400" dirty="0"/>
          </a:p>
        </p:txBody>
      </p:sp>
      <p:sp>
        <p:nvSpPr>
          <p:cNvPr id="24" name="Shape 22"/>
          <p:cNvSpPr/>
          <p:nvPr/>
        </p:nvSpPr>
        <p:spPr>
          <a:xfrm>
            <a:off x="6400800" y="4297680"/>
            <a:ext cx="5212080" cy="475488"/>
          </a:xfrm>
          <a:prstGeom prst="roundRect">
            <a:avLst>
              <a:gd name="adj" fmla="val 19231"/>
            </a:avLst>
          </a:prstGeom>
          <a:solidFill>
            <a:srgbClr val="FFFFFF"/>
          </a:solidFill>
          <a:ln w="15875">
            <a:solidFill>
              <a:srgbClr val="8FB08C"/>
            </a:solidFill>
            <a:prstDash val="solid"/>
          </a:ln>
        </p:spPr>
      </p:sp>
      <p:sp>
        <p:nvSpPr>
          <p:cNvPr id="25" name="Text 23"/>
          <p:cNvSpPr/>
          <p:nvPr/>
        </p:nvSpPr>
        <p:spPr>
          <a:xfrm>
            <a:off x="6583680" y="4297680"/>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Adaptive threshold</a:t>
            </a:r>
            <a:pPr indent="0" marL="0">
              <a:buNone/>
            </a:pPr>
            <a:r>
              <a:rPr lang="en-US" sz="1400" dirty="0">
                <a:solidFill>
                  <a:srgbClr val="6B6B6B"/>
                </a:solidFill>
                <a:latin typeface="Calibri" pitchFamily="34" charset="0"/>
                <a:ea typeface="Calibri" pitchFamily="34" charset="-122"/>
                <a:cs typeface="Calibri" pitchFamily="34" charset="-120"/>
              </a:rPr>
              <a:t>   adapts on residual ratio</a:t>
            </a:r>
            <a:endParaRPr lang="en-US" sz="1400" dirty="0"/>
          </a:p>
        </p:txBody>
      </p:sp>
      <p:sp>
        <p:nvSpPr>
          <p:cNvPr id="26" name="Shape 24"/>
          <p:cNvSpPr/>
          <p:nvPr/>
        </p:nvSpPr>
        <p:spPr>
          <a:xfrm>
            <a:off x="6400800" y="4864608"/>
            <a:ext cx="5212080" cy="475488"/>
          </a:xfrm>
          <a:prstGeom prst="roundRect">
            <a:avLst>
              <a:gd name="adj" fmla="val 19231"/>
            </a:avLst>
          </a:prstGeom>
          <a:solidFill>
            <a:srgbClr val="FFFFFF"/>
          </a:solidFill>
          <a:ln w="15875">
            <a:solidFill>
              <a:srgbClr val="8FB08C"/>
            </a:solidFill>
            <a:prstDash val="solid"/>
          </a:ln>
        </p:spPr>
      </p:sp>
      <p:sp>
        <p:nvSpPr>
          <p:cNvPr id="27" name="Text 25"/>
          <p:cNvSpPr/>
          <p:nvPr/>
        </p:nvSpPr>
        <p:spPr>
          <a:xfrm>
            <a:off x="6583680" y="4864608"/>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Cost-aware</a:t>
            </a:r>
            <a:pPr indent="0" marL="0">
              <a:buNone/>
            </a:pPr>
            <a:r>
              <a:rPr lang="en-US" sz="1400" dirty="0">
                <a:solidFill>
                  <a:srgbClr val="6B6B6B"/>
                </a:solidFill>
                <a:latin typeface="Calibri" pitchFamily="34" charset="0"/>
                <a:ea typeface="Calibri" pitchFamily="34" charset="-122"/>
                <a:cs typeface="Calibri" pitchFamily="34" charset="-120"/>
              </a:rPr>
              <a:t>   adapts on progress per f call</a:t>
            </a:r>
            <a:endParaRPr lang="en-US" sz="1400" dirty="0"/>
          </a:p>
        </p:txBody>
      </p:sp>
      <p:sp>
        <p:nvSpPr>
          <p:cNvPr id="28" name="Shape 26"/>
          <p:cNvSpPr/>
          <p:nvPr/>
        </p:nvSpPr>
        <p:spPr>
          <a:xfrm>
            <a:off x="6400800" y="5431536"/>
            <a:ext cx="5212080" cy="475488"/>
          </a:xfrm>
          <a:prstGeom prst="roundRect">
            <a:avLst>
              <a:gd name="adj" fmla="val 19231"/>
            </a:avLst>
          </a:prstGeom>
          <a:solidFill>
            <a:srgbClr val="FFFFFF"/>
          </a:solidFill>
          <a:ln w="15875">
            <a:solidFill>
              <a:srgbClr val="8FB08C"/>
            </a:solidFill>
            <a:prstDash val="solid"/>
          </a:ln>
        </p:spPr>
      </p:sp>
      <p:sp>
        <p:nvSpPr>
          <p:cNvPr id="29" name="Text 27"/>
          <p:cNvSpPr/>
          <p:nvPr/>
        </p:nvSpPr>
        <p:spPr>
          <a:xfrm>
            <a:off x="6583680" y="5431536"/>
            <a:ext cx="4937760" cy="47548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Stagnation-aware</a:t>
            </a:r>
            <a:pPr indent="0" marL="0">
              <a:buNone/>
            </a:pPr>
            <a:r>
              <a:rPr lang="en-US" sz="1400" dirty="0">
                <a:solidFill>
                  <a:srgbClr val="6B6B6B"/>
                </a:solidFill>
                <a:latin typeface="Calibri" pitchFamily="34" charset="0"/>
                <a:ea typeface="Calibri" pitchFamily="34" charset="-122"/>
                <a:cs typeface="Calibri" pitchFamily="34" charset="-120"/>
              </a:rPr>
              <a:t>   adapts on endpoint reuse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Implementation: One Engine, Pluggable Selectors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Any difference in the results comes from the switching rule alone</a:t>
            </a:r>
            <a:endParaRPr lang="en-US" sz="1500" dirty="0"/>
          </a:p>
        </p:txBody>
      </p:sp>
      <p:sp>
        <p:nvSpPr>
          <p:cNvPr id="7" name="Shape 5"/>
          <p:cNvSpPr/>
          <p:nvPr/>
        </p:nvSpPr>
        <p:spPr>
          <a:xfrm>
            <a:off x="3017520" y="1417320"/>
            <a:ext cx="4023360" cy="502920"/>
          </a:xfrm>
          <a:prstGeom prst="roundRect">
            <a:avLst>
              <a:gd name="adj" fmla="val 14545"/>
            </a:avLst>
          </a:prstGeom>
          <a:solidFill>
            <a:srgbClr val="1E4D2B"/>
          </a:solidFill>
          <a:ln w="12700">
            <a:solidFill>
              <a:srgbClr val="1E4D2B"/>
            </a:solidFill>
            <a:prstDash val="solid"/>
          </a:ln>
        </p:spPr>
      </p:sp>
      <p:sp>
        <p:nvSpPr>
          <p:cNvPr id="8" name="Text 6"/>
          <p:cNvSpPr/>
          <p:nvPr/>
        </p:nvSpPr>
        <p:spPr>
          <a:xfrm>
            <a:off x="3017520" y="1417320"/>
            <a:ext cx="4023360" cy="502920"/>
          </a:xfrm>
          <a:prstGeom prst="rect">
            <a:avLst/>
          </a:prstGeom>
          <a:noFill/>
          <a:ln/>
        </p:spPr>
        <p:txBody>
          <a:bodyPr wrap="square" lIns="635" tIns="635" rIns="635" bIns="635"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main.py — experiment driver &amp; CLI</a:t>
            </a:r>
            <a:endParaRPr lang="en-US" sz="1300" dirty="0"/>
          </a:p>
        </p:txBody>
      </p:sp>
      <p:sp>
        <p:nvSpPr>
          <p:cNvPr id="9" name="Shape 7"/>
          <p:cNvSpPr/>
          <p:nvPr/>
        </p:nvSpPr>
        <p:spPr>
          <a:xfrm>
            <a:off x="5029200" y="1920240"/>
            <a:ext cx="914" cy="320040"/>
          </a:xfrm>
          <a:prstGeom prst="line">
            <a:avLst/>
          </a:prstGeom>
          <a:noFill/>
          <a:ln w="19050">
            <a:solidFill>
              <a:srgbClr val="2E7D4F"/>
            </a:solidFill>
            <a:prstDash val="solid"/>
            <a:tailEnd type="triangle"/>
          </a:ln>
        </p:spPr>
      </p:sp>
      <p:sp>
        <p:nvSpPr>
          <p:cNvPr id="10" name="Shape 8"/>
          <p:cNvSpPr/>
          <p:nvPr/>
        </p:nvSpPr>
        <p:spPr>
          <a:xfrm>
            <a:off x="548640" y="2240280"/>
            <a:ext cx="8412480" cy="3063240"/>
          </a:xfrm>
          <a:prstGeom prst="roundRect">
            <a:avLst>
              <a:gd name="adj" fmla="val 2388"/>
            </a:avLst>
          </a:prstGeom>
          <a:solidFill>
            <a:srgbClr val="F6F9F6"/>
          </a:solidFill>
          <a:ln w="12700">
            <a:solidFill>
              <a:srgbClr val="8FB08C"/>
            </a:solidFill>
            <a:prstDash val="solid"/>
          </a:ln>
        </p:spPr>
      </p:sp>
      <p:sp>
        <p:nvSpPr>
          <p:cNvPr id="11" name="Text 9"/>
          <p:cNvSpPr/>
          <p:nvPr/>
        </p:nvSpPr>
        <p:spPr>
          <a:xfrm>
            <a:off x="731520" y="2304288"/>
            <a:ext cx="8046720" cy="32004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Bracketed methods (8) — guaranteed to keep a sign change</a:t>
            </a:r>
            <a:endParaRPr lang="en-US" sz="1300" dirty="0"/>
          </a:p>
        </p:txBody>
      </p:sp>
      <p:sp>
        <p:nvSpPr>
          <p:cNvPr id="12" name="Text 10"/>
          <p:cNvSpPr/>
          <p:nvPr/>
        </p:nvSpPr>
        <p:spPr>
          <a:xfrm>
            <a:off x="731520" y="2606040"/>
            <a:ext cx="8046720" cy="274320"/>
          </a:xfrm>
          <a:prstGeom prst="rect">
            <a:avLst/>
          </a:prstGeom>
          <a:noFill/>
          <a:ln/>
        </p:spPr>
        <p:txBody>
          <a:bodyPr wrap="square" lIns="635" tIns="635" rIns="635" bIns="635" rtlCol="0" anchor="t"/>
          <a:lstStyle/>
          <a:p>
            <a:pPr indent="0" marL="0">
              <a:buNone/>
            </a:pPr>
            <a:r>
              <a:rPr lang="en-US" sz="1150" i="1" dirty="0">
                <a:solidFill>
                  <a:srgbClr val="6B6B6B"/>
                </a:solidFill>
                <a:latin typeface="Calibri" pitchFamily="34" charset="0"/>
                <a:ea typeface="Calibri" pitchFamily="34" charset="-122"/>
                <a:cs typeface="Calibri" pitchFamily="34" charset="-120"/>
              </a:rPr>
              <a:t>Selector.choose() / observe()  — which candidate(s) to evaluate this step</a:t>
            </a:r>
            <a:endParaRPr lang="en-US" sz="1150" dirty="0"/>
          </a:p>
        </p:txBody>
      </p:sp>
      <p:sp>
        <p:nvSpPr>
          <p:cNvPr id="13" name="Shape 11"/>
          <p:cNvSpPr/>
          <p:nvPr/>
        </p:nvSpPr>
        <p:spPr>
          <a:xfrm>
            <a:off x="777240" y="2926080"/>
            <a:ext cx="1874520" cy="411480"/>
          </a:xfrm>
          <a:prstGeom prst="roundRect">
            <a:avLst>
              <a:gd name="adj" fmla="val 17778"/>
            </a:avLst>
          </a:prstGeom>
          <a:solidFill>
            <a:srgbClr val="D9DED9"/>
          </a:solidFill>
          <a:ln w="12700">
            <a:solidFill>
              <a:srgbClr val="D9DED9"/>
            </a:solidFill>
            <a:prstDash val="solid"/>
          </a:ln>
        </p:spPr>
      </p:sp>
      <p:sp>
        <p:nvSpPr>
          <p:cNvPr id="14" name="Text 12"/>
          <p:cNvSpPr/>
          <p:nvPr/>
        </p:nvSpPr>
        <p:spPr>
          <a:xfrm>
            <a:off x="77724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Bisection</a:t>
            </a:r>
            <a:endParaRPr lang="en-US" sz="1200" dirty="0"/>
          </a:p>
        </p:txBody>
      </p:sp>
      <p:sp>
        <p:nvSpPr>
          <p:cNvPr id="15" name="Shape 13"/>
          <p:cNvSpPr/>
          <p:nvPr/>
        </p:nvSpPr>
        <p:spPr>
          <a:xfrm>
            <a:off x="2788920" y="2926080"/>
            <a:ext cx="1874520" cy="411480"/>
          </a:xfrm>
          <a:prstGeom prst="roundRect">
            <a:avLst>
              <a:gd name="adj" fmla="val 17778"/>
            </a:avLst>
          </a:prstGeom>
          <a:solidFill>
            <a:srgbClr val="D9DED9"/>
          </a:solidFill>
          <a:ln w="12700">
            <a:solidFill>
              <a:srgbClr val="D9DED9"/>
            </a:solidFill>
            <a:prstDash val="solid"/>
          </a:ln>
        </p:spPr>
      </p:sp>
      <p:sp>
        <p:nvSpPr>
          <p:cNvPr id="16" name="Text 14"/>
          <p:cNvSpPr/>
          <p:nvPr/>
        </p:nvSpPr>
        <p:spPr>
          <a:xfrm>
            <a:off x="278892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Trisection</a:t>
            </a:r>
            <a:endParaRPr lang="en-US" sz="1200" dirty="0"/>
          </a:p>
        </p:txBody>
      </p:sp>
      <p:sp>
        <p:nvSpPr>
          <p:cNvPr id="17" name="Shape 15"/>
          <p:cNvSpPr/>
          <p:nvPr/>
        </p:nvSpPr>
        <p:spPr>
          <a:xfrm>
            <a:off x="4800600" y="2926080"/>
            <a:ext cx="1874520" cy="411480"/>
          </a:xfrm>
          <a:prstGeom prst="roundRect">
            <a:avLst>
              <a:gd name="adj" fmla="val 17778"/>
            </a:avLst>
          </a:prstGeom>
          <a:solidFill>
            <a:srgbClr val="D9DED9"/>
          </a:solidFill>
          <a:ln w="12700">
            <a:solidFill>
              <a:srgbClr val="D9DED9"/>
            </a:solidFill>
            <a:prstDash val="solid"/>
          </a:ln>
        </p:spPr>
      </p:sp>
      <p:sp>
        <p:nvSpPr>
          <p:cNvPr id="18" name="Text 16"/>
          <p:cNvSpPr/>
          <p:nvPr/>
        </p:nvSpPr>
        <p:spPr>
          <a:xfrm>
            <a:off x="480060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False position</a:t>
            </a:r>
            <a:endParaRPr lang="en-US" sz="1200" dirty="0"/>
          </a:p>
        </p:txBody>
      </p:sp>
      <p:sp>
        <p:nvSpPr>
          <p:cNvPr id="19" name="Shape 17"/>
          <p:cNvSpPr/>
          <p:nvPr/>
        </p:nvSpPr>
        <p:spPr>
          <a:xfrm>
            <a:off x="6812280" y="2926080"/>
            <a:ext cx="1874520" cy="411480"/>
          </a:xfrm>
          <a:prstGeom prst="roundRect">
            <a:avLst>
              <a:gd name="adj" fmla="val 17778"/>
            </a:avLst>
          </a:prstGeom>
          <a:solidFill>
            <a:srgbClr val="8FB08C"/>
          </a:solidFill>
          <a:ln w="12700">
            <a:solidFill>
              <a:srgbClr val="8FB08C"/>
            </a:solidFill>
            <a:prstDash val="solid"/>
          </a:ln>
        </p:spPr>
      </p:sp>
      <p:sp>
        <p:nvSpPr>
          <p:cNvPr id="20" name="Text 18"/>
          <p:cNvSpPr/>
          <p:nvPr/>
        </p:nvSpPr>
        <p:spPr>
          <a:xfrm>
            <a:off x="6812280" y="292608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Static BF</a:t>
            </a:r>
            <a:endParaRPr lang="en-US" sz="1200" dirty="0"/>
          </a:p>
        </p:txBody>
      </p:sp>
      <p:sp>
        <p:nvSpPr>
          <p:cNvPr id="21" name="Shape 19"/>
          <p:cNvSpPr/>
          <p:nvPr/>
        </p:nvSpPr>
        <p:spPr>
          <a:xfrm>
            <a:off x="777240" y="3429000"/>
            <a:ext cx="1874520" cy="411480"/>
          </a:xfrm>
          <a:prstGeom prst="roundRect">
            <a:avLst>
              <a:gd name="adj" fmla="val 17778"/>
            </a:avLst>
          </a:prstGeom>
          <a:solidFill>
            <a:srgbClr val="8FB08C"/>
          </a:solidFill>
          <a:ln w="12700">
            <a:solidFill>
              <a:srgbClr val="8FB08C"/>
            </a:solidFill>
            <a:prstDash val="solid"/>
          </a:ln>
        </p:spPr>
      </p:sp>
      <p:sp>
        <p:nvSpPr>
          <p:cNvPr id="22" name="Text 20"/>
          <p:cNvSpPr/>
          <p:nvPr/>
        </p:nvSpPr>
        <p:spPr>
          <a:xfrm>
            <a:off x="77724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Static TF</a:t>
            </a:r>
            <a:endParaRPr lang="en-US" sz="1200" dirty="0"/>
          </a:p>
        </p:txBody>
      </p:sp>
      <p:sp>
        <p:nvSpPr>
          <p:cNvPr id="23" name="Shape 21"/>
          <p:cNvSpPr/>
          <p:nvPr/>
        </p:nvSpPr>
        <p:spPr>
          <a:xfrm>
            <a:off x="2788920" y="3429000"/>
            <a:ext cx="1874520" cy="411480"/>
          </a:xfrm>
          <a:prstGeom prst="roundRect">
            <a:avLst>
              <a:gd name="adj" fmla="val 17778"/>
            </a:avLst>
          </a:prstGeom>
          <a:solidFill>
            <a:srgbClr val="E07B30"/>
          </a:solidFill>
          <a:ln w="12700">
            <a:solidFill>
              <a:srgbClr val="E07B30"/>
            </a:solidFill>
            <a:prstDash val="solid"/>
          </a:ln>
        </p:spPr>
      </p:sp>
      <p:sp>
        <p:nvSpPr>
          <p:cNvPr id="24" name="Text 22"/>
          <p:cNvSpPr/>
          <p:nvPr/>
        </p:nvSpPr>
        <p:spPr>
          <a:xfrm>
            <a:off x="278892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Adaptive threshold</a:t>
            </a:r>
            <a:endParaRPr lang="en-US" sz="1200" dirty="0"/>
          </a:p>
        </p:txBody>
      </p:sp>
      <p:sp>
        <p:nvSpPr>
          <p:cNvPr id="25" name="Shape 23"/>
          <p:cNvSpPr/>
          <p:nvPr/>
        </p:nvSpPr>
        <p:spPr>
          <a:xfrm>
            <a:off x="4800600" y="3429000"/>
            <a:ext cx="1874520" cy="411480"/>
          </a:xfrm>
          <a:prstGeom prst="roundRect">
            <a:avLst>
              <a:gd name="adj" fmla="val 17778"/>
            </a:avLst>
          </a:prstGeom>
          <a:solidFill>
            <a:srgbClr val="E07B30"/>
          </a:solidFill>
          <a:ln w="12700">
            <a:solidFill>
              <a:srgbClr val="E07B30"/>
            </a:solidFill>
            <a:prstDash val="solid"/>
          </a:ln>
        </p:spPr>
      </p:sp>
      <p:sp>
        <p:nvSpPr>
          <p:cNvPr id="26" name="Text 24"/>
          <p:cNvSpPr/>
          <p:nvPr/>
        </p:nvSpPr>
        <p:spPr>
          <a:xfrm>
            <a:off x="480060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Cost-aware</a:t>
            </a:r>
            <a:endParaRPr lang="en-US" sz="1200" dirty="0"/>
          </a:p>
        </p:txBody>
      </p:sp>
      <p:sp>
        <p:nvSpPr>
          <p:cNvPr id="27" name="Shape 25"/>
          <p:cNvSpPr/>
          <p:nvPr/>
        </p:nvSpPr>
        <p:spPr>
          <a:xfrm>
            <a:off x="6812280" y="3429000"/>
            <a:ext cx="1874520" cy="411480"/>
          </a:xfrm>
          <a:prstGeom prst="roundRect">
            <a:avLst>
              <a:gd name="adj" fmla="val 17778"/>
            </a:avLst>
          </a:prstGeom>
          <a:solidFill>
            <a:srgbClr val="E07B30"/>
          </a:solidFill>
          <a:ln w="12700">
            <a:solidFill>
              <a:srgbClr val="E07B30"/>
            </a:solidFill>
            <a:prstDash val="solid"/>
          </a:ln>
        </p:spPr>
      </p:sp>
      <p:sp>
        <p:nvSpPr>
          <p:cNvPr id="28" name="Text 26"/>
          <p:cNvSpPr/>
          <p:nvPr/>
        </p:nvSpPr>
        <p:spPr>
          <a:xfrm>
            <a:off x="6812280" y="3429000"/>
            <a:ext cx="1874520" cy="41148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Stagnation-aware</a:t>
            </a:r>
            <a:endParaRPr lang="en-US" sz="1200" dirty="0"/>
          </a:p>
        </p:txBody>
      </p:sp>
      <p:sp>
        <p:nvSpPr>
          <p:cNvPr id="29" name="Shape 27"/>
          <p:cNvSpPr/>
          <p:nvPr/>
        </p:nvSpPr>
        <p:spPr>
          <a:xfrm>
            <a:off x="3657600" y="3931920"/>
            <a:ext cx="914" cy="411480"/>
          </a:xfrm>
          <a:prstGeom prst="line">
            <a:avLst/>
          </a:prstGeom>
          <a:noFill/>
          <a:ln w="19050">
            <a:solidFill>
              <a:srgbClr val="2E7D4F"/>
            </a:solidFill>
            <a:prstDash val="solid"/>
            <a:tailEnd type="triangle"/>
          </a:ln>
        </p:spPr>
      </p:sp>
      <p:sp>
        <p:nvSpPr>
          <p:cNvPr id="30" name="Shape 28"/>
          <p:cNvSpPr/>
          <p:nvPr/>
        </p:nvSpPr>
        <p:spPr>
          <a:xfrm flipV="1">
            <a:off x="5852160" y="3931920"/>
            <a:ext cx="914" cy="411480"/>
          </a:xfrm>
          <a:prstGeom prst="line">
            <a:avLst/>
          </a:prstGeom>
          <a:noFill/>
          <a:ln w="19050">
            <a:solidFill>
              <a:srgbClr val="2E7D4F"/>
            </a:solidFill>
            <a:prstDash val="solid"/>
            <a:tailEnd type="triangle"/>
          </a:ln>
        </p:spPr>
      </p:sp>
      <p:sp>
        <p:nvSpPr>
          <p:cNvPr id="31" name="Text 29"/>
          <p:cNvSpPr/>
          <p:nvPr/>
        </p:nvSpPr>
        <p:spPr>
          <a:xfrm>
            <a:off x="2194560" y="3995928"/>
            <a:ext cx="1417320" cy="274320"/>
          </a:xfrm>
          <a:prstGeom prst="rect">
            <a:avLst/>
          </a:prstGeom>
          <a:noFill/>
          <a:ln/>
        </p:spPr>
        <p:txBody>
          <a:bodyPr wrap="square" lIns="635" tIns="635" rIns="635" bIns="635" rtlCol="0" anchor="t"/>
          <a:lstStyle/>
          <a:p>
            <a:pPr algn="r" indent="0" marL="0">
              <a:buNone/>
            </a:pPr>
            <a:r>
              <a:rPr lang="en-US" sz="1050" i="1" dirty="0">
                <a:solidFill>
                  <a:srgbClr val="6B6B6B"/>
                </a:solidFill>
                <a:latin typeface="Calibri" pitchFamily="34" charset="0"/>
                <a:ea typeface="Calibri" pitchFamily="34" charset="-122"/>
                <a:cs typeface="Calibri" pitchFamily="34" charset="-120"/>
              </a:rPr>
              <a:t>candidate points</a:t>
            </a:r>
            <a:endParaRPr lang="en-US" sz="1050" dirty="0"/>
          </a:p>
        </p:txBody>
      </p:sp>
      <p:sp>
        <p:nvSpPr>
          <p:cNvPr id="32" name="Text 30"/>
          <p:cNvSpPr/>
          <p:nvPr/>
        </p:nvSpPr>
        <p:spPr>
          <a:xfrm>
            <a:off x="5943600" y="3995928"/>
            <a:ext cx="2011680" cy="274320"/>
          </a:xfrm>
          <a:prstGeom prst="rect">
            <a:avLst/>
          </a:prstGeom>
          <a:noFill/>
          <a:ln/>
        </p:spPr>
        <p:txBody>
          <a:bodyPr wrap="square" lIns="635" tIns="635" rIns="635" bIns="635" rtlCol="0" anchor="t"/>
          <a:lstStyle/>
          <a:p>
            <a:pPr indent="0" marL="0">
              <a:buNone/>
            </a:pPr>
            <a:r>
              <a:rPr lang="en-US" sz="1050" i="1" dirty="0">
                <a:solidFill>
                  <a:srgbClr val="6B6B6B"/>
                </a:solidFill>
                <a:latin typeface="Calibri" pitchFamily="34" charset="0"/>
                <a:ea typeface="Calibri" pitchFamily="34" charset="-122"/>
                <a:cs typeface="Calibri" pitchFamily="34" charset="-120"/>
              </a:rPr>
              <a:t>new bracket, residuals</a:t>
            </a:r>
            <a:endParaRPr lang="en-US" sz="1050" dirty="0"/>
          </a:p>
        </p:txBody>
      </p:sp>
      <p:sp>
        <p:nvSpPr>
          <p:cNvPr id="33" name="Shape 31"/>
          <p:cNvSpPr/>
          <p:nvPr/>
        </p:nvSpPr>
        <p:spPr>
          <a:xfrm>
            <a:off x="777240" y="4343400"/>
            <a:ext cx="7955280" cy="822960"/>
          </a:xfrm>
          <a:prstGeom prst="roundRect">
            <a:avLst>
              <a:gd name="adj" fmla="val 8889"/>
            </a:avLst>
          </a:prstGeom>
          <a:solidFill>
            <a:srgbClr val="1E4D2B"/>
          </a:solidFill>
          <a:ln w="12700">
            <a:solidFill>
              <a:srgbClr val="1E4D2B"/>
            </a:solidFill>
            <a:prstDash val="solid"/>
          </a:ln>
        </p:spPr>
      </p:sp>
      <p:sp>
        <p:nvSpPr>
          <p:cNvPr id="34" name="Text 32"/>
          <p:cNvSpPr/>
          <p:nvPr/>
        </p:nvSpPr>
        <p:spPr>
          <a:xfrm>
            <a:off x="777240" y="4343400"/>
            <a:ext cx="7955280" cy="82296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Shared bracket engine (Bracket.narrow)</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Cached f evaluations · keep first adjacent sign change among all evaluated points · stop only when |f(x)| ≤ ε</a:t>
            </a:r>
            <a:endParaRPr lang="en-US" sz="1200" dirty="0"/>
          </a:p>
        </p:txBody>
      </p:sp>
      <p:sp>
        <p:nvSpPr>
          <p:cNvPr id="35" name="Shape 33"/>
          <p:cNvSpPr/>
          <p:nvPr/>
        </p:nvSpPr>
        <p:spPr>
          <a:xfrm>
            <a:off x="9189720" y="2240280"/>
            <a:ext cx="2468880" cy="3063240"/>
          </a:xfrm>
          <a:prstGeom prst="roundRect">
            <a:avLst>
              <a:gd name="adj" fmla="val 2963"/>
            </a:avLst>
          </a:prstGeom>
          <a:solidFill>
            <a:srgbClr val="FFFFFF"/>
          </a:solidFill>
          <a:ln w="12700">
            <a:solidFill>
              <a:srgbClr val="C9D6C9"/>
            </a:solidFill>
            <a:prstDash val="solid"/>
          </a:ln>
        </p:spPr>
      </p:sp>
      <p:sp>
        <p:nvSpPr>
          <p:cNvPr id="36" name="Text 34"/>
          <p:cNvSpPr/>
          <p:nvPr/>
        </p:nvSpPr>
        <p:spPr>
          <a:xfrm>
            <a:off x="9326880" y="2304288"/>
            <a:ext cx="2194560" cy="32004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Open methods (2)</a:t>
            </a:r>
            <a:endParaRPr lang="en-US" sz="1300" dirty="0"/>
          </a:p>
        </p:txBody>
      </p:sp>
      <p:sp>
        <p:nvSpPr>
          <p:cNvPr id="37" name="Shape 35"/>
          <p:cNvSpPr/>
          <p:nvPr/>
        </p:nvSpPr>
        <p:spPr>
          <a:xfrm>
            <a:off x="9372600" y="2743200"/>
            <a:ext cx="2103120" cy="411480"/>
          </a:xfrm>
          <a:prstGeom prst="roundRect">
            <a:avLst>
              <a:gd name="adj" fmla="val 17778"/>
            </a:avLst>
          </a:prstGeom>
          <a:solidFill>
            <a:srgbClr val="D9DED9"/>
          </a:solidFill>
          <a:ln w="12700">
            <a:solidFill>
              <a:srgbClr val="D9DED9"/>
            </a:solidFill>
            <a:prstDash val="solid"/>
          </a:ln>
        </p:spPr>
      </p:sp>
      <p:sp>
        <p:nvSpPr>
          <p:cNvPr id="38" name="Text 36"/>
          <p:cNvSpPr/>
          <p:nvPr/>
        </p:nvSpPr>
        <p:spPr>
          <a:xfrm>
            <a:off x="9372600" y="2743200"/>
            <a:ext cx="21031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Newton</a:t>
            </a:r>
            <a:endParaRPr lang="en-US" sz="1200" dirty="0"/>
          </a:p>
        </p:txBody>
      </p:sp>
      <p:sp>
        <p:nvSpPr>
          <p:cNvPr id="39" name="Shape 37"/>
          <p:cNvSpPr/>
          <p:nvPr/>
        </p:nvSpPr>
        <p:spPr>
          <a:xfrm>
            <a:off x="9372600" y="3246120"/>
            <a:ext cx="2103120" cy="411480"/>
          </a:xfrm>
          <a:prstGeom prst="roundRect">
            <a:avLst>
              <a:gd name="adj" fmla="val 17778"/>
            </a:avLst>
          </a:prstGeom>
          <a:solidFill>
            <a:srgbClr val="D9DED9"/>
          </a:solidFill>
          <a:ln w="12700">
            <a:solidFill>
              <a:srgbClr val="D9DED9"/>
            </a:solidFill>
            <a:prstDash val="solid"/>
          </a:ln>
        </p:spPr>
      </p:sp>
      <p:sp>
        <p:nvSpPr>
          <p:cNvPr id="40" name="Text 38"/>
          <p:cNvSpPr/>
          <p:nvPr/>
        </p:nvSpPr>
        <p:spPr>
          <a:xfrm>
            <a:off x="9372600" y="3246120"/>
            <a:ext cx="2103120" cy="411480"/>
          </a:xfrm>
          <a:prstGeom prst="rect">
            <a:avLst/>
          </a:prstGeom>
          <a:noFill/>
          <a:ln/>
        </p:spPr>
        <p:txBody>
          <a:bodyPr wrap="square" lIns="635" tIns="635" rIns="635" bIns="635" rtlCol="0" anchor="ctr"/>
          <a:lstStyle/>
          <a:p>
            <a:pPr algn="ctr" indent="0" marL="0">
              <a:buNone/>
            </a:pPr>
            <a:r>
              <a:rPr lang="en-US" sz="1200" b="1" dirty="0">
                <a:solidFill>
                  <a:srgbClr val="333333"/>
                </a:solidFill>
                <a:latin typeface="Calibri" pitchFamily="34" charset="0"/>
                <a:ea typeface="Calibri" pitchFamily="34" charset="-122"/>
                <a:cs typeface="Calibri" pitchFamily="34" charset="-120"/>
              </a:rPr>
              <a:t>Secant</a:t>
            </a:r>
            <a:endParaRPr lang="en-US" sz="1200" dirty="0"/>
          </a:p>
        </p:txBody>
      </p:sp>
      <p:sp>
        <p:nvSpPr>
          <p:cNvPr id="41" name="Text 39"/>
          <p:cNvSpPr/>
          <p:nvPr/>
        </p:nvSpPr>
        <p:spPr>
          <a:xfrm>
            <a:off x="9326880" y="3749040"/>
            <a:ext cx="2240280" cy="1463040"/>
          </a:xfrm>
          <a:prstGeom prst="rect">
            <a:avLst/>
          </a:prstGeom>
          <a:noFill/>
          <a:ln/>
        </p:spPr>
        <p:txBody>
          <a:bodyPr wrap="square" lIns="635" tIns="635" rIns="635" bIns="635" rtlCol="0" anchor="t"/>
          <a:lstStyle/>
          <a:p>
            <a:pPr indent="0" marL="0">
              <a:buNone/>
            </a:pPr>
            <a:r>
              <a:rPr lang="en-US" sz="1150" dirty="0">
                <a:solidFill>
                  <a:srgbClr val="6B6B6B"/>
                </a:solidFill>
                <a:latin typeface="Calibri" pitchFamily="34" charset="0"/>
                <a:ea typeface="Calibri" pitchFamily="34" charset="-122"/>
                <a:cs typeface="Calibri" pitchFamily="34" charset="-120"/>
              </a:rPr>
              <a:t>Classical and unsafeguarded: no clipping, no bracketed fallback. Newton starts at the left endpoint.</a:t>
            </a:r>
            <a:endParaRPr lang="en-US" sz="1150" dirty="0"/>
          </a:p>
        </p:txBody>
      </p:sp>
      <p:sp>
        <p:nvSpPr>
          <p:cNvPr id="42" name="Shape 40"/>
          <p:cNvSpPr/>
          <p:nvPr/>
        </p:nvSpPr>
        <p:spPr>
          <a:xfrm>
            <a:off x="7040880" y="1673352"/>
            <a:ext cx="3383280" cy="914"/>
          </a:xfrm>
          <a:prstGeom prst="line">
            <a:avLst/>
          </a:prstGeom>
          <a:noFill/>
          <a:ln w="19050">
            <a:solidFill>
              <a:srgbClr val="2E7D4F"/>
            </a:solidFill>
            <a:prstDash val="solid"/>
            <a:tailEnd type="triangle"/>
          </a:ln>
        </p:spPr>
      </p:sp>
      <p:sp>
        <p:nvSpPr>
          <p:cNvPr id="43" name="Shape 41"/>
          <p:cNvSpPr/>
          <p:nvPr/>
        </p:nvSpPr>
        <p:spPr>
          <a:xfrm>
            <a:off x="10424160" y="1673352"/>
            <a:ext cx="914" cy="566928"/>
          </a:xfrm>
          <a:prstGeom prst="line">
            <a:avLst/>
          </a:prstGeom>
          <a:noFill/>
          <a:ln w="19050">
            <a:solidFill>
              <a:srgbClr val="2E7D4F"/>
            </a:solidFill>
            <a:prstDash val="solid"/>
            <a:tailEnd type="triangle"/>
          </a:ln>
        </p:spPr>
      </p:sp>
      <p:sp>
        <p:nvSpPr>
          <p:cNvPr id="44" name="Shape 42"/>
          <p:cNvSpPr/>
          <p:nvPr/>
        </p:nvSpPr>
        <p:spPr>
          <a:xfrm>
            <a:off x="4754880" y="5303520"/>
            <a:ext cx="914" cy="274320"/>
          </a:xfrm>
          <a:prstGeom prst="line">
            <a:avLst/>
          </a:prstGeom>
          <a:noFill/>
          <a:ln w="19050">
            <a:solidFill>
              <a:srgbClr val="2E7D4F"/>
            </a:solidFill>
            <a:prstDash val="solid"/>
            <a:tailEnd type="triangle"/>
          </a:ln>
        </p:spPr>
      </p:sp>
      <p:sp>
        <p:nvSpPr>
          <p:cNvPr id="45" name="Shape 43"/>
          <p:cNvSpPr/>
          <p:nvPr/>
        </p:nvSpPr>
        <p:spPr>
          <a:xfrm>
            <a:off x="548640" y="5577840"/>
            <a:ext cx="11109960" cy="548640"/>
          </a:xfrm>
          <a:prstGeom prst="roundRect">
            <a:avLst>
              <a:gd name="adj" fmla="val 13333"/>
            </a:avLst>
          </a:prstGeom>
          <a:solidFill>
            <a:srgbClr val="E6EFE6"/>
          </a:solidFill>
          <a:ln w="12700">
            <a:solidFill>
              <a:srgbClr val="E6EFE6"/>
            </a:solidFill>
            <a:prstDash val="solid"/>
          </a:ln>
        </p:spPr>
      </p:sp>
      <p:sp>
        <p:nvSpPr>
          <p:cNvPr id="46" name="Text 44"/>
          <p:cNvSpPr/>
          <p:nvPr/>
        </p:nvSpPr>
        <p:spPr>
          <a:xfrm>
            <a:off x="548640" y="5577840"/>
            <a:ext cx="11109960" cy="548640"/>
          </a:xfrm>
          <a:prstGeom prst="rect">
            <a:avLst/>
          </a:prstGeom>
          <a:noFill/>
          <a:ln/>
        </p:spPr>
        <p:txBody>
          <a:bodyPr wrap="square" lIns="635" tIns="635" rIns="635" bIns="635" rtlCol="0" anchor="ctr"/>
          <a:lstStyle/>
          <a:p>
            <a:pPr algn="ctr" indent="0" marL="0">
              <a:buNone/>
            </a:pPr>
            <a:r>
              <a:rPr lang="en-US" sz="1250" b="1" dirty="0">
                <a:solidFill>
                  <a:srgbClr val="1E4D2B"/>
                </a:solidFill>
                <a:latin typeface="Calibri" pitchFamily="34" charset="0"/>
                <a:ea typeface="Calibri" pitchFamily="34" charset="-122"/>
                <a:cs typeface="Calibri" pitchFamily="34" charset="-120"/>
              </a:rPr>
              <a:t>experiment.py — 1 warm-up + 10 timed runs · 80-digit mpmath reference roots · results / comparisons / histories / plots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The Three Policies, As Implemented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proposal gave ideas, not pseudocode; these are our exact definitions</a:t>
            </a:r>
            <a:endParaRPr lang="en-US" sz="1500" dirty="0"/>
          </a:p>
        </p:txBody>
      </p:sp>
      <p:sp>
        <p:nvSpPr>
          <p:cNvPr id="7" name="Shape 5"/>
          <p:cNvSpPr/>
          <p:nvPr/>
        </p:nvSpPr>
        <p:spPr>
          <a:xfrm>
            <a:off x="548640" y="1463040"/>
            <a:ext cx="3520440" cy="4572000"/>
          </a:xfrm>
          <a:prstGeom prst="roundRect">
            <a:avLst>
              <a:gd name="adj" fmla="val 2078"/>
            </a:avLst>
          </a:prstGeom>
          <a:solidFill>
            <a:srgbClr val="FFFFFF"/>
          </a:solidFill>
          <a:ln w="12700">
            <a:solidFill>
              <a:srgbClr val="C9D6C9"/>
            </a:solidFill>
            <a:prstDash val="solid"/>
          </a:ln>
        </p:spPr>
      </p:sp>
      <p:sp>
        <p:nvSpPr>
          <p:cNvPr id="8" name="Shape 6"/>
          <p:cNvSpPr/>
          <p:nvPr/>
        </p:nvSpPr>
        <p:spPr>
          <a:xfrm>
            <a:off x="777240" y="1691640"/>
            <a:ext cx="457200" cy="457200"/>
          </a:xfrm>
          <a:prstGeom prst="ellipse">
            <a:avLst/>
          </a:prstGeom>
          <a:solidFill>
            <a:srgbClr val="E07B30"/>
          </a:solidFill>
          <a:ln w="12700">
            <a:solidFill>
              <a:srgbClr val="E07B30"/>
            </a:solidFill>
            <a:prstDash val="solid"/>
          </a:ln>
        </p:spPr>
      </p:sp>
      <p:sp>
        <p:nvSpPr>
          <p:cNvPr id="9" name="Text 7"/>
          <p:cNvSpPr/>
          <p:nvPr/>
        </p:nvSpPr>
        <p:spPr>
          <a:xfrm>
            <a:off x="77724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32588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Adaptive Threshold</a:t>
            </a:r>
            <a:endParaRPr lang="en-US" sz="1800" dirty="0"/>
          </a:p>
        </p:txBody>
      </p:sp>
      <p:sp>
        <p:nvSpPr>
          <p:cNvPr id="11" name="Text 9"/>
          <p:cNvSpPr/>
          <p:nvPr/>
        </p:nvSpPr>
        <p:spPr>
          <a:xfrm>
            <a:off x="77724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12" name="Text 10"/>
          <p:cNvSpPr/>
          <p:nvPr/>
        </p:nvSpPr>
        <p:spPr>
          <a:xfrm>
            <a:off x="77724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Residual ratio  r = |f_new| / |f_old|</a:t>
            </a:r>
            <a:endParaRPr lang="en-US" sz="1300" dirty="0"/>
          </a:p>
        </p:txBody>
      </p:sp>
      <p:sp>
        <p:nvSpPr>
          <p:cNvPr id="13" name="Shape 11"/>
          <p:cNvSpPr/>
          <p:nvPr/>
        </p:nvSpPr>
        <p:spPr>
          <a:xfrm>
            <a:off x="777240" y="3154680"/>
            <a:ext cx="3063240" cy="1005840"/>
          </a:xfrm>
          <a:prstGeom prst="roundRect">
            <a:avLst>
              <a:gd name="adj" fmla="val 7273"/>
            </a:avLst>
          </a:prstGeom>
          <a:solidFill>
            <a:srgbClr val="E6EFE6"/>
          </a:solidFill>
          <a:ln w="12700">
            <a:solidFill>
              <a:srgbClr val="E6EFE6"/>
            </a:solidFill>
            <a:prstDash val="solid"/>
          </a:ln>
        </p:spPr>
      </p:sp>
      <p:sp>
        <p:nvSpPr>
          <p:cNvPr id="14" name="Text 12"/>
          <p:cNvSpPr/>
          <p:nvPr/>
        </p:nvSpPr>
        <p:spPr>
          <a:xfrm>
            <a:off x="82296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τ = mean of last 3 step ratios</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Take FP if r_F &lt; τ, else trisect</a:t>
            </a:r>
            <a:endParaRPr lang="en-US" sz="1300" dirty="0"/>
          </a:p>
        </p:txBody>
      </p:sp>
      <p:sp>
        <p:nvSpPr>
          <p:cNvPr id="15" name="Text 13"/>
          <p:cNvSpPr/>
          <p:nvPr/>
        </p:nvSpPr>
        <p:spPr>
          <a:xfrm>
            <a:off x="77724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16" name="Text 14"/>
          <p:cNvSpPr/>
          <p:nvPr/>
        </p:nvSpPr>
        <p:spPr>
          <a:xfrm>
            <a:off x="77724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if FP accepted</a:t>
            </a:r>
            <a:endParaRPr lang="en-US" sz="1300" dirty="0"/>
          </a:p>
          <a:p>
            <a:pPr indent="0" marL="0">
              <a:buNone/>
            </a:pPr>
            <a:r>
              <a:rPr lang="en-US" sz="1300" dirty="0">
                <a:solidFill>
                  <a:srgbClr val="333333"/>
                </a:solidFill>
                <a:latin typeface="Calibri" pitchFamily="34" charset="0"/>
                <a:ea typeface="Calibri" pitchFamily="34" charset="-122"/>
                <a:cs typeface="Calibri" pitchFamily="34" charset="-120"/>
              </a:rPr>
              <a:t>3 if rejected (probe still charged)</a:t>
            </a:r>
            <a:endParaRPr lang="en-US" sz="1300" dirty="0"/>
          </a:p>
        </p:txBody>
      </p:sp>
      <p:sp>
        <p:nvSpPr>
          <p:cNvPr id="17" name="Shape 15"/>
          <p:cNvSpPr/>
          <p:nvPr/>
        </p:nvSpPr>
        <p:spPr>
          <a:xfrm>
            <a:off x="777240" y="5212080"/>
            <a:ext cx="3063240" cy="658368"/>
          </a:xfrm>
          <a:prstGeom prst="roundRect">
            <a:avLst>
              <a:gd name="adj" fmla="val 11111"/>
            </a:avLst>
          </a:prstGeom>
          <a:solidFill>
            <a:srgbClr val="FBEDE2"/>
          </a:solidFill>
          <a:ln w="12700">
            <a:solidFill>
              <a:srgbClr val="FBEDE2"/>
            </a:solidFill>
            <a:prstDash val="solid"/>
          </a:ln>
        </p:spPr>
      </p:sp>
      <p:sp>
        <p:nvSpPr>
          <p:cNvPr id="18" name="Text 16"/>
          <p:cNvSpPr/>
          <p:nvPr/>
        </p:nvSpPr>
        <p:spPr>
          <a:xfrm>
            <a:off x="86868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τ starts at 1; the window never sees future information.</a:t>
            </a:r>
            <a:endParaRPr lang="en-US" sz="1200" dirty="0"/>
          </a:p>
        </p:txBody>
      </p:sp>
      <p:sp>
        <p:nvSpPr>
          <p:cNvPr id="19" name="Shape 17"/>
          <p:cNvSpPr/>
          <p:nvPr/>
        </p:nvSpPr>
        <p:spPr>
          <a:xfrm>
            <a:off x="4297680" y="1463040"/>
            <a:ext cx="3520440" cy="4572000"/>
          </a:xfrm>
          <a:prstGeom prst="roundRect">
            <a:avLst>
              <a:gd name="adj" fmla="val 2078"/>
            </a:avLst>
          </a:prstGeom>
          <a:solidFill>
            <a:srgbClr val="FFFFFF"/>
          </a:solidFill>
          <a:ln w="12700">
            <a:solidFill>
              <a:srgbClr val="C9D6C9"/>
            </a:solidFill>
            <a:prstDash val="solid"/>
          </a:ln>
        </p:spPr>
      </p:sp>
      <p:sp>
        <p:nvSpPr>
          <p:cNvPr id="20" name="Shape 18"/>
          <p:cNvSpPr/>
          <p:nvPr/>
        </p:nvSpPr>
        <p:spPr>
          <a:xfrm>
            <a:off x="4526280" y="1691640"/>
            <a:ext cx="457200" cy="457200"/>
          </a:xfrm>
          <a:prstGeom prst="ellipse">
            <a:avLst/>
          </a:prstGeom>
          <a:solidFill>
            <a:srgbClr val="E07B30"/>
          </a:solidFill>
          <a:ln w="12700">
            <a:solidFill>
              <a:srgbClr val="E07B30"/>
            </a:solidFill>
            <a:prstDash val="solid"/>
          </a:ln>
        </p:spPr>
      </p:sp>
      <p:sp>
        <p:nvSpPr>
          <p:cNvPr id="21" name="Text 19"/>
          <p:cNvSpPr/>
          <p:nvPr/>
        </p:nvSpPr>
        <p:spPr>
          <a:xfrm>
            <a:off x="452628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507492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Cost-Aware</a:t>
            </a:r>
            <a:endParaRPr lang="en-US" sz="1800" dirty="0"/>
          </a:p>
        </p:txBody>
      </p:sp>
      <p:sp>
        <p:nvSpPr>
          <p:cNvPr id="23" name="Text 21"/>
          <p:cNvSpPr/>
          <p:nvPr/>
        </p:nvSpPr>
        <p:spPr>
          <a:xfrm>
            <a:off x="452628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24" name="Text 22"/>
          <p:cNvSpPr/>
          <p:nvPr/>
        </p:nvSpPr>
        <p:spPr>
          <a:xfrm>
            <a:off x="452628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Log-progress per function call</a:t>
            </a:r>
            <a:endParaRPr lang="en-US" sz="1300" dirty="0"/>
          </a:p>
        </p:txBody>
      </p:sp>
      <p:sp>
        <p:nvSpPr>
          <p:cNvPr id="25" name="Shape 23"/>
          <p:cNvSpPr/>
          <p:nvPr/>
        </p:nvSpPr>
        <p:spPr>
          <a:xfrm>
            <a:off x="4526280" y="3154680"/>
            <a:ext cx="3063240" cy="1005840"/>
          </a:xfrm>
          <a:prstGeom prst="roundRect">
            <a:avLst>
              <a:gd name="adj" fmla="val 7273"/>
            </a:avLst>
          </a:prstGeom>
          <a:solidFill>
            <a:srgbClr val="E6EFE6"/>
          </a:solidFill>
          <a:ln w="12700">
            <a:solidFill>
              <a:srgbClr val="E6EFE6"/>
            </a:solidFill>
            <a:prstDash val="solid"/>
          </a:ln>
        </p:spPr>
      </p:sp>
      <p:sp>
        <p:nvSpPr>
          <p:cNvPr id="26" name="Text 24"/>
          <p:cNvSpPr/>
          <p:nvPr/>
        </p:nvSpPr>
        <p:spPr>
          <a:xfrm>
            <a:off x="457200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E = [ln e_old − ln e_new] / new calls</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Pick the higher 3-step mean E</a:t>
            </a:r>
            <a:endParaRPr lang="en-US" sz="1300" dirty="0"/>
          </a:p>
        </p:txBody>
      </p:sp>
      <p:sp>
        <p:nvSpPr>
          <p:cNvPr id="27" name="Text 25"/>
          <p:cNvSpPr/>
          <p:nvPr/>
        </p:nvSpPr>
        <p:spPr>
          <a:xfrm>
            <a:off x="452628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28" name="Text 26"/>
          <p:cNvSpPr/>
          <p:nvPr/>
        </p:nvSpPr>
        <p:spPr>
          <a:xfrm>
            <a:off x="452628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(FP) or 2 calls (trisection)</a:t>
            </a:r>
            <a:endParaRPr lang="en-US" sz="1300" dirty="0"/>
          </a:p>
          <a:p>
            <a:pPr indent="0" marL="0">
              <a:buNone/>
            </a:pPr>
            <a:r>
              <a:rPr lang="en-US" sz="1300" dirty="0">
                <a:solidFill>
                  <a:srgbClr val="333333"/>
                </a:solidFill>
                <a:latin typeface="Calibri" pitchFamily="34" charset="0"/>
                <a:ea typeface="Calibri" pitchFamily="34" charset="-122"/>
                <a:cs typeface="Calibri" pitchFamily="34" charset="-120"/>
              </a:rPr>
              <a:t>Bootstrap: FP, then trisection</a:t>
            </a:r>
            <a:endParaRPr lang="en-US" sz="1300" dirty="0"/>
          </a:p>
        </p:txBody>
      </p:sp>
      <p:sp>
        <p:nvSpPr>
          <p:cNvPr id="29" name="Shape 27"/>
          <p:cNvSpPr/>
          <p:nvPr/>
        </p:nvSpPr>
        <p:spPr>
          <a:xfrm>
            <a:off x="4526280" y="5212080"/>
            <a:ext cx="3063240" cy="658368"/>
          </a:xfrm>
          <a:prstGeom prst="roundRect">
            <a:avLst>
              <a:gd name="adj" fmla="val 11111"/>
            </a:avLst>
          </a:prstGeom>
          <a:solidFill>
            <a:srgbClr val="FBEDE2"/>
          </a:solidFill>
          <a:ln w="12700">
            <a:solidFill>
              <a:srgbClr val="FBEDE2"/>
            </a:solidFill>
            <a:prstDash val="solid"/>
          </a:ln>
        </p:spPr>
      </p:sp>
      <p:sp>
        <p:nvSpPr>
          <p:cNvPr id="30" name="Text 28"/>
          <p:cNvSpPr/>
          <p:nvPr/>
        </p:nvSpPr>
        <p:spPr>
          <a:xfrm>
            <a:off x="461772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Greedy: no exploration, so an unused method's estimate can go stale.</a:t>
            </a:r>
            <a:endParaRPr lang="en-US" sz="1200" dirty="0"/>
          </a:p>
        </p:txBody>
      </p:sp>
      <p:sp>
        <p:nvSpPr>
          <p:cNvPr id="31" name="Shape 29"/>
          <p:cNvSpPr/>
          <p:nvPr/>
        </p:nvSpPr>
        <p:spPr>
          <a:xfrm>
            <a:off x="8046720" y="1463040"/>
            <a:ext cx="3520440" cy="4572000"/>
          </a:xfrm>
          <a:prstGeom prst="roundRect">
            <a:avLst>
              <a:gd name="adj" fmla="val 2078"/>
            </a:avLst>
          </a:prstGeom>
          <a:solidFill>
            <a:srgbClr val="FFFFFF"/>
          </a:solidFill>
          <a:ln w="12700">
            <a:solidFill>
              <a:srgbClr val="C9D6C9"/>
            </a:solidFill>
            <a:prstDash val="solid"/>
          </a:ln>
        </p:spPr>
      </p:sp>
      <p:sp>
        <p:nvSpPr>
          <p:cNvPr id="32" name="Shape 30"/>
          <p:cNvSpPr/>
          <p:nvPr/>
        </p:nvSpPr>
        <p:spPr>
          <a:xfrm>
            <a:off x="8275320" y="1691640"/>
            <a:ext cx="457200" cy="457200"/>
          </a:xfrm>
          <a:prstGeom prst="ellipse">
            <a:avLst/>
          </a:prstGeom>
          <a:solidFill>
            <a:srgbClr val="E07B30"/>
          </a:solidFill>
          <a:ln w="12700">
            <a:solidFill>
              <a:srgbClr val="E07B30"/>
            </a:solidFill>
            <a:prstDash val="solid"/>
          </a:ln>
        </p:spPr>
      </p:sp>
      <p:sp>
        <p:nvSpPr>
          <p:cNvPr id="33" name="Text 31"/>
          <p:cNvSpPr/>
          <p:nvPr/>
        </p:nvSpPr>
        <p:spPr>
          <a:xfrm>
            <a:off x="8275320" y="169164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4" name="Text 32"/>
          <p:cNvSpPr/>
          <p:nvPr/>
        </p:nvSpPr>
        <p:spPr>
          <a:xfrm>
            <a:off x="8823960" y="1645920"/>
            <a:ext cx="2606040" cy="548640"/>
          </a:xfrm>
          <a:prstGeom prst="rect">
            <a:avLst/>
          </a:prstGeom>
          <a:noFill/>
          <a:ln/>
        </p:spPr>
        <p:txBody>
          <a:bodyPr wrap="square" lIns="0" tIns="0" rIns="0" bIns="0" rtlCol="0" anchor="ctr"/>
          <a:lstStyle/>
          <a:p>
            <a:pPr indent="0" marL="0">
              <a:buNone/>
            </a:pPr>
            <a:r>
              <a:rPr lang="en-US" sz="1800" b="1" dirty="0">
                <a:solidFill>
                  <a:srgbClr val="1E4D2B"/>
                </a:solidFill>
                <a:latin typeface="Cambria" pitchFamily="34" charset="0"/>
                <a:ea typeface="Cambria" pitchFamily="34" charset="-122"/>
                <a:cs typeface="Cambria" pitchFamily="34" charset="-120"/>
              </a:rPr>
              <a:t>Stagnation-Aware FP</a:t>
            </a:r>
            <a:endParaRPr lang="en-US" sz="1800" dirty="0"/>
          </a:p>
        </p:txBody>
      </p:sp>
      <p:sp>
        <p:nvSpPr>
          <p:cNvPr id="35" name="Text 33"/>
          <p:cNvSpPr/>
          <p:nvPr/>
        </p:nvSpPr>
        <p:spPr>
          <a:xfrm>
            <a:off x="8275320" y="233172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SIGNAL</a:t>
            </a:r>
            <a:endParaRPr lang="en-US" sz="1100" dirty="0"/>
          </a:p>
        </p:txBody>
      </p:sp>
      <p:sp>
        <p:nvSpPr>
          <p:cNvPr id="36" name="Text 34"/>
          <p:cNvSpPr/>
          <p:nvPr/>
        </p:nvSpPr>
        <p:spPr>
          <a:xfrm>
            <a:off x="8275320" y="2578608"/>
            <a:ext cx="3063240" cy="50292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Left / right endpoint reuse counters</a:t>
            </a:r>
            <a:endParaRPr lang="en-US" sz="1300" dirty="0"/>
          </a:p>
        </p:txBody>
      </p:sp>
      <p:sp>
        <p:nvSpPr>
          <p:cNvPr id="37" name="Shape 35"/>
          <p:cNvSpPr/>
          <p:nvPr/>
        </p:nvSpPr>
        <p:spPr>
          <a:xfrm>
            <a:off x="8275320" y="3154680"/>
            <a:ext cx="3063240" cy="1005840"/>
          </a:xfrm>
          <a:prstGeom prst="roundRect">
            <a:avLst>
              <a:gd name="adj" fmla="val 7273"/>
            </a:avLst>
          </a:prstGeom>
          <a:solidFill>
            <a:srgbClr val="E6EFE6"/>
          </a:solidFill>
          <a:ln w="12700">
            <a:solidFill>
              <a:srgbClr val="E6EFE6"/>
            </a:solidFill>
            <a:prstDash val="solid"/>
          </a:ln>
        </p:spPr>
      </p:sp>
      <p:sp>
        <p:nvSpPr>
          <p:cNvPr id="38" name="Text 36"/>
          <p:cNvSpPr/>
          <p:nvPr/>
        </p:nvSpPr>
        <p:spPr>
          <a:xfrm>
            <a:off x="8321040" y="3154680"/>
            <a:ext cx="2971800" cy="1005840"/>
          </a:xfrm>
          <a:prstGeom prst="rect">
            <a:avLst/>
          </a:prstGeom>
          <a:noFill/>
          <a:ln/>
        </p:spPr>
        <p:txBody>
          <a:bodyPr wrap="square" rtlCol="0" anchor="ctr"/>
          <a:lstStyle/>
          <a:p>
            <a:pPr algn="ctr" indent="0" marL="0">
              <a:buNone/>
            </a:pPr>
            <a:r>
              <a:rPr lang="en-US" sz="1300" i="1" dirty="0">
                <a:solidFill>
                  <a:srgbClr val="1E4D2B"/>
                </a:solidFill>
                <a:latin typeface="Cambria" pitchFamily="34" charset="0"/>
                <a:ea typeface="Cambria" pitchFamily="34" charset="-122"/>
                <a:cs typeface="Cambria" pitchFamily="34" charset="-120"/>
              </a:rPr>
              <a:t>If a counter ≥ 3 → trisection step</a:t>
            </a:r>
            <a:endParaRPr lang="en-US" sz="1300" dirty="0"/>
          </a:p>
          <a:p>
            <a:pPr algn="ctr" indent="0" marL="0">
              <a:buNone/>
            </a:pPr>
            <a:r>
              <a:rPr lang="en-US" sz="1300" i="1" dirty="0">
                <a:solidFill>
                  <a:srgbClr val="1E4D2B"/>
                </a:solidFill>
                <a:latin typeface="Cambria" pitchFamily="34" charset="0"/>
                <a:ea typeface="Cambria" pitchFamily="34" charset="-122"/>
                <a:cs typeface="Cambria" pitchFamily="34" charset="-120"/>
              </a:rPr>
              <a:t>Otherwise → false position</a:t>
            </a:r>
            <a:endParaRPr lang="en-US" sz="1300" dirty="0"/>
          </a:p>
        </p:txBody>
      </p:sp>
      <p:sp>
        <p:nvSpPr>
          <p:cNvPr id="39" name="Text 37"/>
          <p:cNvSpPr/>
          <p:nvPr/>
        </p:nvSpPr>
        <p:spPr>
          <a:xfrm>
            <a:off x="8275320" y="4297680"/>
            <a:ext cx="3063240" cy="274320"/>
          </a:xfrm>
          <a:prstGeom prst="rect">
            <a:avLst/>
          </a:prstGeom>
          <a:noFill/>
          <a:ln/>
        </p:spPr>
        <p:txBody>
          <a:bodyPr wrap="square" lIns="635" tIns="635" rIns="635" bIns="635" rtlCol="0" anchor="t"/>
          <a:lstStyle/>
          <a:p>
            <a:pPr indent="0" marL="0">
              <a:buNone/>
            </a:pPr>
            <a:r>
              <a:rPr lang="en-US" sz="1100" b="1" spc="100" kern="0" dirty="0">
                <a:solidFill>
                  <a:srgbClr val="E07B30"/>
                </a:solidFill>
                <a:latin typeface="Calibri" pitchFamily="34" charset="0"/>
                <a:ea typeface="Calibri" pitchFamily="34" charset="-122"/>
                <a:cs typeface="Calibri" pitchFamily="34" charset="-120"/>
              </a:rPr>
              <a:t>NEW f CALLS PER STEP</a:t>
            </a:r>
            <a:endParaRPr lang="en-US" sz="1100" dirty="0"/>
          </a:p>
        </p:txBody>
      </p:sp>
      <p:sp>
        <p:nvSpPr>
          <p:cNvPr id="40" name="Text 38"/>
          <p:cNvSpPr/>
          <p:nvPr/>
        </p:nvSpPr>
        <p:spPr>
          <a:xfrm>
            <a:off x="8275320" y="4553712"/>
            <a:ext cx="3063240" cy="59436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1 call (FP) or 2 calls (forced trisection)</a:t>
            </a:r>
            <a:endParaRPr lang="en-US" sz="1300" dirty="0"/>
          </a:p>
        </p:txBody>
      </p:sp>
      <p:sp>
        <p:nvSpPr>
          <p:cNvPr id="41" name="Shape 39"/>
          <p:cNvSpPr/>
          <p:nvPr/>
        </p:nvSpPr>
        <p:spPr>
          <a:xfrm>
            <a:off x="8275320" y="5212080"/>
            <a:ext cx="3063240" cy="658368"/>
          </a:xfrm>
          <a:prstGeom prst="roundRect">
            <a:avLst>
              <a:gd name="adj" fmla="val 11111"/>
            </a:avLst>
          </a:prstGeom>
          <a:solidFill>
            <a:srgbClr val="FBEDE2"/>
          </a:solidFill>
          <a:ln w="12700">
            <a:solidFill>
              <a:srgbClr val="FBEDE2"/>
            </a:solidFill>
            <a:prstDash val="solid"/>
          </a:ln>
        </p:spPr>
      </p:sp>
      <p:sp>
        <p:nvSpPr>
          <p:cNvPr id="42" name="Text 40"/>
          <p:cNvSpPr/>
          <p:nvPr/>
        </p:nvSpPr>
        <p:spPr>
          <a:xfrm>
            <a:off x="8366760" y="5212080"/>
            <a:ext cx="2880360" cy="658368"/>
          </a:xfrm>
          <a:prstGeom prst="rect">
            <a:avLst/>
          </a:prstGeom>
          <a:noFill/>
          <a:ln/>
        </p:spPr>
        <p:txBody>
          <a:bodyPr wrap="square" lIns="635" tIns="635" rIns="635" bIns="635" rtlCol="0" anchor="ctr"/>
          <a:lstStyle/>
          <a:p>
            <a:pPr indent="0" marL="0">
              <a:buNone/>
            </a:pPr>
            <a:r>
              <a:rPr lang="en-US" sz="1200" dirty="0">
                <a:solidFill>
                  <a:srgbClr val="333333"/>
                </a:solidFill>
                <a:latin typeface="Calibri" pitchFamily="34" charset="0"/>
                <a:ea typeface="Calibri" pitchFamily="34" charset="-122"/>
                <a:cs typeface="Calibri" pitchFamily="34" charset="-120"/>
              </a:rPr>
              <a:t>Reuse limit 2 also tested; counters track real endpoint reuse.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Experimental Setup</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Same equations, tolerance, intervals and counting rules for every method</a:t>
            </a:r>
            <a:endParaRPr lang="en-US" sz="1500" dirty="0"/>
          </a:p>
        </p:txBody>
      </p:sp>
      <p:sp>
        <p:nvSpPr>
          <p:cNvPr id="7" name="Shape 5"/>
          <p:cNvSpPr/>
          <p:nvPr/>
        </p:nvSpPr>
        <p:spPr>
          <a:xfrm>
            <a:off x="548640" y="1463040"/>
            <a:ext cx="3520440" cy="1417320"/>
          </a:xfrm>
          <a:prstGeom prst="roundRect">
            <a:avLst>
              <a:gd name="adj" fmla="val 5161"/>
            </a:avLst>
          </a:prstGeom>
          <a:solidFill>
            <a:srgbClr val="E6EFE6"/>
          </a:solidFill>
          <a:ln w="12700">
            <a:solidFill>
              <a:srgbClr val="E6EFE6"/>
            </a:solidFill>
            <a:prstDash val="solid"/>
          </a:ln>
        </p:spPr>
      </p:sp>
      <p:sp>
        <p:nvSpPr>
          <p:cNvPr id="8" name="Text 6"/>
          <p:cNvSpPr/>
          <p:nvPr/>
        </p:nvSpPr>
        <p:spPr>
          <a:xfrm>
            <a:off x="73152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15</a:t>
            </a:r>
            <a:endParaRPr lang="en-US" sz="3600" dirty="0"/>
          </a:p>
        </p:txBody>
      </p:sp>
      <p:sp>
        <p:nvSpPr>
          <p:cNvPr id="9" name="Text 7"/>
          <p:cNvSpPr/>
          <p:nvPr/>
        </p:nvSpPr>
        <p:spPr>
          <a:xfrm>
            <a:off x="214884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benchmark equations</a:t>
            </a:r>
            <a:endParaRPr lang="en-US" sz="1500" dirty="0"/>
          </a:p>
        </p:txBody>
      </p:sp>
      <p:sp>
        <p:nvSpPr>
          <p:cNvPr id="10" name="Text 8"/>
          <p:cNvSpPr/>
          <p:nvPr/>
        </p:nvSpPr>
        <p:spPr>
          <a:xfrm>
            <a:off x="73152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Table 1 of the base paper, same intervals</a:t>
            </a:r>
            <a:endParaRPr lang="en-US" sz="1200" dirty="0"/>
          </a:p>
        </p:txBody>
      </p:sp>
      <p:sp>
        <p:nvSpPr>
          <p:cNvPr id="11" name="Shape 9"/>
          <p:cNvSpPr/>
          <p:nvPr/>
        </p:nvSpPr>
        <p:spPr>
          <a:xfrm>
            <a:off x="4297680" y="1463040"/>
            <a:ext cx="3520440" cy="1417320"/>
          </a:xfrm>
          <a:prstGeom prst="roundRect">
            <a:avLst>
              <a:gd name="adj" fmla="val 5161"/>
            </a:avLst>
          </a:prstGeom>
          <a:solidFill>
            <a:srgbClr val="E6EFE6"/>
          </a:solidFill>
          <a:ln w="12700">
            <a:solidFill>
              <a:srgbClr val="E6EFE6"/>
            </a:solidFill>
            <a:prstDash val="solid"/>
          </a:ln>
        </p:spPr>
      </p:sp>
      <p:sp>
        <p:nvSpPr>
          <p:cNvPr id="12" name="Text 10"/>
          <p:cNvSpPr/>
          <p:nvPr/>
        </p:nvSpPr>
        <p:spPr>
          <a:xfrm>
            <a:off x="448056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a:t>
            </a:r>
            <a:endParaRPr lang="en-US" sz="3600" dirty="0"/>
          </a:p>
        </p:txBody>
      </p:sp>
      <p:sp>
        <p:nvSpPr>
          <p:cNvPr id="13" name="Text 11"/>
          <p:cNvSpPr/>
          <p:nvPr/>
        </p:nvSpPr>
        <p:spPr>
          <a:xfrm>
            <a:off x="589788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methods</a:t>
            </a:r>
            <a:endParaRPr lang="en-US" sz="1500" dirty="0"/>
          </a:p>
        </p:txBody>
      </p:sp>
      <p:sp>
        <p:nvSpPr>
          <p:cNvPr id="14" name="Text 12"/>
          <p:cNvSpPr/>
          <p:nvPr/>
        </p:nvSpPr>
        <p:spPr>
          <a:xfrm>
            <a:off x="448056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5 classical · 2 static hybrids · 3 adaptive</a:t>
            </a:r>
            <a:endParaRPr lang="en-US" sz="1200" dirty="0"/>
          </a:p>
        </p:txBody>
      </p:sp>
      <p:sp>
        <p:nvSpPr>
          <p:cNvPr id="15" name="Shape 13"/>
          <p:cNvSpPr/>
          <p:nvPr/>
        </p:nvSpPr>
        <p:spPr>
          <a:xfrm>
            <a:off x="8046720" y="1463040"/>
            <a:ext cx="3520440" cy="1417320"/>
          </a:xfrm>
          <a:prstGeom prst="roundRect">
            <a:avLst>
              <a:gd name="adj" fmla="val 5161"/>
            </a:avLst>
          </a:prstGeom>
          <a:solidFill>
            <a:srgbClr val="E6EFE6"/>
          </a:solidFill>
          <a:ln w="12700">
            <a:solidFill>
              <a:srgbClr val="E6EFE6"/>
            </a:solidFill>
            <a:prstDash val="solid"/>
          </a:ln>
        </p:spPr>
      </p:sp>
      <p:sp>
        <p:nvSpPr>
          <p:cNvPr id="16" name="Text 14"/>
          <p:cNvSpPr/>
          <p:nvPr/>
        </p:nvSpPr>
        <p:spPr>
          <a:xfrm>
            <a:off x="8229600" y="15727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10⁻¹⁴</a:t>
            </a:r>
            <a:endParaRPr lang="en-US" sz="3600" dirty="0"/>
          </a:p>
        </p:txBody>
      </p:sp>
      <p:sp>
        <p:nvSpPr>
          <p:cNvPr id="17" name="Text 15"/>
          <p:cNvSpPr/>
          <p:nvPr/>
        </p:nvSpPr>
        <p:spPr>
          <a:xfrm>
            <a:off x="9646920" y="16642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residual tolerance</a:t>
            </a:r>
            <a:endParaRPr lang="en-US" sz="1500" dirty="0"/>
          </a:p>
        </p:txBody>
      </p:sp>
      <p:sp>
        <p:nvSpPr>
          <p:cNvPr id="18" name="Text 16"/>
          <p:cNvSpPr/>
          <p:nvPr/>
        </p:nvSpPr>
        <p:spPr>
          <a:xfrm>
            <a:off x="8229600" y="23317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stop only when |f(x)| ≤ ε; max 1,000 iterations</a:t>
            </a:r>
            <a:endParaRPr lang="en-US" sz="1200" dirty="0"/>
          </a:p>
        </p:txBody>
      </p:sp>
      <p:sp>
        <p:nvSpPr>
          <p:cNvPr id="19" name="Shape 17"/>
          <p:cNvSpPr/>
          <p:nvPr/>
        </p:nvSpPr>
        <p:spPr>
          <a:xfrm>
            <a:off x="548640" y="3063240"/>
            <a:ext cx="3520440" cy="1417320"/>
          </a:xfrm>
          <a:prstGeom prst="roundRect">
            <a:avLst>
              <a:gd name="adj" fmla="val 5161"/>
            </a:avLst>
          </a:prstGeom>
          <a:solidFill>
            <a:srgbClr val="FFFFFF"/>
          </a:solidFill>
          <a:ln w="12700">
            <a:solidFill>
              <a:srgbClr val="C9D6C9"/>
            </a:solidFill>
            <a:prstDash val="solid"/>
          </a:ln>
        </p:spPr>
      </p:sp>
      <p:sp>
        <p:nvSpPr>
          <p:cNvPr id="20" name="Text 18"/>
          <p:cNvSpPr/>
          <p:nvPr/>
        </p:nvSpPr>
        <p:spPr>
          <a:xfrm>
            <a:off x="73152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10</a:t>
            </a:r>
            <a:endParaRPr lang="en-US" sz="3600" dirty="0"/>
          </a:p>
        </p:txBody>
      </p:sp>
      <p:sp>
        <p:nvSpPr>
          <p:cNvPr id="21" name="Text 19"/>
          <p:cNvSpPr/>
          <p:nvPr/>
        </p:nvSpPr>
        <p:spPr>
          <a:xfrm>
            <a:off x="214884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timed runs per pair</a:t>
            </a:r>
            <a:endParaRPr lang="en-US" sz="1500" dirty="0"/>
          </a:p>
        </p:txBody>
      </p:sp>
      <p:sp>
        <p:nvSpPr>
          <p:cNvPr id="22" name="Text 20"/>
          <p:cNvSpPr/>
          <p:nvPr/>
        </p:nvSpPr>
        <p:spPr>
          <a:xfrm>
            <a:off x="73152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after 1 warm-up; method order shuffled (seed 402)</a:t>
            </a:r>
            <a:endParaRPr lang="en-US" sz="1200" dirty="0"/>
          </a:p>
        </p:txBody>
      </p:sp>
      <p:sp>
        <p:nvSpPr>
          <p:cNvPr id="23" name="Shape 21"/>
          <p:cNvSpPr/>
          <p:nvPr/>
        </p:nvSpPr>
        <p:spPr>
          <a:xfrm>
            <a:off x="4297680" y="3063240"/>
            <a:ext cx="3520440" cy="1417320"/>
          </a:xfrm>
          <a:prstGeom prst="roundRect">
            <a:avLst>
              <a:gd name="adj" fmla="val 5161"/>
            </a:avLst>
          </a:prstGeom>
          <a:solidFill>
            <a:srgbClr val="FFFFFF"/>
          </a:solidFill>
          <a:ln w="12700">
            <a:solidFill>
              <a:srgbClr val="C9D6C9"/>
            </a:solidFill>
            <a:prstDash val="solid"/>
          </a:ln>
        </p:spPr>
      </p:sp>
      <p:sp>
        <p:nvSpPr>
          <p:cNvPr id="24" name="Text 22"/>
          <p:cNvSpPr/>
          <p:nvPr/>
        </p:nvSpPr>
        <p:spPr>
          <a:xfrm>
            <a:off x="448056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80</a:t>
            </a:r>
            <a:endParaRPr lang="en-US" sz="3600" dirty="0"/>
          </a:p>
        </p:txBody>
      </p:sp>
      <p:sp>
        <p:nvSpPr>
          <p:cNvPr id="25" name="Text 23"/>
          <p:cNvSpPr/>
          <p:nvPr/>
        </p:nvSpPr>
        <p:spPr>
          <a:xfrm>
            <a:off x="589788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digit reference roots</a:t>
            </a:r>
            <a:endParaRPr lang="en-US" sz="1500" dirty="0"/>
          </a:p>
        </p:txBody>
      </p:sp>
      <p:sp>
        <p:nvSpPr>
          <p:cNvPr id="26" name="Text 24"/>
          <p:cNvSpPr/>
          <p:nvPr/>
        </p:nvSpPr>
        <p:spPr>
          <a:xfrm>
            <a:off x="448056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independent mpmath check of every root</a:t>
            </a:r>
            <a:endParaRPr lang="en-US" sz="1200" dirty="0"/>
          </a:p>
        </p:txBody>
      </p:sp>
      <p:sp>
        <p:nvSpPr>
          <p:cNvPr id="27" name="Shape 25"/>
          <p:cNvSpPr/>
          <p:nvPr/>
        </p:nvSpPr>
        <p:spPr>
          <a:xfrm>
            <a:off x="8046720" y="3063240"/>
            <a:ext cx="3520440" cy="1417320"/>
          </a:xfrm>
          <a:prstGeom prst="roundRect">
            <a:avLst>
              <a:gd name="adj" fmla="val 5161"/>
            </a:avLst>
          </a:prstGeom>
          <a:solidFill>
            <a:srgbClr val="FFFFFF"/>
          </a:solidFill>
          <a:ln w="12700">
            <a:solidFill>
              <a:srgbClr val="C9D6C9"/>
            </a:solidFill>
            <a:prstDash val="solid"/>
          </a:ln>
        </p:spPr>
      </p:sp>
      <p:sp>
        <p:nvSpPr>
          <p:cNvPr id="28" name="Text 26"/>
          <p:cNvSpPr/>
          <p:nvPr/>
        </p:nvSpPr>
        <p:spPr>
          <a:xfrm>
            <a:off x="8229600" y="3172968"/>
            <a:ext cx="1463040" cy="731520"/>
          </a:xfrm>
          <a:prstGeom prst="rect">
            <a:avLst/>
          </a:prstGeom>
          <a:noFill/>
          <a:ln/>
        </p:spPr>
        <p:txBody>
          <a:bodyPr wrap="square" lIns="0" tIns="0" rIns="0" bIns="0" rtlCol="0" anchor="ctr"/>
          <a:lstStyle/>
          <a:p>
            <a:pPr indent="0" marL="0">
              <a:buNone/>
            </a:pPr>
            <a:r>
              <a:rPr lang="en-US" sz="3600" b="1" dirty="0">
                <a:solidFill>
                  <a:srgbClr val="E07B30"/>
                </a:solidFill>
                <a:latin typeface="Cambria" pitchFamily="34" charset="0"/>
                <a:ea typeface="Cambria" pitchFamily="34" charset="-122"/>
                <a:cs typeface="Cambria" pitchFamily="34" charset="-120"/>
              </a:rPr>
              <a:t>17</a:t>
            </a:r>
            <a:endParaRPr lang="en-US" sz="3600" dirty="0"/>
          </a:p>
        </p:txBody>
      </p:sp>
      <p:sp>
        <p:nvSpPr>
          <p:cNvPr id="29" name="Text 27"/>
          <p:cNvSpPr/>
          <p:nvPr/>
        </p:nvSpPr>
        <p:spPr>
          <a:xfrm>
            <a:off x="9646920" y="3264408"/>
            <a:ext cx="1828800" cy="59436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unit tests</a:t>
            </a:r>
            <a:endParaRPr lang="en-US" sz="1500" dirty="0"/>
          </a:p>
        </p:txBody>
      </p:sp>
      <p:sp>
        <p:nvSpPr>
          <p:cNvPr id="30" name="Text 28"/>
          <p:cNvSpPr/>
          <p:nvPr/>
        </p:nvSpPr>
        <p:spPr>
          <a:xfrm>
            <a:off x="8229600" y="3931920"/>
            <a:ext cx="3200400" cy="457200"/>
          </a:xfrm>
          <a:prstGeom prst="rect">
            <a:avLst/>
          </a:prstGeom>
          <a:noFill/>
          <a:ln/>
        </p:spPr>
        <p:txBody>
          <a:bodyPr wrap="square" lIns="635" tIns="635" rIns="635" bIns="635" rtlCol="0" anchor="t"/>
          <a:lstStyle/>
          <a:p>
            <a:pPr indent="0" marL="0">
              <a:buNone/>
            </a:pPr>
            <a:r>
              <a:rPr lang="en-US" sz="1200" dirty="0">
                <a:solidFill>
                  <a:srgbClr val="6B6B6B"/>
                </a:solidFill>
                <a:latin typeface="Calibri" pitchFamily="34" charset="0"/>
                <a:ea typeface="Calibri" pitchFamily="34" charset="-122"/>
                <a:cs typeface="Calibri" pitchFamily="34" charset="-120"/>
              </a:rPr>
              <a:t>roots, call accounting, failures, policy rules</a:t>
            </a:r>
            <a:endParaRPr lang="en-US" sz="1200" dirty="0"/>
          </a:p>
        </p:txBody>
      </p:sp>
      <p:sp>
        <p:nvSpPr>
          <p:cNvPr id="31" name="Shape 29"/>
          <p:cNvSpPr/>
          <p:nvPr/>
        </p:nvSpPr>
        <p:spPr>
          <a:xfrm>
            <a:off x="548640" y="4754880"/>
            <a:ext cx="11109960" cy="1280160"/>
          </a:xfrm>
          <a:prstGeom prst="roundRect">
            <a:avLst>
              <a:gd name="adj" fmla="val 5714"/>
            </a:avLst>
          </a:prstGeom>
          <a:solidFill>
            <a:srgbClr val="FBEDE2"/>
          </a:solidFill>
          <a:ln w="12700">
            <a:solidFill>
              <a:srgbClr val="FBEDE2"/>
            </a:solidFill>
            <a:prstDash val="solid"/>
          </a:ln>
        </p:spPr>
      </p:sp>
      <p:sp>
        <p:nvSpPr>
          <p:cNvPr id="32" name="Text 30"/>
          <p:cNvSpPr/>
          <p:nvPr/>
        </p:nvSpPr>
        <p:spPr>
          <a:xfrm>
            <a:off x="777240" y="4846320"/>
            <a:ext cx="365760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FAIR ACCOUNTING</a:t>
            </a:r>
            <a:endParaRPr lang="en-US" sz="1150" dirty="0"/>
          </a:p>
        </p:txBody>
      </p:sp>
      <p:sp>
        <p:nvSpPr>
          <p:cNvPr id="33" name="Text 31"/>
          <p:cNvSpPr/>
          <p:nvPr/>
        </p:nvSpPr>
        <p:spPr>
          <a:xfrm>
            <a:off x="777240" y="5120640"/>
            <a:ext cx="10698480" cy="868680"/>
          </a:xfrm>
          <a:prstGeom prst="rect">
            <a:avLst/>
          </a:prstGeom>
          <a:noFill/>
          <a:ln/>
        </p:spPr>
        <p:txBody>
          <a:bodyPr wrap="square" rtlCol="0" anchor="t"/>
          <a:lstStyle/>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Every distinct f(x) call counts, including initial endpoints and rejected probes. A cached point is never charged twice.</a:t>
            </a:r>
            <a:endParaRPr lang="en-US" sz="1300" dirty="0"/>
          </a:p>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Failures stay in the totals. Pairwise comparisons use only problems where both methods succeed inside the interval.</a:t>
            </a:r>
            <a:endParaRPr lang="en-US" sz="1300" dirty="0"/>
          </a:p>
          <a:p>
            <a:pPr marL="342900" indent="-342900">
              <a:spcAft>
                <a:spcPts val="200"/>
              </a:spcAft>
              <a:buSzPct val="100000"/>
              <a:buChar char="•"/>
            </a:pPr>
            <a:r>
              <a:rPr lang="en-US" sz="1300" dirty="0">
                <a:solidFill>
                  <a:srgbClr val="333333"/>
                </a:solidFill>
                <a:latin typeface="Calibri" pitchFamily="34" charset="0"/>
                <a:ea typeface="Calibri" pitchFamily="34" charset="-122"/>
                <a:cs typeface="Calibri" pitchFamily="34" charset="-120"/>
              </a:rPr>
              <a:t>Newton's f′ calls are reported separately, not folded into f-call rankings.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Step 1: Reproducing the Base Paper</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Before comparing, we checked that our static hybrids match Tables 8–9</a:t>
            </a:r>
            <a:endParaRPr lang="en-US" sz="1500" dirty="0"/>
          </a:p>
        </p:txBody>
      </p:sp>
      <p:sp>
        <p:nvSpPr>
          <p:cNvPr id="7" name="Shape 5"/>
          <p:cNvSpPr/>
          <p:nvPr/>
        </p:nvSpPr>
        <p:spPr>
          <a:xfrm>
            <a:off x="548640" y="1508760"/>
            <a:ext cx="2743200" cy="2103120"/>
          </a:xfrm>
          <a:prstGeom prst="roundRect">
            <a:avLst>
              <a:gd name="adj" fmla="val 3478"/>
            </a:avLst>
          </a:prstGeom>
          <a:solidFill>
            <a:srgbClr val="E6EFE6"/>
          </a:solidFill>
          <a:ln w="12700">
            <a:solidFill>
              <a:srgbClr val="E6EFE6"/>
            </a:solidFill>
            <a:prstDash val="solid"/>
          </a:ln>
        </p:spPr>
      </p:sp>
      <p:sp>
        <p:nvSpPr>
          <p:cNvPr id="8" name="Text 6"/>
          <p:cNvSpPr/>
          <p:nvPr/>
        </p:nvSpPr>
        <p:spPr>
          <a:xfrm>
            <a:off x="731520" y="1645920"/>
            <a:ext cx="2377440" cy="365760"/>
          </a:xfrm>
          <a:prstGeom prst="rect">
            <a:avLst/>
          </a:prstGeom>
          <a:noFill/>
          <a:ln/>
        </p:spPr>
        <p:txBody>
          <a:bodyPr wrap="square" lIns="635" tIns="635" rIns="635" bIns="635" rtlCol="0" anchor="t"/>
          <a:lstStyle/>
          <a:p>
            <a:pPr algn="ctr" indent="0" marL="0">
              <a:buNone/>
            </a:pPr>
            <a:r>
              <a:rPr lang="en-US" sz="1500" b="1" dirty="0">
                <a:solidFill>
                  <a:srgbClr val="1E4D2B"/>
                </a:solidFill>
                <a:latin typeface="Calibri" pitchFamily="34" charset="0"/>
                <a:ea typeface="Calibri" pitchFamily="34" charset="-122"/>
                <a:cs typeface="Calibri" pitchFamily="34" charset="-120"/>
              </a:rPr>
              <a:t>Static BF</a:t>
            </a:r>
            <a:endParaRPr lang="en-US" sz="1500" dirty="0"/>
          </a:p>
        </p:txBody>
      </p:sp>
      <p:sp>
        <p:nvSpPr>
          <p:cNvPr id="9" name="Text 7"/>
          <p:cNvSpPr/>
          <p:nvPr/>
        </p:nvSpPr>
        <p:spPr>
          <a:xfrm>
            <a:off x="731520" y="2011680"/>
            <a:ext cx="2377440" cy="868680"/>
          </a:xfrm>
          <a:prstGeom prst="rect">
            <a:avLst/>
          </a:prstGeom>
          <a:noFill/>
          <a:ln/>
        </p:spPr>
        <p:txBody>
          <a:bodyPr wrap="square" rtlCol="0" anchor="ctr"/>
          <a:lstStyle/>
          <a:p>
            <a:pPr algn="ctr" indent="0" marL="0">
              <a:buNone/>
            </a:pPr>
            <a:r>
              <a:rPr lang="en-US" sz="4800" b="1" dirty="0">
                <a:solidFill>
                  <a:srgbClr val="1E4D2B"/>
                </a:solidFill>
                <a:latin typeface="Cambria" pitchFamily="34" charset="0"/>
                <a:ea typeface="Cambria" pitchFamily="34" charset="-122"/>
                <a:cs typeface="Cambria" pitchFamily="34" charset="-120"/>
              </a:rPr>
              <a:t>122</a:t>
            </a:r>
            <a:endParaRPr lang="en-US" sz="4800" dirty="0"/>
          </a:p>
        </p:txBody>
      </p:sp>
      <p:sp>
        <p:nvSpPr>
          <p:cNvPr id="10" name="Text 8"/>
          <p:cNvSpPr/>
          <p:nvPr/>
        </p:nvSpPr>
        <p:spPr>
          <a:xfrm>
            <a:off x="731520" y="2971800"/>
            <a:ext cx="2377440" cy="3657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total iterations (paper: 121)</a:t>
            </a:r>
            <a:endParaRPr lang="en-US" sz="1300" dirty="0"/>
          </a:p>
        </p:txBody>
      </p:sp>
      <p:sp>
        <p:nvSpPr>
          <p:cNvPr id="11" name="Shape 9"/>
          <p:cNvSpPr/>
          <p:nvPr/>
        </p:nvSpPr>
        <p:spPr>
          <a:xfrm>
            <a:off x="3474720" y="1508760"/>
            <a:ext cx="2743200" cy="2103120"/>
          </a:xfrm>
          <a:prstGeom prst="roundRect">
            <a:avLst>
              <a:gd name="adj" fmla="val 3478"/>
            </a:avLst>
          </a:prstGeom>
          <a:solidFill>
            <a:srgbClr val="E6EFE6"/>
          </a:solidFill>
          <a:ln w="12700">
            <a:solidFill>
              <a:srgbClr val="E6EFE6"/>
            </a:solidFill>
            <a:prstDash val="solid"/>
          </a:ln>
        </p:spPr>
      </p:sp>
      <p:sp>
        <p:nvSpPr>
          <p:cNvPr id="12" name="Text 10"/>
          <p:cNvSpPr/>
          <p:nvPr/>
        </p:nvSpPr>
        <p:spPr>
          <a:xfrm>
            <a:off x="3657600" y="1645920"/>
            <a:ext cx="2377440" cy="365760"/>
          </a:xfrm>
          <a:prstGeom prst="rect">
            <a:avLst/>
          </a:prstGeom>
          <a:noFill/>
          <a:ln/>
        </p:spPr>
        <p:txBody>
          <a:bodyPr wrap="square" lIns="635" tIns="635" rIns="635" bIns="635" rtlCol="0" anchor="t"/>
          <a:lstStyle/>
          <a:p>
            <a:pPr algn="ctr" indent="0" marL="0">
              <a:buNone/>
            </a:pPr>
            <a:r>
              <a:rPr lang="en-US" sz="1500" b="1" dirty="0">
                <a:solidFill>
                  <a:srgbClr val="1E4D2B"/>
                </a:solidFill>
                <a:latin typeface="Calibri" pitchFamily="34" charset="0"/>
                <a:ea typeface="Calibri" pitchFamily="34" charset="-122"/>
                <a:cs typeface="Calibri" pitchFamily="34" charset="-120"/>
              </a:rPr>
              <a:t>Static TF</a:t>
            </a:r>
            <a:endParaRPr lang="en-US" sz="1500" dirty="0"/>
          </a:p>
        </p:txBody>
      </p:sp>
      <p:sp>
        <p:nvSpPr>
          <p:cNvPr id="13" name="Text 11"/>
          <p:cNvSpPr/>
          <p:nvPr/>
        </p:nvSpPr>
        <p:spPr>
          <a:xfrm>
            <a:off x="3657600" y="2011680"/>
            <a:ext cx="2377440" cy="868680"/>
          </a:xfrm>
          <a:prstGeom prst="rect">
            <a:avLst/>
          </a:prstGeom>
          <a:noFill/>
          <a:ln/>
        </p:spPr>
        <p:txBody>
          <a:bodyPr wrap="square" rtlCol="0" anchor="ctr"/>
          <a:lstStyle/>
          <a:p>
            <a:pPr algn="ctr" indent="0" marL="0">
              <a:buNone/>
            </a:pPr>
            <a:r>
              <a:rPr lang="en-US" sz="4800" b="1" dirty="0">
                <a:solidFill>
                  <a:srgbClr val="1E4D2B"/>
                </a:solidFill>
                <a:latin typeface="Cambria" pitchFamily="34" charset="0"/>
                <a:ea typeface="Cambria" pitchFamily="34" charset="-122"/>
                <a:cs typeface="Cambria" pitchFamily="34" charset="-120"/>
              </a:rPr>
              <a:t>99</a:t>
            </a:r>
            <a:endParaRPr lang="en-US" sz="4800" dirty="0"/>
          </a:p>
        </p:txBody>
      </p:sp>
      <p:sp>
        <p:nvSpPr>
          <p:cNvPr id="14" name="Text 12"/>
          <p:cNvSpPr/>
          <p:nvPr/>
        </p:nvSpPr>
        <p:spPr>
          <a:xfrm>
            <a:off x="3657600" y="2971800"/>
            <a:ext cx="2377440" cy="365760"/>
          </a:xfrm>
          <a:prstGeom prst="rect">
            <a:avLst/>
          </a:prstGeom>
          <a:noFill/>
          <a:ln/>
        </p:spPr>
        <p:txBody>
          <a:bodyPr wrap="square" lIns="635" tIns="635" rIns="635" bIns="635" rtlCol="0" anchor="t"/>
          <a:lstStyle/>
          <a:p>
            <a:pPr algn="ctr" indent="0" marL="0">
              <a:buNone/>
            </a:pPr>
            <a:r>
              <a:rPr lang="en-US" sz="1300" dirty="0">
                <a:solidFill>
                  <a:srgbClr val="6B6B6B"/>
                </a:solidFill>
                <a:latin typeface="Calibri" pitchFamily="34" charset="0"/>
                <a:ea typeface="Calibri" pitchFamily="34" charset="-122"/>
                <a:cs typeface="Calibri" pitchFamily="34" charset="-120"/>
              </a:rPr>
              <a:t>total iterations (paper: 98)</a:t>
            </a:r>
            <a:endParaRPr lang="en-US" sz="1300" dirty="0"/>
          </a:p>
        </p:txBody>
      </p:sp>
      <p:sp>
        <p:nvSpPr>
          <p:cNvPr id="15" name="Shape 13"/>
          <p:cNvSpPr/>
          <p:nvPr/>
        </p:nvSpPr>
        <p:spPr>
          <a:xfrm>
            <a:off x="548640" y="3840480"/>
            <a:ext cx="5669280" cy="1691640"/>
          </a:xfrm>
          <a:prstGeom prst="roundRect">
            <a:avLst>
              <a:gd name="adj" fmla="val 4324"/>
            </a:avLst>
          </a:prstGeom>
          <a:solidFill>
            <a:srgbClr val="FFFFFF"/>
          </a:solidFill>
          <a:ln w="12700">
            <a:solidFill>
              <a:srgbClr val="C9D6C9"/>
            </a:solidFill>
            <a:prstDash val="solid"/>
          </a:ln>
        </p:spPr>
      </p:sp>
      <p:sp>
        <p:nvSpPr>
          <p:cNvPr id="16" name="Text 14"/>
          <p:cNvSpPr/>
          <p:nvPr/>
        </p:nvSpPr>
        <p:spPr>
          <a:xfrm>
            <a:off x="777240" y="3886200"/>
            <a:ext cx="5303520" cy="1600200"/>
          </a:xfrm>
          <a:prstGeom prst="rect">
            <a:avLst/>
          </a:prstGeom>
          <a:noFill/>
          <a:ln/>
        </p:spPr>
        <p:txBody>
          <a:bodyPr wrap="square" rtlCol="0" anchor="ctr"/>
          <a:lstStyle/>
          <a:p>
            <a:pPr indent="0" marL="0">
              <a:buNone/>
            </a:pPr>
            <a:r>
              <a:rPr lang="en-US" sz="2800" b="1" dirty="0">
                <a:solidFill>
                  <a:srgbClr val="E07B30"/>
                </a:solidFill>
                <a:latin typeface="Cambria" pitchFamily="34" charset="0"/>
                <a:ea typeface="Cambria" pitchFamily="34" charset="-122"/>
                <a:cs typeface="Cambria" pitchFamily="34" charset="-120"/>
              </a:rPr>
              <a:t>28 of 30</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per-problem iteration counts match the paper exactly.</a:t>
            </a:r>
            <a:endParaRPr lang="en-US" sz="14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The only difference is P3 (x² − 10), +1 iteration for both hybrids, most likely from floating-point ordering in the false-position formula.</a:t>
            </a:r>
            <a:endParaRPr lang="en-US" sz="1400" dirty="0"/>
          </a:p>
        </p:txBody>
      </p:sp>
      <p:sp>
        <p:nvSpPr>
          <p:cNvPr id="17" name="Shape 15"/>
          <p:cNvSpPr/>
          <p:nvPr/>
        </p:nvSpPr>
        <p:spPr>
          <a:xfrm>
            <a:off x="6583680" y="1508760"/>
            <a:ext cx="5074920" cy="4023360"/>
          </a:xfrm>
          <a:prstGeom prst="roundRect">
            <a:avLst>
              <a:gd name="adj" fmla="val 1818"/>
            </a:avLst>
          </a:prstGeom>
          <a:solidFill>
            <a:srgbClr val="FBEDE2"/>
          </a:solidFill>
          <a:ln w="12700">
            <a:solidFill>
              <a:srgbClr val="E07B30"/>
            </a:solidFill>
            <a:prstDash val="solid"/>
          </a:ln>
        </p:spPr>
      </p:sp>
      <p:sp>
        <p:nvSpPr>
          <p:cNvPr id="18" name="Text 16"/>
          <p:cNvSpPr/>
          <p:nvPr/>
        </p:nvSpPr>
        <p:spPr>
          <a:xfrm>
            <a:off x="6812280" y="1691640"/>
            <a:ext cx="4572000" cy="274320"/>
          </a:xfrm>
          <a:prstGeom prst="rect">
            <a:avLst/>
          </a:prstGeom>
          <a:noFill/>
          <a:ln/>
        </p:spPr>
        <p:txBody>
          <a:bodyPr wrap="square" lIns="635" tIns="635" rIns="635" bIns="635" rtlCol="0" anchor="t"/>
          <a:lstStyle/>
          <a:p>
            <a:pPr indent="0" marL="0">
              <a:buNone/>
            </a:pPr>
            <a:r>
              <a:rPr lang="en-US" sz="1200" b="1" spc="100" kern="0" dirty="0">
                <a:solidFill>
                  <a:srgbClr val="E07B30"/>
                </a:solidFill>
                <a:latin typeface="Calibri" pitchFamily="34" charset="0"/>
                <a:ea typeface="Calibri" pitchFamily="34" charset="-122"/>
                <a:cs typeface="Calibri" pitchFamily="34" charset="-120"/>
              </a:rPr>
              <a:t>WHAT WE FOUND IN THE PAPER</a:t>
            </a:r>
            <a:endParaRPr lang="en-US" sz="1200" dirty="0"/>
          </a:p>
        </p:txBody>
      </p:sp>
      <p:sp>
        <p:nvSpPr>
          <p:cNvPr id="19" name="Text 17"/>
          <p:cNvSpPr/>
          <p:nvPr/>
        </p:nvSpPr>
        <p:spPr>
          <a:xfrm>
            <a:off x="6812280" y="2057400"/>
            <a:ext cx="4663440" cy="3383280"/>
          </a:xfrm>
          <a:prstGeom prst="rect">
            <a:avLst/>
          </a:prstGeom>
          <a:noFill/>
          <a:ln/>
        </p:spPr>
        <p:txBody>
          <a:bodyPr wrap="square" rtlCol="0" anchor="t"/>
          <a:lstStyle/>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Some printed residuals are labelled 0 but are not zero when the displayed root is substituted back in.</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The text around Figures 4–5 attributes P11's behaviour to P4. P4's root in [1, 4] is 2, found in one trisection step.</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Table 2's "error" is the difference between iterates, but the algorithms stop on |f(x)|.</a:t>
            </a:r>
            <a:endParaRPr lang="en-US" sz="1400" dirty="0"/>
          </a:p>
          <a:p>
            <a:pPr marL="342900" indent="-342900">
              <a:spcAft>
                <a:spcPts val="600"/>
              </a:spcAft>
              <a:buSzPct val="100000"/>
              <a:buChar char="•"/>
            </a:pPr>
            <a:r>
              <a:rPr lang="en-US" sz="1400" dirty="0">
                <a:solidFill>
                  <a:srgbClr val="333333"/>
                </a:solidFill>
                <a:latin typeface="Calibri" pitchFamily="34" charset="0"/>
                <a:ea typeface="Calibri" pitchFamily="34" charset="-122"/>
                <a:cs typeface="Calibri" pitchFamily="34" charset="-120"/>
              </a:rPr>
              <a:t>The log₂/log₃ step bounds limit interval width, not the residual stopping criterion.</a:t>
            </a:r>
            <a:endParaRPr lang="en-US" sz="1400" dirty="0"/>
          </a:p>
          <a:p>
            <a:pPr indent="0" marL="0">
              <a:spcAft>
                <a:spcPts val="600"/>
              </a:spcAft>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spcAft>
                <a:spcPts val="600"/>
              </a:spcAft>
              <a:buNone/>
            </a:pPr>
            <a:r>
              <a:rPr lang="en-US" sz="1400" b="1" dirty="0">
                <a:solidFill>
                  <a:srgbClr val="1E4D2B"/>
                </a:solidFill>
                <a:latin typeface="Calibri" pitchFamily="34" charset="0"/>
                <a:ea typeface="Calibri" pitchFamily="34" charset="-122"/>
                <a:cs typeface="Calibri" pitchFamily="34" charset="-120"/>
              </a:rPr>
              <a:t>We report published and measured values side by side and never force a match.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Fewer Iterations ≠ Less Work</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Totals over all 15 equations at ε = 10⁻¹⁴ (every method solves all 15)</a:t>
            </a:r>
            <a:endParaRPr lang="en-US" sz="1500" dirty="0"/>
          </a:p>
        </p:txBody>
      </p:sp>
      <p:graphicFrame>
        <p:nvGraphicFramePr>
          <p:cNvPr id="7" name="Chart 0" descr=""/>
          <p:cNvGraphicFramePr/>
          <p:nvPr/>
        </p:nvGraphicFramePr>
        <p:xfrm>
          <a:off x="457200" y="1417320"/>
          <a:ext cx="7223760" cy="4663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554480"/>
            <a:ext cx="3657600" cy="987552"/>
          </a:xfrm>
          <a:prstGeom prst="roundRect">
            <a:avLst>
              <a:gd name="adj" fmla="val 7407"/>
            </a:avLst>
          </a:prstGeom>
          <a:solidFill>
            <a:srgbClr val="E6EFE6"/>
          </a:solidFill>
          <a:ln w="12700">
            <a:solidFill>
              <a:srgbClr val="E6EFE6"/>
            </a:solidFill>
            <a:prstDash val="solid"/>
          </a:ln>
        </p:spPr>
      </p:sp>
      <p:sp>
        <p:nvSpPr>
          <p:cNvPr id="9" name="Text 6"/>
          <p:cNvSpPr/>
          <p:nvPr/>
        </p:nvSpPr>
        <p:spPr>
          <a:xfrm>
            <a:off x="8138160" y="1554480"/>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Static TF </a:t>
            </a:r>
            <a:pPr indent="0" marL="0">
              <a:buNone/>
            </a:pPr>
            <a:r>
              <a:rPr lang="en-US" sz="1350" dirty="0">
                <a:solidFill>
                  <a:srgbClr val="333333"/>
                </a:solidFill>
                <a:latin typeface="Calibri" pitchFamily="34" charset="0"/>
                <a:ea typeface="Calibri" pitchFamily="34" charset="-122"/>
                <a:cs typeface="Calibri" pitchFamily="34" charset="-120"/>
              </a:rPr>
              <a:t>takes the fewest iterations (99) but spends 325 calls.</a:t>
            </a:r>
            <a:endParaRPr lang="en-US" sz="1350" dirty="0"/>
          </a:p>
        </p:txBody>
      </p:sp>
      <p:sp>
        <p:nvSpPr>
          <p:cNvPr id="10" name="Shape 7"/>
          <p:cNvSpPr/>
          <p:nvPr/>
        </p:nvSpPr>
        <p:spPr>
          <a:xfrm>
            <a:off x="8001000" y="2670048"/>
            <a:ext cx="3657600" cy="987552"/>
          </a:xfrm>
          <a:prstGeom prst="roundRect">
            <a:avLst>
              <a:gd name="adj" fmla="val 7407"/>
            </a:avLst>
          </a:prstGeom>
          <a:solidFill>
            <a:srgbClr val="E6EFE6"/>
          </a:solidFill>
          <a:ln w="12700">
            <a:solidFill>
              <a:srgbClr val="E6EFE6"/>
            </a:solidFill>
            <a:prstDash val="solid"/>
          </a:ln>
        </p:spPr>
      </p:sp>
      <p:sp>
        <p:nvSpPr>
          <p:cNvPr id="11" name="Text 8"/>
          <p:cNvSpPr/>
          <p:nvPr/>
        </p:nvSpPr>
        <p:spPr>
          <a:xfrm>
            <a:off x="8138160" y="2670048"/>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Static BF </a:t>
            </a:r>
            <a:pPr indent="0" marL="0">
              <a:buNone/>
            </a:pPr>
            <a:r>
              <a:rPr lang="en-US" sz="1350" dirty="0">
                <a:solidFill>
                  <a:srgbClr val="333333"/>
                </a:solidFill>
                <a:latin typeface="Calibri" pitchFamily="34" charset="0"/>
                <a:ea typeface="Calibri" pitchFamily="34" charset="-122"/>
                <a:cs typeface="Calibri" pitchFamily="34" charset="-120"/>
              </a:rPr>
              <a:t>is the cheapest in calls (273). No adaptive policy beats it in aggregate at 10⁻¹⁴.</a:t>
            </a:r>
            <a:endParaRPr lang="en-US" sz="1350" dirty="0"/>
          </a:p>
        </p:txBody>
      </p:sp>
      <p:sp>
        <p:nvSpPr>
          <p:cNvPr id="12" name="Shape 9"/>
          <p:cNvSpPr/>
          <p:nvPr/>
        </p:nvSpPr>
        <p:spPr>
          <a:xfrm>
            <a:off x="8001000" y="3785616"/>
            <a:ext cx="3657600" cy="987552"/>
          </a:xfrm>
          <a:prstGeom prst="roundRect">
            <a:avLst>
              <a:gd name="adj" fmla="val 7407"/>
            </a:avLst>
          </a:prstGeom>
          <a:solidFill>
            <a:srgbClr val="FBEDE2"/>
          </a:solidFill>
          <a:ln w="12700">
            <a:solidFill>
              <a:srgbClr val="E07B30"/>
            </a:solidFill>
            <a:prstDash val="solid"/>
          </a:ln>
        </p:spPr>
      </p:sp>
      <p:sp>
        <p:nvSpPr>
          <p:cNvPr id="13" name="Text 10"/>
          <p:cNvSpPr/>
          <p:nvPr/>
        </p:nvSpPr>
        <p:spPr>
          <a:xfrm>
            <a:off x="8138160" y="3785616"/>
            <a:ext cx="3429000" cy="987552"/>
          </a:xfrm>
          <a:prstGeom prst="rect">
            <a:avLst/>
          </a:prstGeom>
          <a:noFill/>
          <a:ln/>
        </p:spPr>
        <p:txBody>
          <a:bodyPr wrap="square" rtlCol="0" anchor="ctr"/>
          <a:lstStyle/>
          <a:p>
            <a:pPr indent="0" marL="0">
              <a:buNone/>
            </a:pPr>
            <a:r>
              <a:rPr lang="en-US" sz="1350" b="1" dirty="0">
                <a:solidFill>
                  <a:srgbClr val="E07B30"/>
                </a:solidFill>
                <a:latin typeface="Calibri" pitchFamily="34" charset="0"/>
                <a:ea typeface="Calibri" pitchFamily="34" charset="-122"/>
                <a:cs typeface="Calibri" pitchFamily="34" charset="-120"/>
              </a:rPr>
              <a:t>Stagnation-aware </a:t>
            </a:r>
            <a:pPr indent="0" marL="0">
              <a:buNone/>
            </a:pPr>
            <a:r>
              <a:rPr lang="en-US" sz="1350" dirty="0">
                <a:solidFill>
                  <a:srgbClr val="333333"/>
                </a:solidFill>
                <a:latin typeface="Calibri" pitchFamily="34" charset="0"/>
                <a:ea typeface="Calibri" pitchFamily="34" charset="-122"/>
                <a:cs typeface="Calibri" pitchFamily="34" charset="-120"/>
              </a:rPr>
              <a:t>is the best of the three policies: 300 calls, 7.7% fewer than Static TF.</a:t>
            </a:r>
            <a:endParaRPr lang="en-US" sz="1350" dirty="0"/>
          </a:p>
        </p:txBody>
      </p:sp>
      <p:sp>
        <p:nvSpPr>
          <p:cNvPr id="14" name="Shape 11"/>
          <p:cNvSpPr/>
          <p:nvPr/>
        </p:nvSpPr>
        <p:spPr>
          <a:xfrm>
            <a:off x="8001000" y="4901184"/>
            <a:ext cx="3657600" cy="987552"/>
          </a:xfrm>
          <a:prstGeom prst="roundRect">
            <a:avLst>
              <a:gd name="adj" fmla="val 7407"/>
            </a:avLst>
          </a:prstGeom>
          <a:solidFill>
            <a:srgbClr val="E6EFE6"/>
          </a:solidFill>
          <a:ln w="12700">
            <a:solidFill>
              <a:srgbClr val="E6EFE6"/>
            </a:solidFill>
            <a:prstDash val="solid"/>
          </a:ln>
        </p:spPr>
      </p:sp>
      <p:sp>
        <p:nvSpPr>
          <p:cNvPr id="15" name="Text 12"/>
          <p:cNvSpPr/>
          <p:nvPr/>
        </p:nvSpPr>
        <p:spPr>
          <a:xfrm>
            <a:off x="8138160" y="4901184"/>
            <a:ext cx="3429000" cy="987552"/>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Adaptive threshold </a:t>
            </a:r>
            <a:pPr indent="0" marL="0">
              <a:buNone/>
            </a:pPr>
            <a:r>
              <a:rPr lang="en-US" sz="1350" dirty="0">
                <a:solidFill>
                  <a:srgbClr val="333333"/>
                </a:solidFill>
                <a:latin typeface="Calibri" pitchFamily="34" charset="0"/>
                <a:ea typeface="Calibri" pitchFamily="34" charset="-122"/>
                <a:cs typeface="Calibri" pitchFamily="34" charset="-120"/>
              </a:rPr>
              <a:t>is the worst: 458 calls, driven by P11 (98 calls alone).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Does Adaptivity Pay? Head-to-Head</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Function evaluations per equation: wins / ties / losses against each static hybrid</a:t>
            </a:r>
            <a:endParaRPr lang="en-US" sz="1500" dirty="0"/>
          </a:p>
        </p:txBody>
      </p:sp>
      <p:graphicFrame>
        <p:nvGraphicFramePr>
          <p:cNvPr id="7" name="Chart 0" descr=""/>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726680" y="1600200"/>
            <a:ext cx="3931920" cy="365760"/>
          </a:xfrm>
          <a:prstGeom prst="rect">
            <a:avLst/>
          </a:prstGeom>
          <a:noFill/>
          <a:ln/>
        </p:spPr>
        <p:txBody>
          <a:bodyPr wrap="square" lIns="635" tIns="635" rIns="635" bIns="635" rtlCol="0" anchor="t"/>
          <a:lstStyle/>
          <a:p>
            <a:pPr indent="0" marL="0">
              <a:buNone/>
            </a:pPr>
            <a:r>
              <a:rPr lang="en-US" sz="1300" b="1" dirty="0">
                <a:solidFill>
                  <a:srgbClr val="1E4D2B"/>
                </a:solidFill>
                <a:latin typeface="Calibri" pitchFamily="34" charset="0"/>
                <a:ea typeface="Calibri" pitchFamily="34" charset="-122"/>
                <a:cs typeface="Calibri" pitchFamily="34" charset="-120"/>
              </a:rPr>
              <a:t>Median f-call ratio  (&lt; 1 favours the policy)</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26680" y="2057400"/>
          <a:ext cx="3931920" cy="914400"/>
        </p:xfrm>
        <a:graphic>
          <a:graphicData uri="http://schemas.openxmlformats.org/drawingml/2006/table">
            <a:tbl>
              <a:tblPr/>
              <a:tblGrid>
                <a:gridCol w="1554480"/>
                <a:gridCol w="1188720"/>
                <a:gridCol w="118872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TF</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vs BF</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solidFill>
                      <a:srgbClr val="1E4D2B"/>
                    </a:solidFill>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Threshold</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1.118</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1.250</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Cost-aware</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0.824</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1.150</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r h="384048">
                <a:tc>
                  <a:txBody>
                    <a:bodyPr/>
                    <a:lstStyle/>
                    <a:p>
                      <a:pPr indent="0" marL="0">
                        <a:buNone/>
                      </a:pPr>
                      <a:r>
                        <a:rPr lang="en-US" sz="1300" dirty="0">
                          <a:solidFill>
                            <a:srgbClr val="333333"/>
                          </a:solidFill>
                          <a:latin typeface="Calibri" pitchFamily="34" charset="0"/>
                          <a:ea typeface="Calibri" pitchFamily="34" charset="-122"/>
                          <a:cs typeface="Calibri" pitchFamily="34" charset="-120"/>
                        </a:rPr>
                        <a:t>Stagnation</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0.885</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1.038</a:t>
                      </a:r>
                      <a:endParaRPr lang="en-US" sz="1300" dirty="0">
                        <a:latin typeface="Calibri" charset="0"/>
                        <a:ea typeface="Calibri" charset="0"/>
                        <a:cs typeface="Calibri" charset="0"/>
                      </a:endParaRPr>
                    </a:p>
                  </a:txBody>
                  <a:tcPr marL="91440" marR="91440" marT="45720" marB="45720" anchor="ctr">
                    <a:lnL w="9525" cap="flat" cmpd="sng" algn="ctr">
                      <a:solidFill>
                        <a:srgbClr val="C9D6C9"/>
                      </a:solidFill>
                      <a:prstDash val="solid"/>
                      <a:round/>
                      <a:headEnd type="none" w="med" len="med"/>
                      <a:tailEnd type="none" w="med" len="med"/>
                    </a:lnL>
                    <a:lnR w="9525" cap="flat" cmpd="sng" algn="ctr">
                      <a:solidFill>
                        <a:srgbClr val="C9D6C9"/>
                      </a:solidFill>
                      <a:prstDash val="solid"/>
                      <a:round/>
                      <a:headEnd type="none" w="med" len="med"/>
                      <a:tailEnd type="none" w="med" len="med"/>
                    </a:lnR>
                    <a:lnT w="9525" cap="flat" cmpd="sng" algn="ctr">
                      <a:solidFill>
                        <a:srgbClr val="C9D6C9"/>
                      </a:solidFill>
                      <a:prstDash val="solid"/>
                      <a:round/>
                      <a:headEnd type="none" w="med" len="med"/>
                      <a:tailEnd type="none" w="med" len="med"/>
                    </a:lnT>
                    <a:lnB w="9525" cap="flat" cmpd="sng" algn="ctr">
                      <a:solidFill>
                        <a:srgbClr val="C9D6C9"/>
                      </a:solidFill>
                      <a:prstDash val="solid"/>
                      <a:round/>
                      <a:headEnd type="none" w="med" len="med"/>
                      <a:tailEnd type="none" w="med" len="med"/>
                    </a:lnB>
                  </a:tcPr>
                </a:tc>
              </a:tr>
            </a:tbl>
          </a:graphicData>
        </a:graphic>
      </p:graphicFrame>
      <p:sp>
        <p:nvSpPr>
          <p:cNvPr id="10" name="Shape 6"/>
          <p:cNvSpPr/>
          <p:nvPr/>
        </p:nvSpPr>
        <p:spPr>
          <a:xfrm>
            <a:off x="7726680" y="3931920"/>
            <a:ext cx="3931920" cy="1920240"/>
          </a:xfrm>
          <a:prstGeom prst="roundRect">
            <a:avLst>
              <a:gd name="adj" fmla="val 3810"/>
            </a:avLst>
          </a:prstGeom>
          <a:solidFill>
            <a:srgbClr val="FBEDE2"/>
          </a:solidFill>
          <a:ln w="12700">
            <a:solidFill>
              <a:srgbClr val="FBEDE2"/>
            </a:solidFill>
            <a:prstDash val="solid"/>
          </a:ln>
        </p:spPr>
      </p:sp>
      <p:sp>
        <p:nvSpPr>
          <p:cNvPr id="11" name="Text 7"/>
          <p:cNvSpPr/>
          <p:nvPr/>
        </p:nvSpPr>
        <p:spPr>
          <a:xfrm>
            <a:off x="7909560" y="3931920"/>
            <a:ext cx="3611880" cy="1920240"/>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Adaptivity beats Static TF</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Stagnation-aware wins 11 of 15 and cost-aware wins 8 of 15.</a:t>
            </a:r>
            <a:endParaRPr lang="en-US" sz="1400" dirty="0"/>
          </a:p>
          <a:p>
            <a:pPr indent="0" marL="0">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E07B30"/>
                </a:solidFill>
                <a:latin typeface="Calibri" pitchFamily="34" charset="0"/>
                <a:ea typeface="Calibri" pitchFamily="34" charset="-122"/>
                <a:cs typeface="Calibri" pitchFamily="34" charset="-120"/>
              </a:rPr>
              <a:t>…but not Static BF</a:t>
            </a:r>
            <a:endParaRPr lang="en-US" sz="1400" dirty="0"/>
          </a:p>
          <a:p>
            <a:pPr indent="0" marL="0">
              <a:buNone/>
            </a:pPr>
            <a:r>
              <a:rPr lang="en-US" sz="1400" dirty="0">
                <a:solidFill>
                  <a:srgbClr val="333333"/>
                </a:solidFill>
                <a:latin typeface="Calibri" pitchFamily="34" charset="0"/>
                <a:ea typeface="Calibri" pitchFamily="34" charset="-122"/>
                <a:cs typeface="Calibri" pitchFamily="34" charset="-120"/>
              </a:rPr>
              <a:t>Every policy loses more often than it wins against BF.</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Where the Calls Go: Per-Equation Cost</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Function evaluations per equation; the cheapest hybrid in each row is highlighted</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914400"/>
        </p:xfrm>
        <a:graphic>
          <a:graphicData uri="http://schemas.openxmlformats.org/drawingml/2006/table">
            <a:tbl>
              <a:tblPr/>
              <a:tblGrid>
                <a:gridCol w="548640"/>
                <a:gridCol w="2011680"/>
                <a:gridCol w="1005840"/>
                <a:gridCol w="1005840"/>
                <a:gridCol w="1005840"/>
                <a:gridCol w="1005840"/>
                <a:gridCol w="1005840"/>
              </a:tblGrid>
              <a:tr h="27432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f(x)</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Static BF</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Static TF</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Threshold</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Cost-aware</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Stagnation</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x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+ 2x − 7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x³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37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59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x·eˣ − 7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 − cos x</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x·sin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x·cos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61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x¹⁰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98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x² + e^(x/2) − 5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sin x · sinh x + 1</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eˣ − 3x − 2</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07B30"/>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P15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indent="0" marL="0">
                        <a:buNone/>
                      </a:pPr>
                      <a:r>
                        <a:rPr lang="en-US" sz="1150" dirty="0">
                          <a:solidFill>
                            <a:srgbClr val="333333"/>
                          </a:solidFill>
                          <a:latin typeface="Calibri" pitchFamily="34" charset="0"/>
                          <a:ea typeface="Calibri" pitchFamily="34" charset="-122"/>
                          <a:cs typeface="Calibri" pitchFamily="34" charset="-120"/>
                        </a:rPr>
                        <a:t>sin x − x²</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2E7D4F"/>
                    </a:solidFill>
                  </a:tcPr>
                </a:tc>
                <a:tc>
                  <a:txBody>
                    <a:bodyPr/>
                    <a:lstStyle/>
                    <a:p>
                      <a:pPr algn="ctr" indent="0" marL="0">
                        <a:buNone/>
                      </a:pPr>
                      <a:r>
                        <a:rPr lang="en-US" sz="1150" dirty="0">
                          <a:solidFill>
                            <a:srgbClr val="333333"/>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274320">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indent="0" marL="0">
                        <a:buNone/>
                      </a:pP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2E7D4F"/>
                          </a:solidFill>
                          <a:latin typeface="Calibri" pitchFamily="34" charset="0"/>
                          <a:ea typeface="Calibri" pitchFamily="34" charset="-122"/>
                          <a:cs typeface="Calibri" pitchFamily="34" charset="-120"/>
                        </a:rPr>
                        <a:t>273</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325</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458</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367</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c>
                  <a:txBody>
                    <a:bodyPr/>
                    <a:lstStyle/>
                    <a:p>
                      <a:pPr algn="ctr" indent="0" marL="0">
                        <a:buNone/>
                      </a:pPr>
                      <a:r>
                        <a:rPr lang="en-US" sz="1150" b="1" dirty="0">
                          <a:solidFill>
                            <a:srgbClr val="1E4D2B"/>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54864" marR="54864" marT="18288" marB="18288"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E6EFE6"/>
                    </a:solidFill>
                  </a:tcPr>
                </a:tc>
              </a:tr>
            </a:tbl>
          </a:graphicData>
        </a:graphic>
      </p:graphicFrame>
      <p:sp>
        <p:nvSpPr>
          <p:cNvPr id="8" name="Shape 5"/>
          <p:cNvSpPr/>
          <p:nvPr/>
        </p:nvSpPr>
        <p:spPr>
          <a:xfrm>
            <a:off x="8412480" y="1417320"/>
            <a:ext cx="3246120" cy="1051560"/>
          </a:xfrm>
          <a:prstGeom prst="roundRect">
            <a:avLst>
              <a:gd name="adj" fmla="val 6957"/>
            </a:avLst>
          </a:prstGeom>
          <a:solidFill>
            <a:srgbClr val="E6EFE6"/>
          </a:solidFill>
          <a:ln w="12700">
            <a:solidFill>
              <a:srgbClr val="E6EFE6"/>
            </a:solidFill>
            <a:prstDash val="solid"/>
          </a:ln>
        </p:spPr>
      </p:sp>
      <p:sp>
        <p:nvSpPr>
          <p:cNvPr id="9" name="Text 6"/>
          <p:cNvSpPr/>
          <p:nvPr/>
        </p:nvSpPr>
        <p:spPr>
          <a:xfrm>
            <a:off x="8549640" y="1417320"/>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No single winner. </a:t>
            </a:r>
            <a:pPr indent="0" marL="0">
              <a:buNone/>
            </a:pPr>
            <a:r>
              <a:rPr lang="en-US" sz="1250" dirty="0">
                <a:solidFill>
                  <a:srgbClr val="333333"/>
                </a:solidFill>
                <a:latin typeface="Calibri" pitchFamily="34" charset="0"/>
                <a:ea typeface="Calibri" pitchFamily="34" charset="-122"/>
                <a:cs typeface="Calibri" pitchFamily="34" charset="-120"/>
              </a:rPr>
              <a:t>Every hybrid is cheapest, or tied for cheapest, on at least one equation.</a:t>
            </a:r>
            <a:endParaRPr lang="en-US" sz="1250" dirty="0"/>
          </a:p>
        </p:txBody>
      </p:sp>
      <p:sp>
        <p:nvSpPr>
          <p:cNvPr id="10" name="Shape 7"/>
          <p:cNvSpPr/>
          <p:nvPr/>
        </p:nvSpPr>
        <p:spPr>
          <a:xfrm>
            <a:off x="8412480" y="2587752"/>
            <a:ext cx="3246120" cy="1051560"/>
          </a:xfrm>
          <a:prstGeom prst="roundRect">
            <a:avLst>
              <a:gd name="adj" fmla="val 6957"/>
            </a:avLst>
          </a:prstGeom>
          <a:solidFill>
            <a:srgbClr val="E6EFE6"/>
          </a:solidFill>
          <a:ln w="12700">
            <a:solidFill>
              <a:srgbClr val="E6EFE6"/>
            </a:solidFill>
            <a:prstDash val="solid"/>
          </a:ln>
        </p:spPr>
      </p:sp>
      <p:sp>
        <p:nvSpPr>
          <p:cNvPr id="11" name="Text 8"/>
          <p:cNvSpPr/>
          <p:nvPr/>
        </p:nvSpPr>
        <p:spPr>
          <a:xfrm>
            <a:off x="8549640" y="2587752"/>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Threshold outliers. </a:t>
            </a:r>
            <a:pPr indent="0" marL="0">
              <a:buNone/>
            </a:pPr>
            <a:r>
              <a:rPr lang="en-US" sz="1250" dirty="0">
                <a:solidFill>
                  <a:srgbClr val="333333"/>
                </a:solidFill>
                <a:latin typeface="Calibri" pitchFamily="34" charset="0"/>
                <a:ea typeface="Calibri" pitchFamily="34" charset="-122"/>
                <a:cs typeface="Calibri" pitchFamily="34" charset="-120"/>
              </a:rPr>
              <a:t>P2, P4, P6, P11, P13 and P14 each cost 37–98 calls (orange).</a:t>
            </a:r>
            <a:endParaRPr lang="en-US" sz="1250" dirty="0"/>
          </a:p>
        </p:txBody>
      </p:sp>
      <p:sp>
        <p:nvSpPr>
          <p:cNvPr id="12" name="Shape 9"/>
          <p:cNvSpPr/>
          <p:nvPr/>
        </p:nvSpPr>
        <p:spPr>
          <a:xfrm>
            <a:off x="8412480" y="3758184"/>
            <a:ext cx="3246120" cy="1051560"/>
          </a:xfrm>
          <a:prstGeom prst="roundRect">
            <a:avLst>
              <a:gd name="adj" fmla="val 6957"/>
            </a:avLst>
          </a:prstGeom>
          <a:solidFill>
            <a:srgbClr val="E6EFE6"/>
          </a:solidFill>
          <a:ln w="12700">
            <a:solidFill>
              <a:srgbClr val="E6EFE6"/>
            </a:solidFill>
            <a:prstDash val="solid"/>
          </a:ln>
        </p:spPr>
      </p:sp>
      <p:sp>
        <p:nvSpPr>
          <p:cNvPr id="13" name="Text 10"/>
          <p:cNvSpPr/>
          <p:nvPr/>
        </p:nvSpPr>
        <p:spPr>
          <a:xfrm>
            <a:off x="8549640" y="3758184"/>
            <a:ext cx="3017520" cy="1051560"/>
          </a:xfrm>
          <a:prstGeom prst="rect">
            <a:avLst/>
          </a:prstGeom>
          <a:noFill/>
          <a:ln/>
        </p:spPr>
        <p:txBody>
          <a:bodyPr wrap="square" rtlCol="0" anchor="ctr"/>
          <a:lstStyle/>
          <a:p>
            <a:pPr indent="0" marL="0">
              <a:buNone/>
            </a:pPr>
            <a:r>
              <a:rPr lang="en-US" sz="1250" b="1" dirty="0">
                <a:solidFill>
                  <a:srgbClr val="1E4D2B"/>
                </a:solidFill>
                <a:latin typeface="Calibri" pitchFamily="34" charset="0"/>
                <a:ea typeface="Calibri" pitchFamily="34" charset="-122"/>
                <a:cs typeface="Calibri" pitchFamily="34" charset="-120"/>
              </a:rPr>
              <a:t>Cost-aware outliers. </a:t>
            </a:r>
            <a:pPr indent="0" marL="0">
              <a:buNone/>
            </a:pPr>
            <a:r>
              <a:rPr lang="en-US" sz="1250" dirty="0">
                <a:solidFill>
                  <a:srgbClr val="333333"/>
                </a:solidFill>
                <a:latin typeface="Calibri" pitchFamily="34" charset="0"/>
                <a:ea typeface="Calibri" pitchFamily="34" charset="-122"/>
                <a:cs typeface="Calibri" pitchFamily="34" charset="-120"/>
              </a:rPr>
              <a:t>P6 (59), P10 (61): after one FP step it trisects 28–29 times. The stale FP estimate is never revisited.</a:t>
            </a:r>
            <a:endParaRPr lang="en-US" sz="1250" dirty="0"/>
          </a:p>
        </p:txBody>
      </p:sp>
      <p:sp>
        <p:nvSpPr>
          <p:cNvPr id="14" name="Shape 11"/>
          <p:cNvSpPr/>
          <p:nvPr/>
        </p:nvSpPr>
        <p:spPr>
          <a:xfrm>
            <a:off x="8412480" y="4928616"/>
            <a:ext cx="3246120" cy="1051560"/>
          </a:xfrm>
          <a:prstGeom prst="roundRect">
            <a:avLst>
              <a:gd name="adj" fmla="val 6957"/>
            </a:avLst>
          </a:prstGeom>
          <a:solidFill>
            <a:srgbClr val="FBEDE2"/>
          </a:solidFill>
          <a:ln w="12700">
            <a:solidFill>
              <a:srgbClr val="E07B30"/>
            </a:solidFill>
            <a:prstDash val="solid"/>
          </a:ln>
        </p:spPr>
      </p:sp>
      <p:sp>
        <p:nvSpPr>
          <p:cNvPr id="15" name="Text 12"/>
          <p:cNvSpPr/>
          <p:nvPr/>
        </p:nvSpPr>
        <p:spPr>
          <a:xfrm>
            <a:off x="8549640" y="4928616"/>
            <a:ext cx="3017520" cy="1051560"/>
          </a:xfrm>
          <a:prstGeom prst="rect">
            <a:avLst/>
          </a:prstGeom>
          <a:noFill/>
          <a:ln/>
        </p:spPr>
        <p:txBody>
          <a:bodyPr wrap="square" rtlCol="0" anchor="ctr"/>
          <a:lstStyle/>
          <a:p>
            <a:pPr indent="0" marL="0">
              <a:buNone/>
            </a:pPr>
            <a:r>
              <a:rPr lang="en-US" sz="1250" b="1" dirty="0">
                <a:solidFill>
                  <a:srgbClr val="E07B30"/>
                </a:solidFill>
                <a:latin typeface="Calibri" pitchFamily="34" charset="0"/>
                <a:ea typeface="Calibri" pitchFamily="34" charset="-122"/>
                <a:cs typeface="Calibri" pitchFamily="34" charset="-120"/>
              </a:rPr>
              <a:t>Stagnation-aware never blows up. </a:t>
            </a:r>
            <a:pPr indent="0" marL="0">
              <a:buNone/>
            </a:pPr>
            <a:r>
              <a:rPr lang="en-US" sz="1250" dirty="0">
                <a:solidFill>
                  <a:srgbClr val="333333"/>
                </a:solidFill>
                <a:latin typeface="Calibri" pitchFamily="34" charset="0"/>
                <a:ea typeface="Calibri" pitchFamily="34" charset="-122"/>
                <a:cs typeface="Calibri" pitchFamily="34" charset="-120"/>
              </a:rPr>
              <a:t>Its worst case is 27 calls (P11), where the proposal's target failure mode occurs.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Case Study: P11, x¹⁰ − 1 on [0, 1.3]</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The one-sided stagnation that motivated the proposal</a:t>
            </a:r>
            <a:endParaRPr lang="en-US" sz="1500" dirty="0"/>
          </a:p>
        </p:txBody>
      </p:sp>
      <p:graphicFrame>
        <p:nvGraphicFramePr>
          <p:cNvPr id="7" name="Chart 0" descr=""/>
          <p:cNvGraphicFramePr/>
          <p:nvPr/>
        </p:nvGraphicFramePr>
        <p:xfrm>
          <a:off x="457200" y="137160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183880" y="1417320"/>
            <a:ext cx="3474720" cy="1069848"/>
          </a:xfrm>
          <a:prstGeom prst="roundRect">
            <a:avLst>
              <a:gd name="adj" fmla="val 6838"/>
            </a:avLst>
          </a:prstGeom>
          <a:solidFill>
            <a:srgbClr val="FFFFFF"/>
          </a:solidFill>
          <a:ln w="12700">
            <a:solidFill>
              <a:srgbClr val="C9D6C9"/>
            </a:solidFill>
            <a:prstDash val="solid"/>
          </a:ln>
        </p:spPr>
      </p:sp>
      <p:sp>
        <p:nvSpPr>
          <p:cNvPr id="9" name="Text 6"/>
          <p:cNvSpPr/>
          <p:nvPr/>
        </p:nvSpPr>
        <p:spPr>
          <a:xfrm>
            <a:off x="8275320" y="141732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141</a:t>
            </a:r>
            <a:endParaRPr lang="en-US" sz="2800" dirty="0"/>
          </a:p>
        </p:txBody>
      </p:sp>
      <p:sp>
        <p:nvSpPr>
          <p:cNvPr id="10" name="Text 7"/>
          <p:cNvSpPr/>
          <p:nvPr/>
        </p:nvSpPr>
        <p:spPr>
          <a:xfrm>
            <a:off x="9144000" y="146304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False position</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keeps the same right endpoint and creeps in from one side</a:t>
            </a:r>
            <a:endParaRPr lang="en-US" sz="1300" dirty="0"/>
          </a:p>
        </p:txBody>
      </p:sp>
      <p:sp>
        <p:nvSpPr>
          <p:cNvPr id="11" name="Shape 8"/>
          <p:cNvSpPr/>
          <p:nvPr/>
        </p:nvSpPr>
        <p:spPr>
          <a:xfrm>
            <a:off x="8183880" y="2606040"/>
            <a:ext cx="3474720" cy="1069848"/>
          </a:xfrm>
          <a:prstGeom prst="roundRect">
            <a:avLst>
              <a:gd name="adj" fmla="val 6838"/>
            </a:avLst>
          </a:prstGeom>
          <a:solidFill>
            <a:srgbClr val="FFFFFF"/>
          </a:solidFill>
          <a:ln w="12700">
            <a:solidFill>
              <a:srgbClr val="C9D6C9"/>
            </a:solidFill>
            <a:prstDash val="solid"/>
          </a:ln>
        </p:spPr>
      </p:sp>
      <p:sp>
        <p:nvSpPr>
          <p:cNvPr id="12" name="Text 9"/>
          <p:cNvSpPr/>
          <p:nvPr/>
        </p:nvSpPr>
        <p:spPr>
          <a:xfrm>
            <a:off x="8275320" y="260604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98</a:t>
            </a:r>
            <a:endParaRPr lang="en-US" sz="2800" dirty="0"/>
          </a:p>
        </p:txBody>
      </p:sp>
      <p:sp>
        <p:nvSpPr>
          <p:cNvPr id="13" name="Text 10"/>
          <p:cNvSpPr/>
          <p:nvPr/>
        </p:nvSpPr>
        <p:spPr>
          <a:xfrm>
            <a:off x="9144000" y="265176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Adaptive threshold</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small but steady improvements keep passing τ, so it follows FP for 79 straight steps</a:t>
            </a:r>
            <a:endParaRPr lang="en-US" sz="1300" dirty="0"/>
          </a:p>
        </p:txBody>
      </p:sp>
      <p:sp>
        <p:nvSpPr>
          <p:cNvPr id="14" name="Shape 11"/>
          <p:cNvSpPr/>
          <p:nvPr/>
        </p:nvSpPr>
        <p:spPr>
          <a:xfrm>
            <a:off x="8183880" y="3794760"/>
            <a:ext cx="3474720" cy="1069848"/>
          </a:xfrm>
          <a:prstGeom prst="roundRect">
            <a:avLst>
              <a:gd name="adj" fmla="val 6838"/>
            </a:avLst>
          </a:prstGeom>
          <a:solidFill>
            <a:srgbClr val="FFFFFF"/>
          </a:solidFill>
          <a:ln w="12700">
            <a:solidFill>
              <a:srgbClr val="C9D6C9"/>
            </a:solidFill>
            <a:prstDash val="solid"/>
          </a:ln>
        </p:spPr>
      </p:sp>
      <p:sp>
        <p:nvSpPr>
          <p:cNvPr id="15" name="Text 12"/>
          <p:cNvSpPr/>
          <p:nvPr/>
        </p:nvSpPr>
        <p:spPr>
          <a:xfrm>
            <a:off x="8275320" y="3794760"/>
            <a:ext cx="868680" cy="1069848"/>
          </a:xfrm>
          <a:prstGeom prst="rect">
            <a:avLst/>
          </a:prstGeom>
          <a:noFill/>
          <a:ln/>
        </p:spPr>
        <p:txBody>
          <a:bodyPr wrap="square" rtlCol="0" anchor="ctr"/>
          <a:lstStyle/>
          <a:p>
            <a:pPr algn="ctr" indent="0" marL="0">
              <a:buNone/>
            </a:pPr>
            <a:r>
              <a:rPr lang="en-US" sz="2800" b="1" dirty="0">
                <a:solidFill>
                  <a:srgbClr val="1E4D2B"/>
                </a:solidFill>
                <a:latin typeface="Cambria" pitchFamily="34" charset="0"/>
                <a:ea typeface="Cambria" pitchFamily="34" charset="-122"/>
                <a:cs typeface="Cambria" pitchFamily="34" charset="-120"/>
              </a:rPr>
              <a:t>44</a:t>
            </a:r>
            <a:endParaRPr lang="en-US" sz="2800" dirty="0"/>
          </a:p>
        </p:txBody>
      </p:sp>
      <p:sp>
        <p:nvSpPr>
          <p:cNvPr id="16" name="Text 13"/>
          <p:cNvSpPr/>
          <p:nvPr/>
        </p:nvSpPr>
        <p:spPr>
          <a:xfrm>
            <a:off x="9144000" y="384048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Cost-aware</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recovers, but its warm-up and noisy estimates cost extra calls</a:t>
            </a:r>
            <a:endParaRPr lang="en-US" sz="1300" dirty="0"/>
          </a:p>
        </p:txBody>
      </p:sp>
      <p:sp>
        <p:nvSpPr>
          <p:cNvPr id="17" name="Shape 14"/>
          <p:cNvSpPr/>
          <p:nvPr/>
        </p:nvSpPr>
        <p:spPr>
          <a:xfrm>
            <a:off x="8183880" y="4983480"/>
            <a:ext cx="3474720" cy="1069848"/>
          </a:xfrm>
          <a:prstGeom prst="roundRect">
            <a:avLst>
              <a:gd name="adj" fmla="val 6838"/>
            </a:avLst>
          </a:prstGeom>
          <a:solidFill>
            <a:srgbClr val="FBEDE2"/>
          </a:solidFill>
          <a:ln w="12700">
            <a:solidFill>
              <a:srgbClr val="E07B30"/>
            </a:solidFill>
            <a:prstDash val="solid"/>
          </a:ln>
        </p:spPr>
      </p:sp>
      <p:sp>
        <p:nvSpPr>
          <p:cNvPr id="18" name="Text 15"/>
          <p:cNvSpPr/>
          <p:nvPr/>
        </p:nvSpPr>
        <p:spPr>
          <a:xfrm>
            <a:off x="8275320" y="4983480"/>
            <a:ext cx="868680" cy="1069848"/>
          </a:xfrm>
          <a:prstGeom prst="rect">
            <a:avLst/>
          </a:prstGeom>
          <a:noFill/>
          <a:ln/>
        </p:spPr>
        <p:txBody>
          <a:bodyPr wrap="square" rtlCol="0" anchor="ctr"/>
          <a:lstStyle/>
          <a:p>
            <a:pPr algn="ctr" indent="0" marL="0">
              <a:buNone/>
            </a:pPr>
            <a:r>
              <a:rPr lang="en-US" sz="2800" b="1" dirty="0">
                <a:solidFill>
                  <a:srgbClr val="E07B30"/>
                </a:solidFill>
                <a:latin typeface="Cambria" pitchFamily="34" charset="0"/>
                <a:ea typeface="Cambria" pitchFamily="34" charset="-122"/>
                <a:cs typeface="Cambria" pitchFamily="34" charset="-120"/>
              </a:rPr>
              <a:t>27</a:t>
            </a:r>
            <a:endParaRPr lang="en-US" sz="2800" dirty="0"/>
          </a:p>
        </p:txBody>
      </p:sp>
      <p:sp>
        <p:nvSpPr>
          <p:cNvPr id="19" name="Text 16"/>
          <p:cNvSpPr/>
          <p:nvPr/>
        </p:nvSpPr>
        <p:spPr>
          <a:xfrm>
            <a:off x="9144000" y="5029200"/>
            <a:ext cx="2468880" cy="978408"/>
          </a:xfrm>
          <a:prstGeom prst="rect">
            <a:avLst/>
          </a:prstGeom>
          <a:noFill/>
          <a:ln/>
        </p:spPr>
        <p:txBody>
          <a:bodyPr wrap="square" rtlCol="0" anchor="ctr"/>
          <a:lstStyle/>
          <a:p>
            <a:pPr indent="0" marL="0">
              <a:buNone/>
            </a:pPr>
            <a:r>
              <a:rPr lang="en-US" sz="1300" b="1" dirty="0">
                <a:solidFill>
                  <a:srgbClr val="1E4D2B"/>
                </a:solidFill>
                <a:latin typeface="Calibri" pitchFamily="34" charset="0"/>
                <a:ea typeface="Calibri" pitchFamily="34" charset="-122"/>
                <a:cs typeface="Calibri" pitchFamily="34" charset="-120"/>
              </a:rPr>
              <a:t>Stagnation-aware</a:t>
            </a:r>
            <a:endParaRPr lang="en-US" sz="1300" dirty="0"/>
          </a:p>
          <a:p>
            <a:pPr indent="0" marL="0">
              <a:buNone/>
            </a:pPr>
            <a:r>
              <a:rPr lang="en-US" sz="1150" dirty="0">
                <a:solidFill>
                  <a:srgbClr val="333333"/>
                </a:solidFill>
                <a:latin typeface="Calibri" pitchFamily="34" charset="0"/>
                <a:ea typeface="Calibri" pitchFamily="34" charset="-122"/>
                <a:cs typeface="Calibri" pitchFamily="34" charset="-120"/>
              </a:rPr>
              <a:t>the reuse counter fires after 3 steps and forces trisection. Cheapest of all methods here.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Sensitivity: Tolerance and Reuse Limit</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Does the answer change with how accurate we ask the root to be?</a:t>
            </a:r>
            <a:endParaRPr lang="en-US" sz="1500" dirty="0"/>
          </a:p>
        </p:txBody>
      </p:sp>
      <p:graphicFrame>
        <p:nvGraphicFramePr>
          <p:cNvPr id="7" name="Chart 0" descr=""/>
          <p:cNvGraphicFramePr/>
          <p:nvPr/>
        </p:nvGraphicFramePr>
        <p:xfrm>
          <a:off x="45720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463040"/>
            <a:ext cx="3657600" cy="1417320"/>
          </a:xfrm>
          <a:prstGeom prst="roundRect">
            <a:avLst>
              <a:gd name="adj" fmla="val 5161"/>
            </a:avLst>
          </a:prstGeom>
          <a:solidFill>
            <a:srgbClr val="FBEDE2"/>
          </a:solidFill>
          <a:ln w="12700">
            <a:solidFill>
              <a:srgbClr val="E07B30"/>
            </a:solidFill>
            <a:prstDash val="solid"/>
          </a:ln>
        </p:spPr>
      </p:sp>
      <p:sp>
        <p:nvSpPr>
          <p:cNvPr id="9" name="Text 6"/>
          <p:cNvSpPr/>
          <p:nvPr/>
        </p:nvSpPr>
        <p:spPr>
          <a:xfrm>
            <a:off x="8183880" y="1463040"/>
            <a:ext cx="3337560" cy="1417320"/>
          </a:xfrm>
          <a:prstGeom prst="rect">
            <a:avLst/>
          </a:prstGeom>
          <a:noFill/>
          <a:ln/>
        </p:spPr>
        <p:txBody>
          <a:bodyPr wrap="square" rtlCol="0" anchor="ctr"/>
          <a:lstStyle/>
          <a:p>
            <a:pPr indent="0" marL="0">
              <a:buNone/>
            </a:pPr>
            <a:r>
              <a:rPr lang="en-US" sz="1350" b="1" dirty="0">
                <a:solidFill>
                  <a:srgbClr val="E07B30"/>
                </a:solidFill>
                <a:latin typeface="Calibri" pitchFamily="34" charset="0"/>
                <a:ea typeface="Calibri" pitchFamily="34" charset="-122"/>
                <a:cs typeface="Calibri" pitchFamily="34" charset="-120"/>
              </a:rPr>
              <a:t>Tolerance matters</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At 10⁻⁶ stagnation-aware is the cheapest method overall (189 vs BF's 196). At 10⁻¹⁰ and 10⁻¹⁴ BF pulls ahead.</a:t>
            </a:r>
            <a:endParaRPr lang="en-US" sz="1350" dirty="0"/>
          </a:p>
        </p:txBody>
      </p:sp>
      <p:sp>
        <p:nvSpPr>
          <p:cNvPr id="10" name="Shape 7"/>
          <p:cNvSpPr/>
          <p:nvPr/>
        </p:nvSpPr>
        <p:spPr>
          <a:xfrm>
            <a:off x="8001000" y="3035808"/>
            <a:ext cx="3657600" cy="1417320"/>
          </a:xfrm>
          <a:prstGeom prst="roundRect">
            <a:avLst>
              <a:gd name="adj" fmla="val 5161"/>
            </a:avLst>
          </a:prstGeom>
          <a:solidFill>
            <a:srgbClr val="E6EFE6"/>
          </a:solidFill>
          <a:ln w="12700">
            <a:solidFill>
              <a:srgbClr val="E6EFE6"/>
            </a:solidFill>
            <a:prstDash val="solid"/>
          </a:ln>
        </p:spPr>
      </p:sp>
      <p:sp>
        <p:nvSpPr>
          <p:cNvPr id="11" name="Text 8"/>
          <p:cNvSpPr/>
          <p:nvPr/>
        </p:nvSpPr>
        <p:spPr>
          <a:xfrm>
            <a:off x="8183880" y="3035808"/>
            <a:ext cx="3337560" cy="1417320"/>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Reuse limit 3 → 2</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Stagnation-aware iterations fall from 222 to 208, but total calls stay at 300. Fewer iterations, same work.</a:t>
            </a:r>
            <a:endParaRPr lang="en-US" sz="1350" dirty="0"/>
          </a:p>
        </p:txBody>
      </p:sp>
      <p:sp>
        <p:nvSpPr>
          <p:cNvPr id="12" name="Shape 9"/>
          <p:cNvSpPr/>
          <p:nvPr/>
        </p:nvSpPr>
        <p:spPr>
          <a:xfrm>
            <a:off x="8001000" y="4608576"/>
            <a:ext cx="3657600" cy="1417320"/>
          </a:xfrm>
          <a:prstGeom prst="roundRect">
            <a:avLst>
              <a:gd name="adj" fmla="val 5161"/>
            </a:avLst>
          </a:prstGeom>
          <a:solidFill>
            <a:srgbClr val="E6EFE6"/>
          </a:solidFill>
          <a:ln w="12700">
            <a:solidFill>
              <a:srgbClr val="E6EFE6"/>
            </a:solidFill>
            <a:prstDash val="solid"/>
          </a:ln>
        </p:spPr>
      </p:sp>
      <p:sp>
        <p:nvSpPr>
          <p:cNvPr id="13" name="Text 10"/>
          <p:cNvSpPr/>
          <p:nvPr/>
        </p:nvSpPr>
        <p:spPr>
          <a:xfrm>
            <a:off x="8183880" y="4608576"/>
            <a:ext cx="3337560" cy="1417320"/>
          </a:xfrm>
          <a:prstGeom prst="rect">
            <a:avLst/>
          </a:prstGeom>
          <a:noFill/>
          <a:ln/>
        </p:spPr>
        <p:txBody>
          <a:bodyPr wrap="square" rtlCol="0" anchor="ctr"/>
          <a:lstStyle/>
          <a:p>
            <a:pPr indent="0" marL="0">
              <a:buNone/>
            </a:pPr>
            <a:r>
              <a:rPr lang="en-US" sz="1350" b="1" dirty="0">
                <a:solidFill>
                  <a:srgbClr val="1E4D2B"/>
                </a:solidFill>
                <a:latin typeface="Calibri" pitchFamily="34" charset="0"/>
                <a:ea typeface="Calibri" pitchFamily="34" charset="-122"/>
                <a:cs typeface="Calibri" pitchFamily="34" charset="-120"/>
              </a:rPr>
              <a:t>Robust at every ε</a:t>
            </a:r>
            <a:endParaRPr lang="en-US" sz="1350" dirty="0"/>
          </a:p>
          <a:p>
            <a:pPr indent="0" marL="0">
              <a:buNone/>
            </a:pPr>
            <a:r>
              <a:rPr lang="en-US" sz="1350" dirty="0">
                <a:solidFill>
                  <a:srgbClr val="333333"/>
                </a:solidFill>
                <a:latin typeface="Calibri" pitchFamily="34" charset="0"/>
                <a:ea typeface="Calibri" pitchFamily="34" charset="-122"/>
                <a:cs typeface="Calibri" pitchFamily="34" charset="-120"/>
              </a:rPr>
              <a:t>All three policies solve all 15 equations at each tested tolerance, with no per-equation tuning.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Classical Baselines and Failures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All results at ε = 10⁻¹⁴; failures are reported, never hidden by a fallback</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2011680"/>
                <a:gridCol w="1005840"/>
                <a:gridCol w="1005840"/>
                <a:gridCol w="1005840"/>
                <a:gridCol w="100584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Solved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Iterations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 calls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 calls</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1E4D2B"/>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Bisection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706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736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Trisection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416</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862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False position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492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522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Newton</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12/15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Secant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07B30"/>
                          </a:solidFill>
                          <a:latin typeface="Calibri" pitchFamily="34" charset="0"/>
                          <a:ea typeface="Calibri" pitchFamily="34" charset="-122"/>
                          <a:cs typeface="Calibri" pitchFamily="34" charset="-120"/>
                        </a:rPr>
                        <a:t>14/15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133</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FFFFF"/>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Static BF</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273</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Static TF</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325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3F7F3"/>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Adaptive threshold</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382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458</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Cost-aware</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245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367</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r h="384048">
                <a:tc>
                  <a:txBody>
                    <a:bodyPr/>
                    <a:lstStyle/>
                    <a:p>
                      <a:pPr algn="l" indent="0" marL="0">
                        <a:buNone/>
                      </a:pPr>
                      <a:r>
                        <a:rPr lang="en-US" sz="1300" b="1" dirty="0">
                          <a:solidFill>
                            <a:srgbClr val="333333"/>
                          </a:solidFill>
                          <a:latin typeface="Calibri" pitchFamily="34" charset="0"/>
                          <a:ea typeface="Calibri" pitchFamily="34" charset="-122"/>
                          <a:cs typeface="Calibri" pitchFamily="34" charset="-120"/>
                        </a:rPr>
                        <a:t>Stagnation-aware</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15/15</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222</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c>
                  <a:txBody>
                    <a:bodyPr/>
                    <a:lstStyle/>
                    <a:p>
                      <a:pPr algn="ctr" indent="0" marL="0">
                        <a:buNone/>
                      </a:pPr>
                      <a:r>
                        <a:rPr lang="en-US" sz="1300" dirty="0">
                          <a:solidFill>
                            <a:srgbClr val="3333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6350" cap="flat" cmpd="sng" algn="ctr">
                      <a:solidFill>
                        <a:srgbClr val="C9D6C9"/>
                      </a:solidFill>
                      <a:prstDash val="solid"/>
                      <a:round/>
                      <a:headEnd type="none" w="med" len="med"/>
                      <a:tailEnd type="none" w="med" len="med"/>
                    </a:lnL>
                    <a:lnR w="6350" cap="flat" cmpd="sng" algn="ctr">
                      <a:solidFill>
                        <a:srgbClr val="C9D6C9"/>
                      </a:solidFill>
                      <a:prstDash val="solid"/>
                      <a:round/>
                      <a:headEnd type="none" w="med" len="med"/>
                      <a:tailEnd type="none" w="med" len="med"/>
                    </a:lnR>
                    <a:lnT w="6350" cap="flat" cmpd="sng" algn="ctr">
                      <a:solidFill>
                        <a:srgbClr val="C9D6C9"/>
                      </a:solidFill>
                      <a:prstDash val="solid"/>
                      <a:round/>
                      <a:headEnd type="none" w="med" len="med"/>
                      <a:tailEnd type="none" w="med" len="med"/>
                    </a:lnT>
                    <a:lnB w="6350" cap="flat" cmpd="sng" algn="ctr">
                      <a:solidFill>
                        <a:srgbClr val="C9D6C9"/>
                      </a:solidFill>
                      <a:prstDash val="solid"/>
                      <a:round/>
                      <a:headEnd type="none" w="med" len="med"/>
                      <a:tailEnd type="none" w="med" len="med"/>
                    </a:lnB>
                    <a:solidFill>
                      <a:srgbClr val="FDF6F0"/>
                    </a:solidFill>
                  </a:tcPr>
                </a:tc>
              </a:tr>
            </a:tbl>
          </a:graphicData>
        </a:graphic>
      </p:graphicFrame>
      <p:sp>
        <p:nvSpPr>
          <p:cNvPr id="8" name="Shape 5"/>
          <p:cNvSpPr/>
          <p:nvPr/>
        </p:nvSpPr>
        <p:spPr>
          <a:xfrm>
            <a:off x="6858000" y="1417320"/>
            <a:ext cx="4800600" cy="1965960"/>
          </a:xfrm>
          <a:prstGeom prst="roundRect">
            <a:avLst>
              <a:gd name="adj" fmla="val 3721"/>
            </a:avLst>
          </a:prstGeom>
          <a:solidFill>
            <a:srgbClr val="FBEDE2"/>
          </a:solidFill>
          <a:ln w="12700">
            <a:solidFill>
              <a:srgbClr val="E07B30"/>
            </a:solidFill>
            <a:prstDash val="solid"/>
          </a:ln>
        </p:spPr>
      </p:sp>
      <p:sp>
        <p:nvSpPr>
          <p:cNvPr id="9" name="Text 6"/>
          <p:cNvSpPr/>
          <p:nvPr/>
        </p:nvSpPr>
        <p:spPr>
          <a:xfrm>
            <a:off x="7086600" y="1554480"/>
            <a:ext cx="4389120" cy="274320"/>
          </a:xfrm>
          <a:prstGeom prst="rect">
            <a:avLst/>
          </a:prstGeom>
          <a:noFill/>
          <a:ln/>
        </p:spPr>
        <p:txBody>
          <a:bodyPr wrap="square" lIns="635" tIns="635" rIns="635" bIns="635" rtlCol="0" anchor="t"/>
          <a:lstStyle/>
          <a:p>
            <a:pPr indent="0" marL="0">
              <a:buNone/>
            </a:pPr>
            <a:r>
              <a:rPr lang="en-US" sz="1150" b="1" spc="100" kern="0" dirty="0">
                <a:solidFill>
                  <a:srgbClr val="E07B30"/>
                </a:solidFill>
                <a:latin typeface="Calibri" pitchFamily="34" charset="0"/>
                <a:ea typeface="Calibri" pitchFamily="34" charset="-122"/>
                <a:cs typeface="Calibri" pitchFamily="34" charset="-120"/>
              </a:rPr>
              <a:t>OPEN-METHOD FAILURES</a:t>
            </a:r>
            <a:endParaRPr lang="en-US" sz="1150" dirty="0"/>
          </a:p>
        </p:txBody>
      </p:sp>
      <p:sp>
        <p:nvSpPr>
          <p:cNvPr id="10" name="Text 7"/>
          <p:cNvSpPr/>
          <p:nvPr/>
        </p:nvSpPr>
        <p:spPr>
          <a:xfrm>
            <a:off x="7086600" y="1828800"/>
            <a:ext cx="4434840" cy="1828800"/>
          </a:xfrm>
          <a:prstGeom prst="rect">
            <a:avLst/>
          </a:prstGeom>
          <a:noFill/>
          <a:ln/>
        </p:spPr>
        <p:txBody>
          <a:bodyPr wrap="square" rtlCol="0" anchor="t"/>
          <a:lstStyle/>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Newton: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f′(a) = 0 at the left endpoint on P6, P9 and P11. On P10 it converges to a valid root outside [−2, 4].</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Secant: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stalls on P11 (x¹⁰ − 1 is flat near 0).</a:t>
            </a:r>
            <a:endParaRPr lang="en-US" sz="1350" dirty="0"/>
          </a:p>
          <a:p>
            <a:pPr indent="0" marL="0">
              <a:spcAft>
                <a:spcPts val="400"/>
              </a:spcAft>
              <a:buNone/>
            </a:pPr>
            <a:r>
              <a:rPr lang="en-US" sz="1350" i="1" dirty="0">
                <a:solidFill>
                  <a:srgbClr val="6B6B6B"/>
                </a:solidFill>
                <a:latin typeface="Calibri" pitchFamily="34" charset="0"/>
                <a:ea typeface="Calibri" pitchFamily="34" charset="-122"/>
                <a:cs typeface="Calibri" pitchFamily="34" charset="-120"/>
              </a:rPr>
              <a:t>The open methods are the fastest when they work, but they carry no guarantee.</a:t>
            </a:r>
            <a:endParaRPr lang="en-US" sz="1350" dirty="0"/>
          </a:p>
        </p:txBody>
      </p:sp>
      <p:sp>
        <p:nvSpPr>
          <p:cNvPr id="11" name="Shape 8"/>
          <p:cNvSpPr/>
          <p:nvPr/>
        </p:nvSpPr>
        <p:spPr>
          <a:xfrm>
            <a:off x="6858000" y="3566160"/>
            <a:ext cx="4800600" cy="2496312"/>
          </a:xfrm>
          <a:prstGeom prst="roundRect">
            <a:avLst>
              <a:gd name="adj" fmla="val 2930"/>
            </a:avLst>
          </a:prstGeom>
          <a:solidFill>
            <a:srgbClr val="E6EFE6"/>
          </a:solidFill>
          <a:ln w="12700">
            <a:solidFill>
              <a:srgbClr val="E6EFE6"/>
            </a:solidFill>
            <a:prstDash val="solid"/>
          </a:ln>
        </p:spPr>
      </p:sp>
      <p:sp>
        <p:nvSpPr>
          <p:cNvPr id="12" name="Text 9"/>
          <p:cNvSpPr/>
          <p:nvPr/>
        </p:nvSpPr>
        <p:spPr>
          <a:xfrm>
            <a:off x="7086600" y="3703320"/>
            <a:ext cx="4389120" cy="274320"/>
          </a:xfrm>
          <a:prstGeom prst="rect">
            <a:avLst/>
          </a:prstGeom>
          <a:noFill/>
          <a:ln/>
        </p:spPr>
        <p:txBody>
          <a:bodyPr wrap="square" lIns="635" tIns="635" rIns="635" bIns="635" rtlCol="0" anchor="t"/>
          <a:lstStyle/>
          <a:p>
            <a:pPr indent="0" marL="0">
              <a:buNone/>
            </a:pPr>
            <a:r>
              <a:rPr lang="en-US" sz="1150" b="1" spc="100" kern="0" dirty="0">
                <a:solidFill>
                  <a:srgbClr val="2E7D4F"/>
                </a:solidFill>
                <a:latin typeface="Calibri" pitchFamily="34" charset="0"/>
                <a:ea typeface="Calibri" pitchFamily="34" charset="-122"/>
                <a:cs typeface="Calibri" pitchFamily="34" charset="-120"/>
              </a:rPr>
              <a:t>STRESS SUITE (5 EXTRA CASES, NOT FROM THE PAPER)</a:t>
            </a:r>
            <a:endParaRPr lang="en-US" sz="1150" dirty="0"/>
          </a:p>
        </p:txBody>
      </p:sp>
      <p:sp>
        <p:nvSpPr>
          <p:cNvPr id="13" name="Text 10"/>
          <p:cNvSpPr/>
          <p:nvPr/>
        </p:nvSpPr>
        <p:spPr>
          <a:xfrm>
            <a:off x="7086600" y="3977640"/>
            <a:ext cx="4434840" cy="2011680"/>
          </a:xfrm>
          <a:prstGeom prst="rect">
            <a:avLst/>
          </a:prstGeom>
          <a:noFill/>
          <a:ln/>
        </p:spPr>
        <p:txBody>
          <a:bodyPr wrap="square" rtlCol="0" anchor="t"/>
          <a:lstStyle/>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eˣ − 1000: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the best binary64 residual is ≈ 2.3×10⁻¹³ &gt; ε, so every bracketed method correctly reports a precision limit.</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x²⁰ − 1, (x − 0.3)³: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plain false position hits the 1,000-iteration cap. All hybrids succeed.</a:t>
            </a:r>
            <a:endParaRPr lang="en-US" sz="1350" dirty="0"/>
          </a:p>
          <a:p>
            <a:pPr indent="0" marL="0">
              <a:spcAft>
                <a:spcPts val="400"/>
              </a:spcAft>
              <a:buNone/>
            </a:pPr>
            <a:r>
              <a:rPr lang="en-US" sz="1350" b="1" dirty="0">
                <a:solidFill>
                  <a:srgbClr val="333333"/>
                </a:solidFill>
                <a:latin typeface="Calibri" pitchFamily="34" charset="0"/>
                <a:ea typeface="Calibri" pitchFamily="34" charset="-122"/>
                <a:cs typeface="Calibri" pitchFamily="34" charset="-120"/>
              </a:rPr>
              <a:t>Flat cubic, scaled quadratic: </a:t>
            </a:r>
            <a:pPr indent="0" marL="0">
              <a:spcAft>
                <a:spcPts val="400"/>
              </a:spcAft>
              <a:buNone/>
            </a:pPr>
            <a:r>
              <a:rPr lang="en-US" sz="1350" dirty="0">
                <a:solidFill>
                  <a:srgbClr val="333333"/>
                </a:solidFill>
                <a:latin typeface="Calibri" pitchFamily="34" charset="0"/>
                <a:ea typeface="Calibri" pitchFamily="34" charset="-122"/>
                <a:cs typeface="Calibri" pitchFamily="34" charset="-120"/>
              </a:rPr>
              <a:t>a tiny residual does not guarantee a tiny root error, so we also report 80-digit root errors.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Wall-Clock Time</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Mean µs per solve over 15 equations, 10 timed runs each (Python, cheap test functions)</a:t>
            </a:r>
            <a:endParaRPr lang="en-US" sz="1500" dirty="0"/>
          </a:p>
        </p:txBody>
      </p:sp>
      <p:graphicFrame>
        <p:nvGraphicFramePr>
          <p:cNvPr id="7" name="Chart 0" descr=""/>
          <p:cNvGraphicFramePr/>
          <p:nvPr/>
        </p:nvGraphicFramePr>
        <p:xfrm>
          <a:off x="45720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01000" y="1554480"/>
            <a:ext cx="3657600" cy="1298448"/>
          </a:xfrm>
          <a:prstGeom prst="roundRect">
            <a:avLst>
              <a:gd name="adj" fmla="val 5634"/>
            </a:avLst>
          </a:prstGeom>
          <a:solidFill>
            <a:srgbClr val="E6EFE6"/>
          </a:solidFill>
          <a:ln w="12700">
            <a:solidFill>
              <a:srgbClr val="E6EFE6"/>
            </a:solidFill>
            <a:prstDash val="solid"/>
          </a:ln>
        </p:spPr>
      </p:sp>
      <p:sp>
        <p:nvSpPr>
          <p:cNvPr id="9" name="Text 6"/>
          <p:cNvSpPr/>
          <p:nvPr/>
        </p:nvSpPr>
        <p:spPr>
          <a:xfrm>
            <a:off x="8138160" y="1554480"/>
            <a:ext cx="3429000" cy="129844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The functions are cheap, </a:t>
            </a:r>
            <a:pPr indent="0" marL="0">
              <a:buNone/>
            </a:pPr>
            <a:r>
              <a:rPr lang="en-US" sz="1400" dirty="0">
                <a:solidFill>
                  <a:srgbClr val="333333"/>
                </a:solidFill>
                <a:latin typeface="Calibri" pitchFamily="34" charset="0"/>
                <a:ea typeface="Calibri" pitchFamily="34" charset="-122"/>
                <a:cs typeface="Calibri" pitchFamily="34" charset="-120"/>
              </a:rPr>
              <a:t>so time mostly measures Python selector overhead, not f(x) cost.</a:t>
            </a:r>
            <a:endParaRPr lang="en-US" sz="1400" dirty="0"/>
          </a:p>
        </p:txBody>
      </p:sp>
      <p:sp>
        <p:nvSpPr>
          <p:cNvPr id="10" name="Shape 7"/>
          <p:cNvSpPr/>
          <p:nvPr/>
        </p:nvSpPr>
        <p:spPr>
          <a:xfrm>
            <a:off x="8001000" y="3035808"/>
            <a:ext cx="3657600" cy="1298448"/>
          </a:xfrm>
          <a:prstGeom prst="roundRect">
            <a:avLst>
              <a:gd name="adj" fmla="val 5634"/>
            </a:avLst>
          </a:prstGeom>
          <a:solidFill>
            <a:srgbClr val="E6EFE6"/>
          </a:solidFill>
          <a:ln w="12700">
            <a:solidFill>
              <a:srgbClr val="E6EFE6"/>
            </a:solidFill>
            <a:prstDash val="solid"/>
          </a:ln>
        </p:spPr>
      </p:sp>
      <p:sp>
        <p:nvSpPr>
          <p:cNvPr id="11" name="Text 8"/>
          <p:cNvSpPr/>
          <p:nvPr/>
        </p:nvSpPr>
        <p:spPr>
          <a:xfrm>
            <a:off x="8138160" y="3035808"/>
            <a:ext cx="3429000" cy="1298448"/>
          </a:xfrm>
          <a:prstGeom prst="rect">
            <a:avLst/>
          </a:prstGeom>
          <a:noFill/>
          <a:ln/>
        </p:spPr>
        <p:txBody>
          <a:bodyPr wrap="square" rtlCol="0" anchor="ctr"/>
          <a:lstStyle/>
          <a:p>
            <a:pPr indent="0" marL="0">
              <a:buNone/>
            </a:pPr>
            <a:r>
              <a:rPr lang="en-US" sz="1400" b="1" dirty="0">
                <a:solidFill>
                  <a:srgbClr val="1E4D2B"/>
                </a:solidFill>
                <a:latin typeface="Calibri" pitchFamily="34" charset="0"/>
                <a:ea typeface="Calibri" pitchFamily="34" charset="-122"/>
                <a:cs typeface="Calibri" pitchFamily="34" charset="-120"/>
              </a:rPr>
              <a:t>Static hybrids are fastest </a:t>
            </a:r>
            <a:pPr indent="0" marL="0">
              <a:buNone/>
            </a:pPr>
            <a:r>
              <a:rPr lang="en-US" sz="1400" dirty="0">
                <a:solidFill>
                  <a:srgbClr val="333333"/>
                </a:solidFill>
                <a:latin typeface="Calibri" pitchFamily="34" charset="0"/>
                <a:ea typeface="Calibri" pitchFamily="34" charset="-122"/>
                <a:cs typeface="Calibri" pitchFamily="34" charset="-120"/>
              </a:rPr>
              <a:t>among guaranteed methods (56–59 µs). Stagnation-aware is next at 81 µs.</a:t>
            </a:r>
            <a:endParaRPr lang="en-US" sz="1400" dirty="0"/>
          </a:p>
        </p:txBody>
      </p:sp>
      <p:sp>
        <p:nvSpPr>
          <p:cNvPr id="12" name="Shape 9"/>
          <p:cNvSpPr/>
          <p:nvPr/>
        </p:nvSpPr>
        <p:spPr>
          <a:xfrm>
            <a:off x="8001000" y="4517136"/>
            <a:ext cx="3657600" cy="1298448"/>
          </a:xfrm>
          <a:prstGeom prst="roundRect">
            <a:avLst>
              <a:gd name="adj" fmla="val 5634"/>
            </a:avLst>
          </a:prstGeom>
          <a:solidFill>
            <a:srgbClr val="FBEDE2"/>
          </a:solidFill>
          <a:ln w="12700">
            <a:solidFill>
              <a:srgbClr val="E07B30"/>
            </a:solidFill>
            <a:prstDash val="solid"/>
          </a:ln>
        </p:spPr>
      </p:sp>
      <p:sp>
        <p:nvSpPr>
          <p:cNvPr id="13" name="Text 10"/>
          <p:cNvSpPr/>
          <p:nvPr/>
        </p:nvSpPr>
        <p:spPr>
          <a:xfrm>
            <a:off x="8138160" y="4517136"/>
            <a:ext cx="3429000" cy="1298448"/>
          </a:xfrm>
          <a:prstGeom prst="rect">
            <a:avLst/>
          </a:prstGeom>
          <a:noFill/>
          <a:ln/>
        </p:spPr>
        <p:txBody>
          <a:bodyPr wrap="square" rtlCol="0" anchor="ctr"/>
          <a:lstStyle/>
          <a:p>
            <a:pPr indent="0" marL="0">
              <a:buNone/>
            </a:pPr>
            <a:r>
              <a:rPr lang="en-US" sz="1400" b="1" dirty="0">
                <a:solidFill>
                  <a:srgbClr val="E07B30"/>
                </a:solidFill>
                <a:latin typeface="Calibri" pitchFamily="34" charset="0"/>
                <a:ea typeface="Calibri" pitchFamily="34" charset="-122"/>
                <a:cs typeface="Calibri" pitchFamily="34" charset="-120"/>
              </a:rPr>
              <a:t>Saving calls pays off only </a:t>
            </a:r>
            <a:pPr indent="0" marL="0">
              <a:buNone/>
            </a:pPr>
            <a:r>
              <a:rPr lang="en-US" sz="1400" dirty="0">
                <a:solidFill>
                  <a:srgbClr val="333333"/>
                </a:solidFill>
                <a:latin typeface="Calibri" pitchFamily="34" charset="0"/>
                <a:ea typeface="Calibri" pitchFamily="34" charset="-122"/>
                <a:cs typeface="Calibri" pitchFamily="34" charset="-120"/>
              </a:rPr>
              <a:t>when f(x) is expensive (simulations, integrals). We make no claim for such workloads.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Conclusions</a:t>
            </a:r>
            <a:endParaRPr lang="en-US" sz="3200" dirty="0"/>
          </a:p>
        </p:txBody>
      </p:sp>
      <p:sp>
        <p:nvSpPr>
          <p:cNvPr id="6" name="Text 4"/>
          <p:cNvSpPr/>
          <p:nvPr/>
        </p:nvSpPr>
        <p:spPr>
          <a:xfrm>
            <a:off x="777240" y="896112"/>
            <a:ext cx="10607040" cy="365760"/>
          </a:xfrm>
          <a:prstGeom prst="rect">
            <a:avLst/>
          </a:prstGeom>
          <a:noFill/>
          <a:ln/>
        </p:spPr>
        <p:txBody>
          <a:bodyPr wrap="square" lIns="0" tIns="0" rIns="0" bIns="0" rtlCol="0" anchor="ctr"/>
          <a:lstStyle/>
          <a:p>
            <a:pPr indent="0" marL="0">
              <a:buNone/>
            </a:pPr>
            <a:r>
              <a:rPr lang="en-US" sz="1500" i="1" dirty="0">
                <a:solidFill>
                  <a:srgbClr val="6B6B6B"/>
                </a:solidFill>
                <a:latin typeface="Calibri" pitchFamily="34" charset="0"/>
                <a:ea typeface="Calibri" pitchFamily="34" charset="-122"/>
                <a:cs typeface="Calibri" pitchFamily="34" charset="-120"/>
              </a:rPr>
              <a:t>Our answer to the research question</a:t>
            </a:r>
            <a:endParaRPr lang="en-US" sz="1500" dirty="0"/>
          </a:p>
        </p:txBody>
      </p:sp>
      <p:sp>
        <p:nvSpPr>
          <p:cNvPr id="7" name="Shape 5"/>
          <p:cNvSpPr/>
          <p:nvPr/>
        </p:nvSpPr>
        <p:spPr>
          <a:xfrm>
            <a:off x="548640" y="1417320"/>
            <a:ext cx="11109960" cy="1234440"/>
          </a:xfrm>
          <a:prstGeom prst="roundRect">
            <a:avLst>
              <a:gd name="adj" fmla="val 5926"/>
            </a:avLst>
          </a:prstGeom>
          <a:solidFill>
            <a:srgbClr val="1E4D2B"/>
          </a:solidFill>
          <a:ln w="12700">
            <a:solidFill>
              <a:srgbClr val="1E4D2B"/>
            </a:solidFill>
            <a:prstDash val="solid"/>
          </a:ln>
        </p:spPr>
      </p:sp>
      <p:sp>
        <p:nvSpPr>
          <p:cNvPr id="8" name="Text 6"/>
          <p:cNvSpPr/>
          <p:nvPr/>
        </p:nvSpPr>
        <p:spPr>
          <a:xfrm>
            <a:off x="822960" y="1417320"/>
            <a:ext cx="10607040" cy="12344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Endpoint stagnation is the right signal to adapt on. But adaptivity is not an unconditional win: at tight tolerances, Static BF is still cheaper.</a:t>
            </a:r>
            <a:endParaRPr lang="en-US" sz="2000" dirty="0"/>
          </a:p>
        </p:txBody>
      </p:sp>
      <p:sp>
        <p:nvSpPr>
          <p:cNvPr id="9" name="Shape 7"/>
          <p:cNvSpPr/>
          <p:nvPr/>
        </p:nvSpPr>
        <p:spPr>
          <a:xfrm>
            <a:off x="548640" y="2926080"/>
            <a:ext cx="5486400" cy="1298448"/>
          </a:xfrm>
          <a:prstGeom prst="roundRect">
            <a:avLst>
              <a:gd name="adj" fmla="val 5634"/>
            </a:avLst>
          </a:prstGeom>
          <a:solidFill>
            <a:srgbClr val="FBEDE2"/>
          </a:solidFill>
          <a:ln w="12700">
            <a:solidFill>
              <a:srgbClr val="E07B30"/>
            </a:solidFill>
            <a:prstDash val="solid"/>
          </a:ln>
        </p:spPr>
      </p:sp>
      <p:sp>
        <p:nvSpPr>
          <p:cNvPr id="10" name="Shape 8"/>
          <p:cNvSpPr/>
          <p:nvPr/>
        </p:nvSpPr>
        <p:spPr>
          <a:xfrm>
            <a:off x="731520" y="3108960"/>
            <a:ext cx="411480" cy="411480"/>
          </a:xfrm>
          <a:prstGeom prst="ellipse">
            <a:avLst/>
          </a:prstGeom>
          <a:solidFill>
            <a:srgbClr val="E07B30"/>
          </a:solidFill>
          <a:ln w="12700">
            <a:solidFill>
              <a:srgbClr val="E07B30"/>
            </a:solidFill>
            <a:prstDash val="solid"/>
          </a:ln>
        </p:spPr>
      </p:sp>
      <p:sp>
        <p:nvSpPr>
          <p:cNvPr id="11" name="Text 9"/>
          <p:cNvSpPr/>
          <p:nvPr/>
        </p:nvSpPr>
        <p:spPr>
          <a:xfrm>
            <a:off x="731520" y="31089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280160" y="306324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Stagnation-aware is the best policy</a:t>
            </a:r>
            <a:endParaRPr lang="en-US" sz="1500" dirty="0"/>
          </a:p>
        </p:txBody>
      </p:sp>
      <p:sp>
        <p:nvSpPr>
          <p:cNvPr id="13" name="Text 11"/>
          <p:cNvSpPr/>
          <p:nvPr/>
        </p:nvSpPr>
        <p:spPr>
          <a:xfrm>
            <a:off x="1280160" y="352044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300 calls vs 325 for Static TF (−7.7%), winning 11 of 15 equations. Never catastrophic: worst case 27 calls.</a:t>
            </a:r>
            <a:endParaRPr lang="en-US" sz="1300" dirty="0"/>
          </a:p>
        </p:txBody>
      </p:sp>
      <p:sp>
        <p:nvSpPr>
          <p:cNvPr id="14" name="Shape 12"/>
          <p:cNvSpPr/>
          <p:nvPr/>
        </p:nvSpPr>
        <p:spPr>
          <a:xfrm>
            <a:off x="6172200" y="2926080"/>
            <a:ext cx="5486400" cy="1298448"/>
          </a:xfrm>
          <a:prstGeom prst="roundRect">
            <a:avLst>
              <a:gd name="adj" fmla="val 5634"/>
            </a:avLst>
          </a:prstGeom>
          <a:solidFill>
            <a:srgbClr val="FFFFFF"/>
          </a:solidFill>
          <a:ln w="12700">
            <a:solidFill>
              <a:srgbClr val="C9D6C9"/>
            </a:solidFill>
            <a:prstDash val="solid"/>
          </a:ln>
        </p:spPr>
      </p:sp>
      <p:sp>
        <p:nvSpPr>
          <p:cNvPr id="15" name="Shape 13"/>
          <p:cNvSpPr/>
          <p:nvPr/>
        </p:nvSpPr>
        <p:spPr>
          <a:xfrm>
            <a:off x="6355080" y="3108960"/>
            <a:ext cx="411480" cy="411480"/>
          </a:xfrm>
          <a:prstGeom prst="ellipse">
            <a:avLst/>
          </a:prstGeom>
          <a:solidFill>
            <a:srgbClr val="E07B30"/>
          </a:solidFill>
          <a:ln w="12700">
            <a:solidFill>
              <a:srgbClr val="E07B30"/>
            </a:solidFill>
            <a:prstDash val="solid"/>
          </a:ln>
        </p:spPr>
      </p:sp>
      <p:sp>
        <p:nvSpPr>
          <p:cNvPr id="16" name="Text 14"/>
          <p:cNvSpPr/>
          <p:nvPr/>
        </p:nvSpPr>
        <p:spPr>
          <a:xfrm>
            <a:off x="6355080" y="31089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6903720" y="306324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Residual-ratio thresholds miss endpoint locking</a:t>
            </a:r>
            <a:endParaRPr lang="en-US" sz="1500" dirty="0"/>
          </a:p>
        </p:txBody>
      </p:sp>
      <p:sp>
        <p:nvSpPr>
          <p:cNvPr id="18" name="Text 16"/>
          <p:cNvSpPr/>
          <p:nvPr/>
        </p:nvSpPr>
        <p:spPr>
          <a:xfrm>
            <a:off x="6903720" y="352044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Steady, small improvements keep passing τ. On P11 the threshold policy needs 98 calls.</a:t>
            </a:r>
            <a:endParaRPr lang="en-US" sz="1300" dirty="0"/>
          </a:p>
        </p:txBody>
      </p:sp>
      <p:sp>
        <p:nvSpPr>
          <p:cNvPr id="19" name="Shape 17"/>
          <p:cNvSpPr/>
          <p:nvPr/>
        </p:nvSpPr>
        <p:spPr>
          <a:xfrm>
            <a:off x="548640" y="4389120"/>
            <a:ext cx="5486400" cy="1298448"/>
          </a:xfrm>
          <a:prstGeom prst="roundRect">
            <a:avLst>
              <a:gd name="adj" fmla="val 5634"/>
            </a:avLst>
          </a:prstGeom>
          <a:solidFill>
            <a:srgbClr val="FFFFFF"/>
          </a:solidFill>
          <a:ln w="12700">
            <a:solidFill>
              <a:srgbClr val="C9D6C9"/>
            </a:solidFill>
            <a:prstDash val="solid"/>
          </a:ln>
        </p:spPr>
      </p:sp>
      <p:sp>
        <p:nvSpPr>
          <p:cNvPr id="20" name="Shape 18"/>
          <p:cNvSpPr/>
          <p:nvPr/>
        </p:nvSpPr>
        <p:spPr>
          <a:xfrm>
            <a:off x="731520" y="4572000"/>
            <a:ext cx="411480" cy="411480"/>
          </a:xfrm>
          <a:prstGeom prst="ellipse">
            <a:avLst/>
          </a:prstGeom>
          <a:solidFill>
            <a:srgbClr val="E07B30"/>
          </a:solidFill>
          <a:ln w="12700">
            <a:solidFill>
              <a:srgbClr val="E07B30"/>
            </a:solidFill>
            <a:prstDash val="solid"/>
          </a:ln>
        </p:spPr>
      </p:sp>
      <p:sp>
        <p:nvSpPr>
          <p:cNvPr id="21" name="Text 19"/>
          <p:cNvSpPr/>
          <p:nvPr/>
        </p:nvSpPr>
        <p:spPr>
          <a:xfrm>
            <a:off x="731520" y="45720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280160" y="452628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Cost-aware looks good per equation, worse in total</a:t>
            </a:r>
            <a:endParaRPr lang="en-US" sz="1500" dirty="0"/>
          </a:p>
        </p:txBody>
      </p:sp>
      <p:sp>
        <p:nvSpPr>
          <p:cNvPr id="23" name="Text 21"/>
          <p:cNvSpPr/>
          <p:nvPr/>
        </p:nvSpPr>
        <p:spPr>
          <a:xfrm>
            <a:off x="1280160" y="498348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Median ratio 0.82 vs TF, but greedy estimates go stale on P6 and P10.</a:t>
            </a:r>
            <a:endParaRPr lang="en-US" sz="1300" dirty="0"/>
          </a:p>
        </p:txBody>
      </p:sp>
      <p:sp>
        <p:nvSpPr>
          <p:cNvPr id="24" name="Shape 22"/>
          <p:cNvSpPr/>
          <p:nvPr/>
        </p:nvSpPr>
        <p:spPr>
          <a:xfrm>
            <a:off x="6172200" y="4389120"/>
            <a:ext cx="5486400" cy="1298448"/>
          </a:xfrm>
          <a:prstGeom prst="roundRect">
            <a:avLst>
              <a:gd name="adj" fmla="val 5634"/>
            </a:avLst>
          </a:prstGeom>
          <a:solidFill>
            <a:srgbClr val="FFFFFF"/>
          </a:solidFill>
          <a:ln w="12700">
            <a:solidFill>
              <a:srgbClr val="C9D6C9"/>
            </a:solidFill>
            <a:prstDash val="solid"/>
          </a:ln>
        </p:spPr>
      </p:sp>
      <p:sp>
        <p:nvSpPr>
          <p:cNvPr id="25" name="Shape 23"/>
          <p:cNvSpPr/>
          <p:nvPr/>
        </p:nvSpPr>
        <p:spPr>
          <a:xfrm>
            <a:off x="6355080" y="4572000"/>
            <a:ext cx="411480" cy="411480"/>
          </a:xfrm>
          <a:prstGeom prst="ellipse">
            <a:avLst/>
          </a:prstGeom>
          <a:solidFill>
            <a:srgbClr val="E07B30"/>
          </a:solidFill>
          <a:ln w="12700">
            <a:solidFill>
              <a:srgbClr val="E07B30"/>
            </a:solidFill>
            <a:prstDash val="solid"/>
          </a:ln>
        </p:spPr>
      </p:sp>
      <p:sp>
        <p:nvSpPr>
          <p:cNvPr id="26" name="Text 24"/>
          <p:cNvSpPr/>
          <p:nvPr/>
        </p:nvSpPr>
        <p:spPr>
          <a:xfrm>
            <a:off x="6355080" y="45720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6903720" y="4526280"/>
            <a:ext cx="4617720" cy="457200"/>
          </a:xfrm>
          <a:prstGeom prst="rect">
            <a:avLst/>
          </a:prstGeom>
          <a:noFill/>
          <a:ln/>
        </p:spPr>
        <p:txBody>
          <a:bodyPr wrap="square" lIns="635" tIns="635" rIns="635" bIns="635" rtlCol="0" anchor="ctr"/>
          <a:lstStyle/>
          <a:p>
            <a:pPr indent="0" marL="0">
              <a:buNone/>
            </a:pPr>
            <a:r>
              <a:rPr lang="en-US" sz="1500" b="1" dirty="0">
                <a:solidFill>
                  <a:srgbClr val="1E4D2B"/>
                </a:solidFill>
                <a:latin typeface="Calibri" pitchFamily="34" charset="0"/>
                <a:ea typeface="Calibri" pitchFamily="34" charset="-122"/>
                <a:cs typeface="Calibri" pitchFamily="34" charset="-120"/>
              </a:rPr>
              <a:t>Count work, not iterations</a:t>
            </a:r>
            <a:endParaRPr lang="en-US" sz="1500" dirty="0"/>
          </a:p>
        </p:txBody>
      </p:sp>
      <p:sp>
        <p:nvSpPr>
          <p:cNvPr id="28" name="Text 26"/>
          <p:cNvSpPr/>
          <p:nvPr/>
        </p:nvSpPr>
        <p:spPr>
          <a:xfrm>
            <a:off x="6903720" y="4983480"/>
            <a:ext cx="4617720" cy="777240"/>
          </a:xfrm>
          <a:prstGeom prst="rect">
            <a:avLst/>
          </a:prstGeom>
          <a:noFill/>
          <a:ln/>
        </p:spPr>
        <p:txBody>
          <a:bodyPr wrap="square" lIns="635" tIns="635" rIns="635" bIns="635" rtlCol="0" anchor="t"/>
          <a:lstStyle/>
          <a:p>
            <a:pPr indent="0" marL="0">
              <a:buNone/>
            </a:pPr>
            <a:r>
              <a:rPr lang="en-US" sz="1300" dirty="0">
                <a:solidFill>
                  <a:srgbClr val="333333"/>
                </a:solidFill>
                <a:latin typeface="Calibri" pitchFamily="34" charset="0"/>
                <a:ea typeface="Calibri" pitchFamily="34" charset="-122"/>
                <a:cs typeface="Calibri" pitchFamily="34" charset="-120"/>
              </a:rPr>
              <a:t>Static TF has the fewest iterations yet costs more than BF. Reuse limit 2 cuts iterations, not calls.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 y="45720"/>
            <a:ext cx="566928" cy="594360"/>
          </a:xfrm>
          <a:prstGeom prst="roundRect">
            <a:avLst>
              <a:gd name="adj" fmla="val 19355"/>
            </a:avLst>
          </a:prstGeom>
          <a:solidFill>
            <a:srgbClr val="8FB08C"/>
          </a:solidFill>
          <a:ln w="12700">
            <a:solidFill>
              <a:srgbClr val="8FB08C"/>
            </a:solidFill>
            <a:prstDash val="solid"/>
          </a:ln>
        </p:spPr>
      </p:sp>
      <p:sp>
        <p:nvSpPr>
          <p:cNvPr id="3" name="Shape 1"/>
          <p:cNvSpPr/>
          <p:nvPr/>
        </p:nvSpPr>
        <p:spPr>
          <a:xfrm>
            <a:off x="11533327" y="6217920"/>
            <a:ext cx="566928" cy="566928"/>
          </a:xfrm>
          <a:prstGeom prst="roundRect">
            <a:avLst>
              <a:gd name="adj" fmla="val 19355"/>
            </a:avLst>
          </a:prstGeom>
          <a:solidFill>
            <a:srgbClr val="8FB08C"/>
          </a:solidFill>
          <a:ln w="12700">
            <a:solidFill>
              <a:srgbClr val="8FB08C"/>
            </a:solidFill>
            <a:prstDash val="solid"/>
          </a:ln>
        </p:spPr>
      </p:sp>
      <p:sp>
        <p:nvSpPr>
          <p:cNvPr id="4" name="Text 2"/>
          <p:cNvSpPr/>
          <p:nvPr/>
        </p:nvSpPr>
        <p:spPr>
          <a:xfrm>
            <a:off x="11533327" y="6217920"/>
            <a:ext cx="566928" cy="56692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5" name="Text 3"/>
          <p:cNvSpPr/>
          <p:nvPr/>
        </p:nvSpPr>
        <p:spPr>
          <a:xfrm>
            <a:off x="777240" y="201168"/>
            <a:ext cx="10607040" cy="731520"/>
          </a:xfrm>
          <a:prstGeom prst="rect">
            <a:avLst/>
          </a:prstGeom>
          <a:noFill/>
          <a:ln/>
        </p:spPr>
        <p:txBody>
          <a:bodyPr wrap="square" lIns="0" tIns="0" rIns="0" bIns="0" rtlCol="0" anchor="ctr"/>
          <a:lstStyle/>
          <a:p>
            <a:pPr indent="0" marL="0">
              <a:buNone/>
            </a:pPr>
            <a:r>
              <a:rPr lang="en-US" sz="3200" b="1" dirty="0">
                <a:solidFill>
                  <a:srgbClr val="1E4D2B"/>
                </a:solidFill>
                <a:latin typeface="Cambria" pitchFamily="34" charset="0"/>
                <a:ea typeface="Cambria" pitchFamily="34" charset="-122"/>
                <a:cs typeface="Cambria" pitchFamily="34" charset="-120"/>
              </a:rPr>
              <a:t>Limitations and Future Work</a:t>
            </a:r>
            <a:endParaRPr lang="en-US" sz="3200" dirty="0"/>
          </a:p>
        </p:txBody>
      </p:sp>
      <p:sp>
        <p:nvSpPr>
          <p:cNvPr id="6" name="Shape 4"/>
          <p:cNvSpPr/>
          <p:nvPr/>
        </p:nvSpPr>
        <p:spPr>
          <a:xfrm>
            <a:off x="548640" y="1325880"/>
            <a:ext cx="5486400" cy="4480560"/>
          </a:xfrm>
          <a:prstGeom prst="roundRect">
            <a:avLst>
              <a:gd name="adj" fmla="val 1633"/>
            </a:avLst>
          </a:prstGeom>
          <a:solidFill>
            <a:srgbClr val="FFFFFF"/>
          </a:solidFill>
          <a:ln w="12700">
            <a:solidFill>
              <a:srgbClr val="C9D6C9"/>
            </a:solidFill>
            <a:prstDash val="solid"/>
          </a:ln>
        </p:spPr>
      </p:sp>
      <p:sp>
        <p:nvSpPr>
          <p:cNvPr id="7" name="Text 5"/>
          <p:cNvSpPr/>
          <p:nvPr/>
        </p:nvSpPr>
        <p:spPr>
          <a:xfrm>
            <a:off x="822960" y="1463040"/>
            <a:ext cx="4937760" cy="320040"/>
          </a:xfrm>
          <a:prstGeom prst="rect">
            <a:avLst/>
          </a:prstGeom>
          <a:noFill/>
          <a:ln/>
        </p:spPr>
        <p:txBody>
          <a:bodyPr wrap="square" lIns="635" tIns="635" rIns="635" bIns="635" rtlCol="0" anchor="t"/>
          <a:lstStyle/>
          <a:p>
            <a:pPr indent="0" marL="0">
              <a:buNone/>
            </a:pPr>
            <a:r>
              <a:rPr lang="en-US" sz="1300" b="1" spc="200" kern="0" dirty="0">
                <a:solidFill>
                  <a:srgbClr val="E07B30"/>
                </a:solidFill>
                <a:latin typeface="Calibri" pitchFamily="34" charset="0"/>
                <a:ea typeface="Calibri" pitchFamily="34" charset="-122"/>
                <a:cs typeface="Calibri" pitchFamily="34" charset="-120"/>
              </a:rPr>
              <a:t>LIMITATIONS</a:t>
            </a:r>
            <a:endParaRPr lang="en-US" sz="1300" dirty="0"/>
          </a:p>
        </p:txBody>
      </p:sp>
      <p:sp>
        <p:nvSpPr>
          <p:cNvPr id="8" name="Text 6"/>
          <p:cNvSpPr/>
          <p:nvPr/>
        </p:nvSpPr>
        <p:spPr>
          <a:xfrm>
            <a:off x="822960" y="1874520"/>
            <a:ext cx="5029200" cy="3749040"/>
          </a:xfrm>
          <a:prstGeom prst="rect">
            <a:avLst/>
          </a:prstGeom>
          <a:noFill/>
          <a:ln/>
        </p:spPr>
        <p:txBody>
          <a:bodyPr wrap="square" rtlCol="0" anchor="t"/>
          <a:lstStyle/>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15 hand-picked, cheap equations: no statistical-significance or universal-superiority claims.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Policies follow the proposal literally. The window size, bootstrap and reuse semantics are our design choices.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Cost-aware is a pure greedy rule with no exploration. Other estimators could behave differently.</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Timings are Python and microsecond-scale, so they are noisy and machine-dependent.</a:t>
            </a:r>
            <a:endParaRPr lang="en-US" sz="1700" dirty="0"/>
          </a:p>
        </p:txBody>
      </p:sp>
      <p:sp>
        <p:nvSpPr>
          <p:cNvPr id="9" name="Shape 7"/>
          <p:cNvSpPr/>
          <p:nvPr/>
        </p:nvSpPr>
        <p:spPr>
          <a:xfrm>
            <a:off x="6172200" y="1325880"/>
            <a:ext cx="5486400" cy="4480560"/>
          </a:xfrm>
          <a:prstGeom prst="roundRect">
            <a:avLst>
              <a:gd name="adj" fmla="val 1633"/>
            </a:avLst>
          </a:prstGeom>
          <a:solidFill>
            <a:srgbClr val="E6EFE6"/>
          </a:solidFill>
          <a:ln w="12700">
            <a:solidFill>
              <a:srgbClr val="E6EFE6"/>
            </a:solidFill>
            <a:prstDash val="solid"/>
          </a:ln>
        </p:spPr>
      </p:sp>
      <p:sp>
        <p:nvSpPr>
          <p:cNvPr id="10" name="Text 8"/>
          <p:cNvSpPr/>
          <p:nvPr/>
        </p:nvSpPr>
        <p:spPr>
          <a:xfrm>
            <a:off x="6446520" y="1463040"/>
            <a:ext cx="4937760" cy="320040"/>
          </a:xfrm>
          <a:prstGeom prst="rect">
            <a:avLst/>
          </a:prstGeom>
          <a:noFill/>
          <a:ln/>
        </p:spPr>
        <p:txBody>
          <a:bodyPr wrap="square" lIns="635" tIns="635" rIns="635" bIns="635" rtlCol="0" anchor="t"/>
          <a:lstStyle/>
          <a:p>
            <a:pPr indent="0" marL="0">
              <a:buNone/>
            </a:pPr>
            <a:r>
              <a:rPr lang="en-US" sz="1300" b="1" spc="200" kern="0" dirty="0">
                <a:solidFill>
                  <a:srgbClr val="2E7D4F"/>
                </a:solidFill>
                <a:latin typeface="Calibri" pitchFamily="34" charset="0"/>
                <a:ea typeface="Calibri" pitchFamily="34" charset="-122"/>
                <a:cs typeface="Calibri" pitchFamily="34" charset="-120"/>
              </a:rPr>
              <a:t>FUTURE WORK</a:t>
            </a:r>
            <a:endParaRPr lang="en-US" sz="1300" dirty="0"/>
          </a:p>
        </p:txBody>
      </p:sp>
      <p:sp>
        <p:nvSpPr>
          <p:cNvPr id="11" name="Text 9"/>
          <p:cNvSpPr/>
          <p:nvPr/>
        </p:nvSpPr>
        <p:spPr>
          <a:xfrm>
            <a:off x="6446520" y="1874520"/>
            <a:ext cx="5029200" cy="3749040"/>
          </a:xfrm>
          <a:prstGeom prst="rect">
            <a:avLst/>
          </a:prstGeom>
          <a:noFill/>
          <a:ln/>
        </p:spPr>
        <p:txBody>
          <a:bodyPr wrap="square" rtlCol="0" anchor="t"/>
          <a:lstStyle/>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Stagnation-aware BF: add the endpoint counter to the cheaper bisection–FP hybrid.</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Benchmark expensive functions (ODE shooting, quadrature) where call savings turn into time savings.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Cost-aware with periodic exploration or decaying estimates to avoid stale commitments.</a:t>
            </a:r>
            <a:endParaRPr lang="en-US" sz="1700" dirty="0"/>
          </a:p>
          <a:p>
            <a:pPr marL="342900" indent="-342900">
              <a:spcAft>
                <a:spcPts val="1400"/>
              </a:spcAft>
              <a:buSzPct val="100000"/>
              <a:buChar char="•"/>
            </a:pPr>
            <a:r>
              <a:rPr lang="en-US" sz="1700" dirty="0">
                <a:solidFill>
                  <a:srgbClr val="333333"/>
                </a:solidFill>
                <a:latin typeface="Calibri" pitchFamily="34" charset="0"/>
                <a:ea typeface="Calibri" pitchFamily="34" charset="-122"/>
                <a:cs typeface="Calibri" pitchFamily="34" charset="-120"/>
              </a:rPr>
              <a:t>A larger, randomly generated benchmark with confidence intervals.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FB08C"/>
        </a:solidFill>
      </p:bgPr>
    </p:bg>
    <p:spTree>
      <p:nvGrpSpPr>
        <p:cNvPr id="1" name=""/>
        <p:cNvGrpSpPr/>
        <p:nvPr/>
      </p:nvGrpSpPr>
      <p:grpSpPr>
        <a:xfrm>
          <a:off x="0" y="0"/>
          <a:ext cx="0" cy="0"/>
          <a:chOff x="0" y="0"/>
          <a:chExt cx="0" cy="0"/>
        </a:xfrm>
      </p:grpSpPr>
      <p:sp>
        <p:nvSpPr>
          <p:cNvPr id="2" name="Shape 0"/>
          <p:cNvSpPr/>
          <p:nvPr/>
        </p:nvSpPr>
        <p:spPr>
          <a:xfrm>
            <a:off x="502920" y="457200"/>
            <a:ext cx="11185855" cy="5943600"/>
          </a:xfrm>
          <a:prstGeom prst="roundRect">
            <a:avLst>
              <a:gd name="adj" fmla="val 1231"/>
            </a:avLst>
          </a:prstGeom>
          <a:solidFill>
            <a:srgbClr val="FFFFFF"/>
          </a:solidFill>
          <a:ln w="12700">
            <a:solidFill>
              <a:srgbClr val="FFFFFF"/>
            </a:solidFill>
            <a:prstDash val="solid"/>
          </a:ln>
        </p:spPr>
      </p:sp>
      <p:sp>
        <p:nvSpPr>
          <p:cNvPr id="3" name="Text 1"/>
          <p:cNvSpPr/>
          <p:nvPr/>
        </p:nvSpPr>
        <p:spPr>
          <a:xfrm>
            <a:off x="914400" y="1828800"/>
            <a:ext cx="10362895" cy="1188720"/>
          </a:xfrm>
          <a:prstGeom prst="rect">
            <a:avLst/>
          </a:prstGeom>
          <a:noFill/>
          <a:ln/>
        </p:spPr>
        <p:txBody>
          <a:bodyPr wrap="square" rtlCol="0" anchor="ctr"/>
          <a:lstStyle/>
          <a:p>
            <a:pPr algn="ctr" indent="0" marL="0">
              <a:buNone/>
            </a:pPr>
            <a:r>
              <a:rPr lang="en-US" sz="5400" b="1" dirty="0">
                <a:solidFill>
                  <a:srgbClr val="1E4D2B"/>
                </a:solidFill>
                <a:latin typeface="Cambria" pitchFamily="34" charset="0"/>
                <a:ea typeface="Cambria" pitchFamily="34" charset="-122"/>
                <a:cs typeface="Cambria" pitchFamily="34" charset="-120"/>
              </a:rPr>
              <a:t>Thank You</a:t>
            </a:r>
            <a:endParaRPr lang="en-US" sz="5400" dirty="0"/>
          </a:p>
        </p:txBody>
      </p:sp>
      <p:sp>
        <p:nvSpPr>
          <p:cNvPr id="4" name="Text 2"/>
          <p:cNvSpPr/>
          <p:nvPr/>
        </p:nvSpPr>
        <p:spPr>
          <a:xfrm>
            <a:off x="914400" y="3017520"/>
            <a:ext cx="10362895" cy="548640"/>
          </a:xfrm>
          <a:prstGeom prst="rect">
            <a:avLst/>
          </a:prstGeom>
          <a:noFill/>
          <a:ln/>
        </p:spPr>
        <p:txBody>
          <a:bodyPr wrap="square" lIns="635" tIns="635" rIns="635" bIns="635" rtlCol="0" anchor="t"/>
          <a:lstStyle/>
          <a:p>
            <a:pPr algn="ctr" indent="0" marL="0">
              <a:buNone/>
            </a:pPr>
            <a:r>
              <a:rPr lang="en-US" sz="2400" i="1" dirty="0">
                <a:solidFill>
                  <a:srgbClr val="E07B30"/>
                </a:solidFill>
                <a:latin typeface="Calibri" pitchFamily="34" charset="0"/>
                <a:ea typeface="Calibri" pitchFamily="34" charset="-122"/>
                <a:cs typeface="Calibri" pitchFamily="34" charset="-120"/>
              </a:rPr>
              <a:t>Questions?</a:t>
            </a:r>
            <a:endParaRPr lang="en-US" sz="2400" dirty="0"/>
          </a:p>
        </p:txBody>
      </p:sp>
      <p:sp>
        <p:nvSpPr>
          <p:cNvPr id="5" name="Text 3"/>
          <p:cNvSpPr/>
          <p:nvPr/>
        </p:nvSpPr>
        <p:spPr>
          <a:xfrm>
            <a:off x="914400" y="4206240"/>
            <a:ext cx="10362895" cy="411480"/>
          </a:xfrm>
          <a:prstGeom prst="rect">
            <a:avLst/>
          </a:prstGeom>
          <a:noFill/>
          <a:ln/>
        </p:spPr>
        <p:txBody>
          <a:bodyPr wrap="square" lIns="635" tIns="635" rIns="635" bIns="635" rtlCol="0" anchor="t"/>
          <a:lstStyle/>
          <a:p>
            <a:pPr algn="ctr" indent="0" marL="0">
              <a:buNone/>
            </a:pPr>
            <a:r>
              <a:rPr lang="en-US" sz="1500" dirty="0">
                <a:solidFill>
                  <a:srgbClr val="6B6B6B"/>
                </a:solidFill>
                <a:latin typeface="Calibri" pitchFamily="34" charset="0"/>
                <a:ea typeface="Calibri" pitchFamily="34" charset="-122"/>
                <a:cs typeface="Calibri" pitchFamily="34" charset="-120"/>
              </a:rPr>
              <a:t>Code, raw results and methodology:  CSE_402_Project/  (main.py · results/ · docs/)</a:t>
            </a:r>
            <a:endParaRPr lang="en-US" sz="1500" dirty="0"/>
          </a:p>
        </p:txBody>
      </p:sp>
      <p:sp>
        <p:nvSpPr>
          <p:cNvPr id="6" name="Text 4"/>
          <p:cNvSpPr/>
          <p:nvPr/>
        </p:nvSpPr>
        <p:spPr>
          <a:xfrm>
            <a:off x="914400" y="4663440"/>
            <a:ext cx="10362895" cy="411480"/>
          </a:xfrm>
          <a:prstGeom prst="rect">
            <a:avLst/>
          </a:prstGeom>
          <a:noFill/>
          <a:ln/>
        </p:spPr>
        <p:txBody>
          <a:bodyPr wrap="square" lIns="635" tIns="635" rIns="635" bIns="635" rtlCol="0" anchor="t"/>
          <a:lstStyle/>
          <a:p>
            <a:pPr algn="ctr" indent="0" marL="0">
              <a:buNone/>
            </a:pPr>
            <a:r>
              <a:rPr lang="en-US" sz="1500" dirty="0">
                <a:solidFill>
                  <a:srgbClr val="2E7D4F"/>
                </a:solidFill>
                <a:latin typeface="Calibri" pitchFamily="34" charset="0"/>
                <a:ea typeface="Calibri" pitchFamily="34" charset="-122"/>
                <a:cs typeface="Calibri" pitchFamily="34" charset="-120"/>
              </a:rPr>
              <a:t>Group 1B1 · CSE402 Section B1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Switching Strategies for the Trisection–False Position Hybrid</dc:title>
  <dc:subject>PptxGenJS Presentation</dc:subject>
  <dc:creator>Group 1B1</dc:creator>
  <cp:lastModifiedBy>Group 1B1</cp:lastModifiedBy>
  <cp:revision>1</cp:revision>
  <dcterms:created xsi:type="dcterms:W3CDTF">2026-09-26T19:39:39Z</dcterms:created>
  <dcterms:modified xsi:type="dcterms:W3CDTF">2026-09-26T19:39:39Z</dcterms:modified>
</cp:coreProperties>
</file>